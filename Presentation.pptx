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B0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82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E16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D395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E16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D395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E16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E16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7F9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144" y="584532"/>
            <a:ext cx="6232525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E16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304" y="1998626"/>
            <a:ext cx="3776345" cy="1912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D395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537420"/>
            <a:ext cx="9144000" cy="70987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3F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1311960" y="1115773"/>
            <a:ext cx="58419" cy="2207260"/>
            <a:chOff x="450900" y="1383298"/>
            <a:chExt cx="58419" cy="2207260"/>
          </a:xfrm>
        </p:grpSpPr>
        <p:sp>
          <p:nvSpPr>
            <p:cNvPr id="36" name="object 36"/>
            <p:cNvSpPr/>
            <p:nvPr/>
          </p:nvSpPr>
          <p:spPr>
            <a:xfrm>
              <a:off x="457199" y="1389597"/>
              <a:ext cx="45720" cy="2194560"/>
            </a:xfrm>
            <a:custGeom>
              <a:avLst/>
              <a:gdLst/>
              <a:ahLst/>
              <a:cxnLst/>
              <a:rect l="l" t="t" r="r" b="b"/>
              <a:pathLst>
                <a:path w="45720" h="2194560">
                  <a:moveTo>
                    <a:pt x="45364" y="0"/>
                  </a:moveTo>
                  <a:lnTo>
                    <a:pt x="0" y="0"/>
                  </a:lnTo>
                  <a:lnTo>
                    <a:pt x="0" y="2194204"/>
                  </a:lnTo>
                  <a:lnTo>
                    <a:pt x="22682" y="2194204"/>
                  </a:lnTo>
                  <a:lnTo>
                    <a:pt x="45364" y="2194204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7199" y="1389597"/>
              <a:ext cx="45720" cy="2194560"/>
            </a:xfrm>
            <a:custGeom>
              <a:avLst/>
              <a:gdLst/>
              <a:ahLst/>
              <a:cxnLst/>
              <a:rect l="l" t="t" r="r" b="b"/>
              <a:pathLst>
                <a:path w="45720" h="2194560">
                  <a:moveTo>
                    <a:pt x="22682" y="2194204"/>
                  </a:moveTo>
                  <a:lnTo>
                    <a:pt x="0" y="2194204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2194204"/>
                  </a:lnTo>
                  <a:lnTo>
                    <a:pt x="22682" y="2194204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1451824" y="1100837"/>
            <a:ext cx="4316872" cy="301101"/>
            <a:chOff x="590764" y="1368362"/>
            <a:chExt cx="2566670" cy="262255"/>
          </a:xfrm>
        </p:grpSpPr>
        <p:sp>
          <p:nvSpPr>
            <p:cNvPr id="39" name="object 39"/>
            <p:cNvSpPr/>
            <p:nvPr/>
          </p:nvSpPr>
          <p:spPr>
            <a:xfrm>
              <a:off x="594004" y="1371602"/>
              <a:ext cx="2560320" cy="255904"/>
            </a:xfrm>
            <a:custGeom>
              <a:avLst/>
              <a:gdLst/>
              <a:ahLst/>
              <a:cxnLst/>
              <a:rect l="l" t="t" r="r" b="b"/>
              <a:pathLst>
                <a:path w="2560320" h="255905">
                  <a:moveTo>
                    <a:pt x="2559951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1280160" y="255600"/>
                  </a:lnTo>
                  <a:lnTo>
                    <a:pt x="2559951" y="255600"/>
                  </a:lnTo>
                  <a:lnTo>
                    <a:pt x="2559951" y="0"/>
                  </a:lnTo>
                  <a:close/>
                </a:path>
              </a:pathLst>
            </a:custGeom>
            <a:solidFill>
              <a:srgbClr val="1D395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object 40"/>
            <p:cNvSpPr/>
            <p:nvPr/>
          </p:nvSpPr>
          <p:spPr>
            <a:xfrm>
              <a:off x="594004" y="1371602"/>
              <a:ext cx="2560320" cy="255904"/>
            </a:xfrm>
            <a:custGeom>
              <a:avLst/>
              <a:gdLst/>
              <a:ahLst/>
              <a:cxnLst/>
              <a:rect l="l" t="t" r="r" b="b"/>
              <a:pathLst>
                <a:path w="2560320" h="255905">
                  <a:moveTo>
                    <a:pt x="1280160" y="255600"/>
                  </a:moveTo>
                  <a:lnTo>
                    <a:pt x="0" y="255600"/>
                  </a:lnTo>
                  <a:lnTo>
                    <a:pt x="0" y="0"/>
                  </a:lnTo>
                  <a:lnTo>
                    <a:pt x="2559951" y="0"/>
                  </a:lnTo>
                  <a:lnTo>
                    <a:pt x="2559951" y="255600"/>
                  </a:lnTo>
                  <a:lnTo>
                    <a:pt x="1280160" y="255600"/>
                  </a:lnTo>
                  <a:close/>
                </a:path>
              </a:pathLst>
            </a:custGeom>
            <a:ln w="647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442364" y="1432580"/>
            <a:ext cx="4168140" cy="1762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0640">
              <a:lnSpc>
                <a:spcPct val="112100"/>
              </a:lnSpc>
              <a:spcBef>
                <a:spcPts val="95"/>
              </a:spcBef>
            </a:pPr>
            <a:r>
              <a:rPr sz="3400" b="1" spc="-10" dirty="0">
                <a:solidFill>
                  <a:srgbClr val="0E1E3C"/>
                </a:solidFill>
                <a:latin typeface="Calibri"/>
                <a:cs typeface="Calibri"/>
              </a:rPr>
              <a:t>Plateforme</a:t>
            </a:r>
            <a:r>
              <a:rPr sz="3400" b="1" spc="-180" dirty="0">
                <a:solidFill>
                  <a:srgbClr val="0E1E3C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0E1E3C"/>
                </a:solidFill>
                <a:latin typeface="Calibri"/>
                <a:cs typeface="Calibri"/>
              </a:rPr>
              <a:t>Intelligente </a:t>
            </a:r>
            <a:r>
              <a:rPr sz="3400" b="1" spc="-35" dirty="0">
                <a:solidFill>
                  <a:srgbClr val="1D395E"/>
                </a:solidFill>
                <a:latin typeface="Calibri"/>
                <a:cs typeface="Calibri"/>
              </a:rPr>
              <a:t>d'Analyse</a:t>
            </a:r>
            <a:r>
              <a:rPr sz="3400" b="1" spc="-120" dirty="0">
                <a:solidFill>
                  <a:srgbClr val="1D395E"/>
                </a:solidFill>
                <a:latin typeface="Calibri"/>
                <a:cs typeface="Calibri"/>
              </a:rPr>
              <a:t> </a:t>
            </a:r>
            <a:r>
              <a:rPr sz="3400" b="1" spc="-10" dirty="0">
                <a:solidFill>
                  <a:srgbClr val="1D395E"/>
                </a:solidFill>
                <a:latin typeface="Calibri"/>
                <a:cs typeface="Calibri"/>
              </a:rPr>
              <a:t>Sectorielle</a:t>
            </a:r>
            <a:endParaRPr sz="3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3400" b="1" dirty="0">
                <a:solidFill>
                  <a:srgbClr val="0E1E3C"/>
                </a:solidFill>
                <a:latin typeface="Calibri"/>
                <a:cs typeface="Calibri"/>
              </a:rPr>
              <a:t>et</a:t>
            </a:r>
            <a:r>
              <a:rPr sz="3400" b="1" spc="-85" dirty="0">
                <a:solidFill>
                  <a:srgbClr val="0E1E3C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0E1E3C"/>
                </a:solidFill>
                <a:latin typeface="Calibri"/>
                <a:cs typeface="Calibri"/>
              </a:rPr>
              <a:t>de</a:t>
            </a:r>
            <a:r>
              <a:rPr sz="3400" b="1" spc="-85" dirty="0">
                <a:solidFill>
                  <a:srgbClr val="0E1E3C"/>
                </a:solidFill>
                <a:latin typeface="Calibri"/>
                <a:cs typeface="Calibri"/>
              </a:rPr>
              <a:t> </a:t>
            </a:r>
            <a:r>
              <a:rPr sz="3400" b="1" spc="-25" dirty="0">
                <a:solidFill>
                  <a:srgbClr val="0E1E3C"/>
                </a:solidFill>
                <a:latin typeface="Calibri"/>
                <a:cs typeface="Calibri"/>
              </a:rPr>
              <a:t>Veille</a:t>
            </a:r>
            <a:r>
              <a:rPr sz="3400" b="1" spc="-80" dirty="0">
                <a:solidFill>
                  <a:srgbClr val="0E1E3C"/>
                </a:solidFill>
                <a:latin typeface="Calibri"/>
                <a:cs typeface="Calibri"/>
              </a:rPr>
              <a:t> </a:t>
            </a:r>
            <a:r>
              <a:rPr sz="3400" b="1" spc="-10" dirty="0">
                <a:solidFill>
                  <a:srgbClr val="0E1E3C"/>
                </a:solidFill>
                <a:latin typeface="Calibri"/>
                <a:cs typeface="Calibri"/>
              </a:rPr>
              <a:t>Stratégique</a:t>
            </a:r>
            <a:endParaRPr sz="3400" dirty="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442364" y="3356853"/>
            <a:ext cx="409511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1D395E"/>
                </a:solidFill>
                <a:latin typeface="Calibri"/>
                <a:cs typeface="Calibri"/>
              </a:rPr>
              <a:t>Pour</a:t>
            </a:r>
            <a:r>
              <a:rPr sz="1350" spc="-40" dirty="0">
                <a:solidFill>
                  <a:srgbClr val="1D395E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D395E"/>
                </a:solidFill>
                <a:latin typeface="Calibri"/>
                <a:cs typeface="Calibri"/>
              </a:rPr>
              <a:t>banques</a:t>
            </a:r>
            <a:r>
              <a:rPr sz="1350" spc="-35" dirty="0">
                <a:solidFill>
                  <a:srgbClr val="1D395E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D395E"/>
                </a:solidFill>
                <a:latin typeface="Calibri"/>
                <a:cs typeface="Calibri"/>
              </a:rPr>
              <a:t>d'investissement</a:t>
            </a:r>
            <a:r>
              <a:rPr sz="1350" spc="-35" dirty="0">
                <a:solidFill>
                  <a:srgbClr val="1D395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D395E"/>
                </a:solidFill>
                <a:latin typeface="Calibri"/>
                <a:cs typeface="Calibri"/>
              </a:rPr>
              <a:t>et</a:t>
            </a:r>
            <a:r>
              <a:rPr sz="1350" spc="-35" dirty="0">
                <a:solidFill>
                  <a:srgbClr val="1D395E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D395E"/>
                </a:solidFill>
                <a:latin typeface="Calibri"/>
                <a:cs typeface="Calibri"/>
              </a:rPr>
              <a:t>fonds</a:t>
            </a:r>
            <a:r>
              <a:rPr sz="1350" spc="-25" dirty="0">
                <a:solidFill>
                  <a:srgbClr val="1D395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D395E"/>
                </a:solidFill>
                <a:latin typeface="Calibri"/>
                <a:cs typeface="Calibri"/>
              </a:rPr>
              <a:t>de</a:t>
            </a:r>
            <a:r>
              <a:rPr sz="1350" spc="-40" dirty="0">
                <a:solidFill>
                  <a:srgbClr val="1D395E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1D395E"/>
                </a:solidFill>
                <a:latin typeface="Calibri"/>
                <a:cs typeface="Calibri"/>
              </a:rPr>
              <a:t>Venture</a:t>
            </a:r>
            <a:r>
              <a:rPr sz="1350" spc="-35" dirty="0">
                <a:solidFill>
                  <a:srgbClr val="1D395E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D395E"/>
                </a:solidFill>
                <a:latin typeface="Calibri"/>
                <a:cs typeface="Calibri"/>
              </a:rPr>
              <a:t>Capital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18464" y="4537420"/>
            <a:ext cx="723900" cy="5092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300" b="1" dirty="0">
                <a:solidFill>
                  <a:srgbClr val="1D395E"/>
                </a:solidFill>
                <a:latin typeface="Calibri"/>
                <a:cs typeface="Calibri"/>
              </a:rPr>
              <a:t>9</a:t>
            </a:r>
            <a:r>
              <a:rPr sz="1300" b="1" spc="-20" dirty="0">
                <a:solidFill>
                  <a:srgbClr val="1D395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D395E"/>
                </a:solidFill>
                <a:latin typeface="Calibri"/>
                <a:cs typeface="Calibri"/>
              </a:rPr>
              <a:t>Secteurs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Ciblés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376624" y="4657142"/>
            <a:ext cx="2860675" cy="360045"/>
            <a:chOff x="3376624" y="4657142"/>
            <a:chExt cx="2860675" cy="360045"/>
          </a:xfrm>
        </p:grpSpPr>
        <p:sp>
          <p:nvSpPr>
            <p:cNvPr id="48" name="object 48"/>
            <p:cNvSpPr/>
            <p:nvPr/>
          </p:nvSpPr>
          <p:spPr>
            <a:xfrm>
              <a:off x="3382924" y="4663441"/>
              <a:ext cx="13335" cy="347345"/>
            </a:xfrm>
            <a:custGeom>
              <a:avLst/>
              <a:gdLst/>
              <a:ahLst/>
              <a:cxnLst/>
              <a:rect l="l" t="t" r="r" b="b"/>
              <a:pathLst>
                <a:path w="13335" h="347345">
                  <a:moveTo>
                    <a:pt x="13309" y="0"/>
                  </a:moveTo>
                  <a:lnTo>
                    <a:pt x="0" y="0"/>
                  </a:lnTo>
                  <a:lnTo>
                    <a:pt x="0" y="347040"/>
                  </a:lnTo>
                  <a:lnTo>
                    <a:pt x="6832" y="347040"/>
                  </a:lnTo>
                  <a:lnTo>
                    <a:pt x="13309" y="347040"/>
                  </a:lnTo>
                  <a:lnTo>
                    <a:pt x="13309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82924" y="4663441"/>
              <a:ext cx="13335" cy="347345"/>
            </a:xfrm>
            <a:custGeom>
              <a:avLst/>
              <a:gdLst/>
              <a:ahLst/>
              <a:cxnLst/>
              <a:rect l="l" t="t" r="r" b="b"/>
              <a:pathLst>
                <a:path w="13335" h="347345">
                  <a:moveTo>
                    <a:pt x="6832" y="347040"/>
                  </a:moveTo>
                  <a:lnTo>
                    <a:pt x="0" y="347040"/>
                  </a:lnTo>
                  <a:lnTo>
                    <a:pt x="0" y="0"/>
                  </a:lnTo>
                  <a:lnTo>
                    <a:pt x="13309" y="0"/>
                  </a:lnTo>
                  <a:lnTo>
                    <a:pt x="13309" y="347040"/>
                  </a:lnTo>
                  <a:lnTo>
                    <a:pt x="6832" y="347040"/>
                  </a:lnTo>
                  <a:close/>
                </a:path>
              </a:pathLst>
            </a:custGeom>
            <a:ln w="12599">
              <a:solidFill>
                <a:srgbClr val="3340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217564" y="4663441"/>
              <a:ext cx="13335" cy="347345"/>
            </a:xfrm>
            <a:custGeom>
              <a:avLst/>
              <a:gdLst/>
              <a:ahLst/>
              <a:cxnLst/>
              <a:rect l="l" t="t" r="r" b="b"/>
              <a:pathLst>
                <a:path w="13335" h="347345">
                  <a:moveTo>
                    <a:pt x="13309" y="0"/>
                  </a:moveTo>
                  <a:lnTo>
                    <a:pt x="0" y="0"/>
                  </a:lnTo>
                  <a:lnTo>
                    <a:pt x="0" y="347040"/>
                  </a:lnTo>
                  <a:lnTo>
                    <a:pt x="6832" y="347040"/>
                  </a:lnTo>
                  <a:lnTo>
                    <a:pt x="13309" y="347040"/>
                  </a:lnTo>
                  <a:lnTo>
                    <a:pt x="13309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217564" y="4663441"/>
              <a:ext cx="13335" cy="347345"/>
            </a:xfrm>
            <a:custGeom>
              <a:avLst/>
              <a:gdLst/>
              <a:ahLst/>
              <a:cxnLst/>
              <a:rect l="l" t="t" r="r" b="b"/>
              <a:pathLst>
                <a:path w="13335" h="347345">
                  <a:moveTo>
                    <a:pt x="6832" y="347040"/>
                  </a:moveTo>
                  <a:lnTo>
                    <a:pt x="0" y="347040"/>
                  </a:lnTo>
                  <a:lnTo>
                    <a:pt x="0" y="0"/>
                  </a:lnTo>
                  <a:lnTo>
                    <a:pt x="13309" y="0"/>
                  </a:lnTo>
                  <a:lnTo>
                    <a:pt x="13309" y="347040"/>
                  </a:lnTo>
                  <a:lnTo>
                    <a:pt x="6832" y="347040"/>
                  </a:lnTo>
                  <a:close/>
                </a:path>
              </a:pathLst>
            </a:custGeom>
            <a:ln w="12599">
              <a:solidFill>
                <a:srgbClr val="3340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553104" y="4537420"/>
            <a:ext cx="960755" cy="5092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300" b="1" dirty="0">
                <a:solidFill>
                  <a:srgbClr val="1D395E"/>
                </a:solidFill>
                <a:latin typeface="Calibri"/>
                <a:cs typeface="Calibri"/>
              </a:rPr>
              <a:t>IA</a:t>
            </a:r>
            <a:r>
              <a:rPr sz="1300" b="1" spc="-15" dirty="0">
                <a:solidFill>
                  <a:srgbClr val="1D39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95E"/>
                </a:solidFill>
                <a:latin typeface="Calibri"/>
                <a:cs typeface="Calibri"/>
              </a:rPr>
              <a:t>+</a:t>
            </a:r>
            <a:r>
              <a:rPr sz="1300" b="1" spc="-20" dirty="0">
                <a:solidFill>
                  <a:srgbClr val="1D39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95E"/>
                </a:solidFill>
                <a:latin typeface="Calibri"/>
                <a:cs typeface="Calibri"/>
              </a:rPr>
              <a:t>ML</a:t>
            </a:r>
            <a:r>
              <a:rPr sz="1300" b="1" spc="-20" dirty="0">
                <a:solidFill>
                  <a:srgbClr val="1D395E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D395E"/>
                </a:solidFill>
                <a:latin typeface="Calibri"/>
                <a:cs typeface="Calibri"/>
              </a:rPr>
              <a:t>+</a:t>
            </a:r>
            <a:r>
              <a:rPr sz="1300" b="1" spc="-20" dirty="0">
                <a:solidFill>
                  <a:srgbClr val="1D395E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1D395E"/>
                </a:solidFill>
                <a:latin typeface="Calibri"/>
                <a:cs typeface="Calibri"/>
              </a:rPr>
              <a:t>NLP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Technologies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387744" y="4537420"/>
            <a:ext cx="842010" cy="5092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300" b="1" spc="-25" dirty="0">
                <a:solidFill>
                  <a:srgbClr val="1D395E"/>
                </a:solidFill>
                <a:latin typeface="Calibri"/>
                <a:cs typeface="Calibri"/>
              </a:rPr>
              <a:t>Temps</a:t>
            </a:r>
            <a:r>
              <a:rPr sz="1300" b="1" spc="-35" dirty="0">
                <a:solidFill>
                  <a:srgbClr val="1D395E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1D395E"/>
                </a:solidFill>
                <a:latin typeface="Calibri"/>
                <a:cs typeface="Calibri"/>
              </a:rPr>
              <a:t>réel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Analyse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 &amp;</a:t>
            </a:r>
            <a:r>
              <a:rPr sz="900" spc="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Alertes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44C77861-1E8A-D8E1-BA69-9905B6E4AC29}"/>
              </a:ext>
            </a:extLst>
          </p:cNvPr>
          <p:cNvSpPr txBox="1"/>
          <p:nvPr/>
        </p:nvSpPr>
        <p:spPr>
          <a:xfrm>
            <a:off x="1636496" y="1136380"/>
            <a:ext cx="38332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kern="0" spc="150" dirty="0">
                <a:solidFill>
                  <a:schemeClr val="bg1"/>
                </a:solidFill>
              </a:rPr>
              <a:t>INTELLIGENCE ARTIFICIELLE · FINANCE</a:t>
            </a:r>
            <a:endParaRPr lang="en-US" sz="1100" dirty="0">
              <a:solidFill>
                <a:schemeClr val="bg1"/>
              </a:solidFill>
            </a:endParaRPr>
          </a:p>
          <a:p>
            <a:endParaRPr lang="fr-FR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55602"/>
            <a:ext cx="1828800" cy="237490"/>
          </a:xfrm>
          <a:custGeom>
            <a:avLst/>
            <a:gdLst/>
            <a:ahLst/>
            <a:cxnLst/>
            <a:rect l="l" t="t" r="r" b="b"/>
            <a:pathLst>
              <a:path w="1828800" h="237490">
                <a:moveTo>
                  <a:pt x="1828431" y="0"/>
                </a:moveTo>
                <a:lnTo>
                  <a:pt x="0" y="0"/>
                </a:lnTo>
                <a:lnTo>
                  <a:pt x="0" y="237235"/>
                </a:lnTo>
                <a:lnTo>
                  <a:pt x="914400" y="237235"/>
                </a:lnTo>
                <a:lnTo>
                  <a:pt x="1828431" y="237235"/>
                </a:lnTo>
                <a:lnTo>
                  <a:pt x="1828431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6844" y="255602"/>
            <a:ext cx="1828800" cy="237490"/>
          </a:xfrm>
          <a:prstGeom prst="rect">
            <a:avLst/>
          </a:prstGeom>
          <a:ln w="6479">
            <a:solidFill>
              <a:srgbClr val="2462EA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455"/>
              </a:spcBef>
            </a:pPr>
            <a:r>
              <a:rPr sz="800" b="1" spc="-10" dirty="0">
                <a:solidFill>
                  <a:srgbClr val="2462EA"/>
                </a:solidFill>
                <a:latin typeface="Calibri"/>
                <a:cs typeface="Calibri"/>
              </a:rPr>
              <a:t>C</a:t>
            </a:r>
            <a:r>
              <a:rPr sz="800" b="1" spc="-5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O</a:t>
            </a:r>
            <a:r>
              <a:rPr sz="800" b="1" spc="-2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N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T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E</a:t>
            </a:r>
            <a:r>
              <a:rPr sz="800" b="1" spc="-3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X</a:t>
            </a:r>
            <a:r>
              <a:rPr sz="800" b="1" spc="-3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T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E</a:t>
            </a:r>
            <a:r>
              <a:rPr sz="800" b="1" spc="29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2462EA"/>
                </a:solidFill>
                <a:latin typeface="Calibri"/>
                <a:cs typeface="Calibri"/>
              </a:rPr>
              <a:t>G</a:t>
            </a:r>
            <a:r>
              <a:rPr sz="800" b="1" spc="-4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É</a:t>
            </a:r>
            <a:r>
              <a:rPr sz="800" b="1" spc="-3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N</a:t>
            </a:r>
            <a:r>
              <a:rPr sz="800" b="1" spc="-3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É</a:t>
            </a:r>
            <a:r>
              <a:rPr sz="800" b="1" spc="-3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R</a:t>
            </a:r>
            <a:r>
              <a:rPr sz="800" b="1" spc="-3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A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2462EA"/>
                </a:solidFill>
                <a:latin typeface="Calibri"/>
                <a:cs typeface="Calibri"/>
              </a:rPr>
              <a:t>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</a:t>
            </a:r>
            <a:r>
              <a:rPr spc="-50" dirty="0"/>
              <a:t> </a:t>
            </a:r>
            <a:r>
              <a:rPr dirty="0"/>
              <a:t>secteur</a:t>
            </a:r>
            <a:r>
              <a:rPr spc="-60" dirty="0"/>
              <a:t> </a:t>
            </a:r>
            <a:r>
              <a:rPr dirty="0"/>
              <a:t>en</a:t>
            </a:r>
            <a:r>
              <a:rPr spc="-60" dirty="0"/>
              <a:t> </a:t>
            </a:r>
            <a:r>
              <a:rPr dirty="0"/>
              <a:t>manque</a:t>
            </a:r>
            <a:r>
              <a:rPr spc="-50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dirty="0"/>
              <a:t>vision</a:t>
            </a:r>
            <a:r>
              <a:rPr spc="-55" dirty="0"/>
              <a:t> </a:t>
            </a:r>
            <a:r>
              <a:rPr spc="-10" dirty="0"/>
              <a:t>unifiée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144" y="1113385"/>
            <a:ext cx="55130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Les</a:t>
            </a:r>
            <a:r>
              <a:rPr sz="1300" spc="-4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acteurs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financiers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naviguent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dans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un</a:t>
            </a:r>
            <a:r>
              <a:rPr sz="1300" spc="-4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environnement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de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données</a:t>
            </a:r>
            <a:r>
              <a:rPr sz="1300" spc="-4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fragmentées.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6844" y="1463041"/>
            <a:ext cx="8403590" cy="3657600"/>
            <a:chOff x="456844" y="1463041"/>
            <a:chExt cx="8403590" cy="3657600"/>
          </a:xfrm>
        </p:grpSpPr>
        <p:sp>
          <p:nvSpPr>
            <p:cNvPr id="7" name="object 7"/>
            <p:cNvSpPr/>
            <p:nvPr/>
          </p:nvSpPr>
          <p:spPr>
            <a:xfrm>
              <a:off x="457200" y="1463041"/>
              <a:ext cx="2697480" cy="3429000"/>
            </a:xfrm>
            <a:custGeom>
              <a:avLst/>
              <a:gdLst/>
              <a:ahLst/>
              <a:cxnLst/>
              <a:rect l="l" t="t" r="r" b="b"/>
              <a:pathLst>
                <a:path w="2697480" h="3429000">
                  <a:moveTo>
                    <a:pt x="2697124" y="0"/>
                  </a:moveTo>
                  <a:lnTo>
                    <a:pt x="0" y="0"/>
                  </a:lnTo>
                  <a:lnTo>
                    <a:pt x="0" y="3428644"/>
                  </a:lnTo>
                  <a:lnTo>
                    <a:pt x="1348562" y="3428644"/>
                  </a:lnTo>
                  <a:lnTo>
                    <a:pt x="2697124" y="342864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1360" y="2495882"/>
              <a:ext cx="2286000" cy="13335"/>
            </a:xfrm>
            <a:custGeom>
              <a:avLst/>
              <a:gdLst/>
              <a:ahLst/>
              <a:cxnLst/>
              <a:rect l="l" t="t" r="r" b="b"/>
              <a:pathLst>
                <a:path w="2286000" h="13335">
                  <a:moveTo>
                    <a:pt x="2285644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1142999" y="13322"/>
                  </a:lnTo>
                  <a:lnTo>
                    <a:pt x="2285644" y="13322"/>
                  </a:lnTo>
                  <a:lnTo>
                    <a:pt x="2285644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1360" y="2495882"/>
              <a:ext cx="2286000" cy="13335"/>
            </a:xfrm>
            <a:custGeom>
              <a:avLst/>
              <a:gdLst/>
              <a:ahLst/>
              <a:cxnLst/>
              <a:rect l="l" t="t" r="r" b="b"/>
              <a:pathLst>
                <a:path w="2286000" h="13335">
                  <a:moveTo>
                    <a:pt x="1142999" y="13322"/>
                  </a:moveTo>
                  <a:lnTo>
                    <a:pt x="0" y="13322"/>
                  </a:lnTo>
                  <a:lnTo>
                    <a:pt x="0" y="0"/>
                  </a:lnTo>
                  <a:lnTo>
                    <a:pt x="2285644" y="0"/>
                  </a:lnTo>
                  <a:lnTo>
                    <a:pt x="2285644" y="13322"/>
                  </a:lnTo>
                  <a:lnTo>
                    <a:pt x="1142999" y="13322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10204" y="1463041"/>
              <a:ext cx="2697480" cy="3429000"/>
            </a:xfrm>
            <a:custGeom>
              <a:avLst/>
              <a:gdLst/>
              <a:ahLst/>
              <a:cxnLst/>
              <a:rect l="l" t="t" r="r" b="b"/>
              <a:pathLst>
                <a:path w="2697479" h="3429000">
                  <a:moveTo>
                    <a:pt x="2697111" y="0"/>
                  </a:moveTo>
                  <a:lnTo>
                    <a:pt x="0" y="0"/>
                  </a:lnTo>
                  <a:lnTo>
                    <a:pt x="0" y="3428644"/>
                  </a:lnTo>
                  <a:lnTo>
                    <a:pt x="1348549" y="3428644"/>
                  </a:lnTo>
                  <a:lnTo>
                    <a:pt x="2697111" y="3428644"/>
                  </a:lnTo>
                  <a:lnTo>
                    <a:pt x="2697111" y="0"/>
                  </a:lnTo>
                  <a:close/>
                </a:path>
              </a:pathLst>
            </a:custGeom>
            <a:solidFill>
              <a:srgbClr val="ECE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4364" y="2495882"/>
              <a:ext cx="2286000" cy="13335"/>
            </a:xfrm>
            <a:custGeom>
              <a:avLst/>
              <a:gdLst/>
              <a:ahLst/>
              <a:cxnLst/>
              <a:rect l="l" t="t" r="r" b="b"/>
              <a:pathLst>
                <a:path w="2286000" h="13335">
                  <a:moveTo>
                    <a:pt x="2285631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1143000" y="13322"/>
                  </a:lnTo>
                  <a:lnTo>
                    <a:pt x="2285631" y="13322"/>
                  </a:lnTo>
                  <a:lnTo>
                    <a:pt x="2285631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74364" y="2495882"/>
              <a:ext cx="2286000" cy="13335"/>
            </a:xfrm>
            <a:custGeom>
              <a:avLst/>
              <a:gdLst/>
              <a:ahLst/>
              <a:cxnLst/>
              <a:rect l="l" t="t" r="r" b="b"/>
              <a:pathLst>
                <a:path w="2286000" h="13335">
                  <a:moveTo>
                    <a:pt x="1143000" y="13322"/>
                  </a:moveTo>
                  <a:lnTo>
                    <a:pt x="0" y="13322"/>
                  </a:lnTo>
                  <a:lnTo>
                    <a:pt x="0" y="0"/>
                  </a:lnTo>
                  <a:lnTo>
                    <a:pt x="2285631" y="0"/>
                  </a:lnTo>
                  <a:lnTo>
                    <a:pt x="2285631" y="13322"/>
                  </a:lnTo>
                  <a:lnTo>
                    <a:pt x="1143000" y="13322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63195" y="1463041"/>
              <a:ext cx="2697480" cy="3429000"/>
            </a:xfrm>
            <a:custGeom>
              <a:avLst/>
              <a:gdLst/>
              <a:ahLst/>
              <a:cxnLst/>
              <a:rect l="l" t="t" r="r" b="b"/>
              <a:pathLst>
                <a:path w="2697479" h="3429000">
                  <a:moveTo>
                    <a:pt x="2697124" y="0"/>
                  </a:moveTo>
                  <a:lnTo>
                    <a:pt x="0" y="0"/>
                  </a:lnTo>
                  <a:lnTo>
                    <a:pt x="0" y="3428644"/>
                  </a:lnTo>
                  <a:lnTo>
                    <a:pt x="1348562" y="3428644"/>
                  </a:lnTo>
                  <a:lnTo>
                    <a:pt x="2697124" y="342864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27355" y="2495882"/>
              <a:ext cx="2286000" cy="13335"/>
            </a:xfrm>
            <a:custGeom>
              <a:avLst/>
              <a:gdLst/>
              <a:ahLst/>
              <a:cxnLst/>
              <a:rect l="l" t="t" r="r" b="b"/>
              <a:pathLst>
                <a:path w="2286000" h="13335">
                  <a:moveTo>
                    <a:pt x="2285644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1143000" y="13322"/>
                  </a:lnTo>
                  <a:lnTo>
                    <a:pt x="2285644" y="13322"/>
                  </a:lnTo>
                  <a:lnTo>
                    <a:pt x="228564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27355" y="2495882"/>
              <a:ext cx="2286000" cy="13335"/>
            </a:xfrm>
            <a:custGeom>
              <a:avLst/>
              <a:gdLst/>
              <a:ahLst/>
              <a:cxnLst/>
              <a:rect l="l" t="t" r="r" b="b"/>
              <a:pathLst>
                <a:path w="2286000" h="13335">
                  <a:moveTo>
                    <a:pt x="1143000" y="13322"/>
                  </a:moveTo>
                  <a:lnTo>
                    <a:pt x="0" y="13322"/>
                  </a:lnTo>
                  <a:lnTo>
                    <a:pt x="0" y="0"/>
                  </a:lnTo>
                  <a:lnTo>
                    <a:pt x="2285644" y="0"/>
                  </a:lnTo>
                  <a:lnTo>
                    <a:pt x="2285644" y="13322"/>
                  </a:lnTo>
                  <a:lnTo>
                    <a:pt x="1143000" y="13322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6844" y="4919397"/>
              <a:ext cx="8229600" cy="201295"/>
            </a:xfrm>
            <a:custGeom>
              <a:avLst/>
              <a:gdLst/>
              <a:ahLst/>
              <a:cxnLst/>
              <a:rect l="l" t="t" r="r" b="b"/>
              <a:pathLst>
                <a:path w="8229600" h="201295">
                  <a:moveTo>
                    <a:pt x="8229231" y="0"/>
                  </a:moveTo>
                  <a:lnTo>
                    <a:pt x="0" y="0"/>
                  </a:lnTo>
                  <a:lnTo>
                    <a:pt x="0" y="200888"/>
                  </a:lnTo>
                  <a:lnTo>
                    <a:pt x="4114800" y="200888"/>
                  </a:lnTo>
                  <a:lnTo>
                    <a:pt x="8229231" y="200888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50722" y="1456742"/>
          <a:ext cx="8380094" cy="3656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99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9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56304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3050" spc="120" dirty="0">
                          <a:latin typeface="MingLiU_HKSCS-ExtB"/>
                          <a:cs typeface="MingLiU_HKSCS-ExtB"/>
                        </a:rPr>
                        <a:t>🗂</a:t>
                      </a:r>
                      <a:endParaRPr sz="3050">
                        <a:latin typeface="MingLiU_HKSCS-ExtB"/>
                        <a:cs typeface="MingLiU_HKSCS-ExtB"/>
                      </a:endParaRPr>
                    </a:p>
                    <a:p>
                      <a:pPr marL="141605" algn="just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350" b="1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Données</a:t>
                      </a:r>
                      <a:r>
                        <a:rPr sz="1350" b="1" spc="-70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dispersées</a:t>
                      </a:r>
                      <a:endParaRPr sz="13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41605" marR="182245" algn="just">
                        <a:lnSpc>
                          <a:spcPct val="139900"/>
                        </a:lnSpc>
                      </a:pPr>
                      <a:r>
                        <a:rPr sz="1150" spc="-1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Informations</a:t>
                      </a:r>
                      <a:r>
                        <a:rPr sz="1150" spc="4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financières,</a:t>
                      </a:r>
                      <a:r>
                        <a:rPr sz="1150" spc="3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sectorielles</a:t>
                      </a:r>
                      <a:r>
                        <a:rPr sz="1150" spc="3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2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et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150" spc="-4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marché</a:t>
                      </a:r>
                      <a:r>
                        <a:rPr sz="1150" spc="-2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réparties</a:t>
                      </a:r>
                      <a:r>
                        <a:rPr sz="1150" spc="-3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sur</a:t>
                      </a:r>
                      <a:r>
                        <a:rPr sz="1150" spc="-3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des</a:t>
                      </a:r>
                      <a:r>
                        <a:rPr sz="1150" spc="-2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dizaines</a:t>
                      </a:r>
                      <a:r>
                        <a:rPr sz="1150" spc="-3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2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sz="1150" spc="-1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sources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non</a:t>
                      </a:r>
                      <a:r>
                        <a:rPr sz="1150" spc="-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connectées.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76200">
                      <a:solidFill>
                        <a:srgbClr val="2462EA"/>
                      </a:solidFill>
                      <a:prstDash val="solid"/>
                    </a:lnL>
                    <a:lnR w="12700">
                      <a:solidFill>
                        <a:srgbClr val="2462EA"/>
                      </a:solidFill>
                      <a:prstDash val="solid"/>
                    </a:lnR>
                    <a:lnT w="12700">
                      <a:solidFill>
                        <a:srgbClr val="2462EA"/>
                      </a:solidFill>
                      <a:prstDash val="solid"/>
                    </a:lnT>
                    <a:lnB w="12700">
                      <a:solidFill>
                        <a:srgbClr val="DAE9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462EA"/>
                      </a:solidFill>
                      <a:prstDash val="solid"/>
                    </a:lnL>
                    <a:lnR w="76200">
                      <a:solidFill>
                        <a:srgbClr val="7B39EC"/>
                      </a:solidFill>
                      <a:prstDash val="solid"/>
                    </a:lnR>
                    <a:lnB w="12700">
                      <a:solidFill>
                        <a:srgbClr val="DAE9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3050" spc="120" dirty="0">
                          <a:latin typeface="MingLiU_HKSCS-ExtB"/>
                          <a:cs typeface="MingLiU_HKSCS-ExtB"/>
                        </a:rPr>
                        <a:t>🔍</a:t>
                      </a:r>
                      <a:endParaRPr sz="3050">
                        <a:latin typeface="MingLiU_HKSCS-ExtB"/>
                        <a:cs typeface="MingLiU_HKSCS-ExtB"/>
                      </a:endParaRPr>
                    </a:p>
                    <a:p>
                      <a:pPr marL="14160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350" b="1" spc="-20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Veille</a:t>
                      </a:r>
                      <a:r>
                        <a:rPr sz="1350" b="1" spc="-25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stratégique</a:t>
                      </a:r>
                      <a:r>
                        <a:rPr sz="1350" b="1" spc="-25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difficile</a:t>
                      </a:r>
                      <a:endParaRPr sz="13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41605" marR="225425">
                        <a:lnSpc>
                          <a:spcPct val="139900"/>
                        </a:lnSpc>
                      </a:pP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Les</a:t>
                      </a:r>
                      <a:r>
                        <a:rPr sz="1150" spc="-2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analystes</a:t>
                      </a:r>
                      <a:r>
                        <a:rPr sz="1150" spc="-2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passent</a:t>
                      </a:r>
                      <a:r>
                        <a:rPr sz="1150" spc="-2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des</a:t>
                      </a:r>
                      <a:r>
                        <a:rPr sz="1150" spc="-1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heures</a:t>
                      </a:r>
                      <a:r>
                        <a:rPr sz="1150" spc="-2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à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consolider</a:t>
                      </a:r>
                      <a:r>
                        <a:rPr sz="1150" spc="-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manuellement</a:t>
                      </a:r>
                      <a:r>
                        <a:rPr sz="1150" spc="-4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des</a:t>
                      </a:r>
                      <a:r>
                        <a:rPr sz="1150" spc="-4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données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plutôt</a:t>
                      </a:r>
                      <a:r>
                        <a:rPr sz="1150" spc="-3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qu'à</a:t>
                      </a:r>
                      <a:r>
                        <a:rPr sz="1150" spc="-2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analyser</a:t>
                      </a:r>
                      <a:r>
                        <a:rPr sz="1150" spc="-3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et</a:t>
                      </a:r>
                      <a:r>
                        <a:rPr sz="1150" spc="-3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décider.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76200">
                      <a:solidFill>
                        <a:srgbClr val="7B39EC"/>
                      </a:solidFill>
                      <a:prstDash val="solid"/>
                    </a:lnL>
                    <a:lnR w="12700">
                      <a:solidFill>
                        <a:srgbClr val="7B39EC"/>
                      </a:solidFill>
                      <a:prstDash val="solid"/>
                    </a:lnR>
                    <a:lnT w="12700">
                      <a:solidFill>
                        <a:srgbClr val="7B39EC"/>
                      </a:solidFill>
                      <a:prstDash val="solid"/>
                    </a:lnT>
                    <a:lnB w="12700">
                      <a:solidFill>
                        <a:srgbClr val="DAE9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7B39EC"/>
                      </a:solidFill>
                      <a:prstDash val="solid"/>
                    </a:lnL>
                    <a:lnR w="76200">
                      <a:solidFill>
                        <a:srgbClr val="0C9387"/>
                      </a:solidFill>
                      <a:prstDash val="solid"/>
                    </a:lnR>
                    <a:lnB w="12700">
                      <a:solidFill>
                        <a:srgbClr val="DAE9FD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3050" spc="120" dirty="0">
                          <a:latin typeface="MingLiU_HKSCS-ExtB"/>
                          <a:cs typeface="MingLiU_HKSCS-ExtB"/>
                        </a:rPr>
                        <a:t>⏱</a:t>
                      </a:r>
                      <a:endParaRPr sz="3050">
                        <a:latin typeface="MingLiU_HKSCS-ExtB"/>
                        <a:cs typeface="MingLiU_HKSCS-ExtB"/>
                      </a:endParaRPr>
                    </a:p>
                    <a:p>
                      <a:pPr marL="14160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350" b="1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Perte</a:t>
                      </a:r>
                      <a:r>
                        <a:rPr sz="1350" b="1" spc="-50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350" b="1" spc="-55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temps</a:t>
                      </a:r>
                      <a:r>
                        <a:rPr sz="1350" b="1" spc="-50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critique</a:t>
                      </a:r>
                      <a:endParaRPr sz="13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41605" marR="195580">
                        <a:lnSpc>
                          <a:spcPct val="139900"/>
                        </a:lnSpc>
                      </a:pP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sz="1150" spc="-2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moyenne</a:t>
                      </a:r>
                      <a:r>
                        <a:rPr sz="1150" spc="-3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40%</a:t>
                      </a:r>
                      <a:r>
                        <a:rPr sz="1150" spc="-3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du</a:t>
                      </a:r>
                      <a:r>
                        <a:rPr sz="1150" spc="-3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temps</a:t>
                      </a:r>
                      <a:r>
                        <a:rPr sz="1150" spc="-2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analytique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est</a:t>
                      </a:r>
                      <a:r>
                        <a:rPr sz="1150" spc="-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consommé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par</a:t>
                      </a:r>
                      <a:r>
                        <a:rPr sz="1150" spc="-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la </a:t>
                      </a:r>
                      <a:r>
                        <a:rPr sz="1150" spc="-1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collecte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et la </a:t>
                      </a:r>
                      <a:r>
                        <a:rPr sz="1150" spc="-2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mise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sz="1150" spc="-3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forme</a:t>
                      </a:r>
                      <a:r>
                        <a:rPr sz="1150" spc="-3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des</a:t>
                      </a:r>
                      <a:r>
                        <a:rPr sz="1150" spc="-3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données</a:t>
                      </a:r>
                      <a:r>
                        <a:rPr sz="1150" spc="-25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334054"/>
                          </a:solidFill>
                          <a:latin typeface="Calibri"/>
                          <a:cs typeface="Calibri"/>
                        </a:rPr>
                        <a:t>brutes.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05410" marB="0">
                    <a:lnL w="76200">
                      <a:solidFill>
                        <a:srgbClr val="0C9387"/>
                      </a:solidFill>
                      <a:prstDash val="solid"/>
                    </a:lnL>
                    <a:lnR w="12700">
                      <a:solidFill>
                        <a:srgbClr val="0C9387"/>
                      </a:solidFill>
                      <a:prstDash val="solid"/>
                    </a:lnR>
                    <a:lnT w="12700">
                      <a:solidFill>
                        <a:srgbClr val="0C9387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66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i="1" spc="605" dirty="0">
                          <a:solidFill>
                            <a:srgbClr val="2462EA"/>
                          </a:solidFill>
                          <a:latin typeface="Cambria"/>
                          <a:cs typeface="Cambria"/>
                        </a:rPr>
                        <a:t>💡</a:t>
                      </a:r>
                      <a:r>
                        <a:rPr sz="1100" i="1" spc="125" dirty="0">
                          <a:solidFill>
                            <a:srgbClr val="2462E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900" i="1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Source :</a:t>
                      </a:r>
                      <a:r>
                        <a:rPr sz="900" i="1" spc="-10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McKinsey</a:t>
                      </a:r>
                      <a:r>
                        <a:rPr sz="900" i="1" spc="5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Global</a:t>
                      </a:r>
                      <a:r>
                        <a:rPr sz="900" i="1" spc="-10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 Institute </a:t>
                      </a:r>
                      <a:r>
                        <a:rPr sz="900" i="1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sz="900" i="1" spc="-10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Les</a:t>
                      </a:r>
                      <a:r>
                        <a:rPr sz="900" i="1" spc="-10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 analystes</a:t>
                      </a:r>
                      <a:r>
                        <a:rPr sz="900" i="1" spc="-5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financiers consacrent</a:t>
                      </a:r>
                      <a:r>
                        <a:rPr sz="900" i="1" spc="-5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60%</a:t>
                      </a:r>
                      <a:r>
                        <a:rPr sz="900" i="1" spc="-5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de leur</a:t>
                      </a:r>
                      <a:r>
                        <a:rPr sz="900" i="1" spc="-5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temps</a:t>
                      </a:r>
                      <a:r>
                        <a:rPr sz="900" i="1" spc="-5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à la recherche et</a:t>
                      </a:r>
                      <a:r>
                        <a:rPr sz="900" i="1" spc="-10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collecte de</a:t>
                      </a:r>
                      <a:r>
                        <a:rPr sz="900" i="1" spc="-20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2462EA"/>
                          </a:solidFill>
                          <a:latin typeface="Calibri"/>
                          <a:cs typeface="Calibri"/>
                        </a:rPr>
                        <a:t>données.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76200">
                      <a:solidFill>
                        <a:srgbClr val="DAE9FD"/>
                      </a:solidFill>
                      <a:prstDash val="solid"/>
                    </a:lnL>
                    <a:lnR w="12700">
                      <a:solidFill>
                        <a:srgbClr val="DAE9FD"/>
                      </a:solidFill>
                      <a:prstDash val="solid"/>
                    </a:lnR>
                    <a:lnT w="12700">
                      <a:solidFill>
                        <a:srgbClr val="DAE9FD"/>
                      </a:solidFill>
                      <a:prstDash val="solid"/>
                    </a:lnT>
                    <a:lnB w="12700">
                      <a:solidFill>
                        <a:srgbClr val="DAE9F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DAE9FD"/>
                      </a:solidFill>
                      <a:prstDash val="solid"/>
                    </a:lnL>
                    <a:lnT w="12700">
                      <a:solidFill>
                        <a:srgbClr val="0C938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55602"/>
            <a:ext cx="1828800" cy="237490"/>
          </a:xfrm>
          <a:custGeom>
            <a:avLst/>
            <a:gdLst/>
            <a:ahLst/>
            <a:cxnLst/>
            <a:rect l="l" t="t" r="r" b="b"/>
            <a:pathLst>
              <a:path w="1828800" h="237490">
                <a:moveTo>
                  <a:pt x="1828431" y="0"/>
                </a:moveTo>
                <a:lnTo>
                  <a:pt x="0" y="0"/>
                </a:lnTo>
                <a:lnTo>
                  <a:pt x="0" y="237235"/>
                </a:lnTo>
                <a:lnTo>
                  <a:pt x="914400" y="237235"/>
                </a:lnTo>
                <a:lnTo>
                  <a:pt x="1828431" y="237235"/>
                </a:lnTo>
                <a:lnTo>
                  <a:pt x="1828431" y="0"/>
                </a:lnTo>
                <a:close/>
              </a:path>
            </a:pathLst>
          </a:custGeom>
          <a:solidFill>
            <a:srgbClr val="ECE8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6844" y="255602"/>
            <a:ext cx="1828800" cy="237490"/>
          </a:xfrm>
          <a:prstGeom prst="rect">
            <a:avLst/>
          </a:prstGeom>
          <a:ln w="6479">
            <a:solidFill>
              <a:srgbClr val="7B39E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431165">
              <a:lnSpc>
                <a:spcPct val="100000"/>
              </a:lnSpc>
              <a:spcBef>
                <a:spcPts val="455"/>
              </a:spcBef>
            </a:pP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P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R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sz="800" b="1" spc="-1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7B39EC"/>
                </a:solidFill>
                <a:latin typeface="Calibri"/>
                <a:cs typeface="Calibri"/>
              </a:rPr>
              <a:t>B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L</a:t>
            </a:r>
            <a:r>
              <a:rPr sz="800" b="1" spc="-3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É</a:t>
            </a:r>
            <a:r>
              <a:rPr sz="800" b="1" spc="-2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M</a:t>
            </a:r>
            <a:r>
              <a:rPr sz="800" b="1" spc="-2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AT</a:t>
            </a:r>
            <a:r>
              <a:rPr sz="800" b="1" spc="-3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I</a:t>
            </a:r>
            <a:r>
              <a:rPr sz="800" b="1" spc="-2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Q</a:t>
            </a:r>
            <a:r>
              <a:rPr sz="800" b="1" spc="-2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U</a:t>
            </a:r>
            <a:r>
              <a:rPr sz="800" b="1" spc="-2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7B39EC"/>
                </a:solidFill>
                <a:latin typeface="Calibri"/>
                <a:cs typeface="Calibri"/>
              </a:rPr>
              <a:t>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Pourquoi</a:t>
            </a:r>
            <a:r>
              <a:rPr spc="-70" dirty="0"/>
              <a:t> </a:t>
            </a:r>
            <a:r>
              <a:rPr dirty="0"/>
              <a:t>les</a:t>
            </a:r>
            <a:r>
              <a:rPr spc="-75" dirty="0"/>
              <a:t> </a:t>
            </a:r>
            <a:r>
              <a:rPr dirty="0"/>
              <a:t>décideurs</a:t>
            </a:r>
            <a:r>
              <a:rPr spc="-70" dirty="0"/>
              <a:t> </a:t>
            </a:r>
            <a:r>
              <a:rPr spc="-35" dirty="0"/>
              <a:t>sont-</a:t>
            </a:r>
            <a:r>
              <a:rPr dirty="0"/>
              <a:t>ils</a:t>
            </a:r>
            <a:r>
              <a:rPr spc="-75" dirty="0"/>
              <a:t> </a:t>
            </a:r>
            <a:r>
              <a:rPr spc="-10" dirty="0"/>
              <a:t>ralentis</a:t>
            </a:r>
            <a:r>
              <a:rPr spc="-60" dirty="0"/>
              <a:t> </a:t>
            </a:r>
            <a:r>
              <a:rPr spc="-50" dirty="0"/>
              <a:t>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144" y="1113385"/>
            <a:ext cx="47275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Quatre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obstacles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majeurs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freinent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l'efficacité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des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banques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et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fonds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VC.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1444677"/>
            <a:ext cx="4160520" cy="1664335"/>
            <a:chOff x="457200" y="1444677"/>
            <a:chExt cx="4160520" cy="1664335"/>
          </a:xfrm>
        </p:grpSpPr>
        <p:sp>
          <p:nvSpPr>
            <p:cNvPr id="7" name="object 7"/>
            <p:cNvSpPr/>
            <p:nvPr/>
          </p:nvSpPr>
          <p:spPr>
            <a:xfrm>
              <a:off x="457200" y="1444677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4160164" y="0"/>
                  </a:moveTo>
                  <a:lnTo>
                    <a:pt x="0" y="0"/>
                  </a:lnTo>
                  <a:lnTo>
                    <a:pt x="0" y="1663928"/>
                  </a:lnTo>
                  <a:lnTo>
                    <a:pt x="2080082" y="1663928"/>
                  </a:lnTo>
                  <a:lnTo>
                    <a:pt x="4160164" y="1663928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1715" y="1609206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30" y="6432"/>
                  </a:lnTo>
                  <a:lnTo>
                    <a:pt x="96126" y="25552"/>
                  </a:lnTo>
                  <a:lnTo>
                    <a:pt x="56254" y="56068"/>
                  </a:lnTo>
                  <a:lnTo>
                    <a:pt x="25565" y="95758"/>
                  </a:lnTo>
                  <a:lnTo>
                    <a:pt x="6572" y="142062"/>
                  </a:lnTo>
                  <a:lnTo>
                    <a:pt x="0" y="191871"/>
                  </a:lnTo>
                  <a:lnTo>
                    <a:pt x="1665" y="217069"/>
                  </a:lnTo>
                  <a:lnTo>
                    <a:pt x="14583" y="265436"/>
                  </a:lnTo>
                  <a:lnTo>
                    <a:pt x="39626" y="308888"/>
                  </a:lnTo>
                  <a:lnTo>
                    <a:pt x="75178" y="344187"/>
                  </a:lnTo>
                  <a:lnTo>
                    <a:pt x="118687" y="369382"/>
                  </a:lnTo>
                  <a:lnTo>
                    <a:pt x="167049" y="382442"/>
                  </a:lnTo>
                  <a:lnTo>
                    <a:pt x="192239" y="384111"/>
                  </a:lnTo>
                  <a:lnTo>
                    <a:pt x="217230" y="382442"/>
                  </a:lnTo>
                  <a:lnTo>
                    <a:pt x="265443" y="369382"/>
                  </a:lnTo>
                  <a:lnTo>
                    <a:pt x="308951" y="344187"/>
                  </a:lnTo>
                  <a:lnTo>
                    <a:pt x="344499" y="308888"/>
                  </a:lnTo>
                  <a:lnTo>
                    <a:pt x="369540" y="265436"/>
                  </a:lnTo>
                  <a:lnTo>
                    <a:pt x="382458" y="217069"/>
                  </a:lnTo>
                  <a:lnTo>
                    <a:pt x="384124" y="191871"/>
                  </a:lnTo>
                  <a:lnTo>
                    <a:pt x="382458" y="166681"/>
                  </a:lnTo>
                  <a:lnTo>
                    <a:pt x="369540" y="118319"/>
                  </a:lnTo>
                  <a:lnTo>
                    <a:pt x="344499" y="74867"/>
                  </a:lnTo>
                  <a:lnTo>
                    <a:pt x="308951" y="39563"/>
                  </a:lnTo>
                  <a:lnTo>
                    <a:pt x="265443" y="14423"/>
                  </a:lnTo>
                  <a:lnTo>
                    <a:pt x="217230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1715" y="1609206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71"/>
                  </a:moveTo>
                  <a:lnTo>
                    <a:pt x="1665" y="166681"/>
                  </a:lnTo>
                  <a:lnTo>
                    <a:pt x="6572" y="142062"/>
                  </a:lnTo>
                  <a:lnTo>
                    <a:pt x="25565" y="95758"/>
                  </a:lnTo>
                  <a:lnTo>
                    <a:pt x="56254" y="56068"/>
                  </a:lnTo>
                  <a:lnTo>
                    <a:pt x="96126" y="25552"/>
                  </a:lnTo>
                  <a:lnTo>
                    <a:pt x="142430" y="6432"/>
                  </a:lnTo>
                  <a:lnTo>
                    <a:pt x="192239" y="0"/>
                  </a:lnTo>
                  <a:lnTo>
                    <a:pt x="241742" y="6432"/>
                  </a:lnTo>
                  <a:lnTo>
                    <a:pt x="287997" y="25552"/>
                  </a:lnTo>
                  <a:lnTo>
                    <a:pt x="327874" y="56068"/>
                  </a:lnTo>
                  <a:lnTo>
                    <a:pt x="358559" y="95758"/>
                  </a:lnTo>
                  <a:lnTo>
                    <a:pt x="377551" y="142062"/>
                  </a:lnTo>
                  <a:lnTo>
                    <a:pt x="384124" y="191871"/>
                  </a:lnTo>
                  <a:lnTo>
                    <a:pt x="382458" y="217069"/>
                  </a:lnTo>
                  <a:lnTo>
                    <a:pt x="377551" y="241692"/>
                  </a:lnTo>
                  <a:lnTo>
                    <a:pt x="358559" y="287997"/>
                  </a:lnTo>
                  <a:lnTo>
                    <a:pt x="327874" y="327685"/>
                  </a:lnTo>
                  <a:lnTo>
                    <a:pt x="287997" y="358190"/>
                  </a:lnTo>
                  <a:lnTo>
                    <a:pt x="241742" y="377499"/>
                  </a:lnTo>
                  <a:lnTo>
                    <a:pt x="192239" y="384111"/>
                  </a:lnTo>
                  <a:lnTo>
                    <a:pt x="142430" y="377499"/>
                  </a:lnTo>
                  <a:lnTo>
                    <a:pt x="96126" y="358190"/>
                  </a:lnTo>
                  <a:lnTo>
                    <a:pt x="56254" y="327685"/>
                  </a:lnTo>
                  <a:lnTo>
                    <a:pt x="25565" y="287997"/>
                  </a:lnTo>
                  <a:lnTo>
                    <a:pt x="6572" y="241692"/>
                  </a:lnTo>
                  <a:lnTo>
                    <a:pt x="1665" y="217069"/>
                  </a:lnTo>
                  <a:lnTo>
                    <a:pt x="0" y="191871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57200" y="1444677"/>
            <a:ext cx="4160520" cy="1664335"/>
          </a:xfrm>
          <a:prstGeom prst="rect">
            <a:avLst/>
          </a:prstGeom>
          <a:ln w="10079">
            <a:solidFill>
              <a:srgbClr val="CAD4E0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endParaRPr sz="13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tabLst>
                <a:tab pos="657860" algn="l"/>
              </a:tabLst>
            </a:pPr>
            <a:r>
              <a:rPr sz="1100" b="1" spc="-25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950" b="1" spc="-15" baseline="2136" dirty="0">
                <a:solidFill>
                  <a:srgbClr val="0E1629"/>
                </a:solidFill>
                <a:latin typeface="Calibri"/>
                <a:cs typeface="Calibri"/>
              </a:rPr>
              <a:t>Sources</a:t>
            </a:r>
            <a:r>
              <a:rPr sz="1950" b="1" spc="-37" baseline="2136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950" b="1" spc="-15" baseline="2136" dirty="0">
                <a:solidFill>
                  <a:srgbClr val="0E1629"/>
                </a:solidFill>
                <a:latin typeface="Calibri"/>
                <a:cs typeface="Calibri"/>
              </a:rPr>
              <a:t>multiples</a:t>
            </a:r>
            <a:r>
              <a:rPr sz="1950" b="1" spc="-37" baseline="2136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950" b="1" baseline="2136" dirty="0">
                <a:solidFill>
                  <a:srgbClr val="0E1629"/>
                </a:solidFill>
                <a:latin typeface="Calibri"/>
                <a:cs typeface="Calibri"/>
              </a:rPr>
              <a:t>non</a:t>
            </a:r>
            <a:r>
              <a:rPr sz="1950" b="1" spc="-15" baseline="2136" dirty="0">
                <a:solidFill>
                  <a:srgbClr val="0E1629"/>
                </a:solidFill>
                <a:latin typeface="Calibri"/>
                <a:cs typeface="Calibri"/>
              </a:rPr>
              <a:t> connectées</a:t>
            </a:r>
            <a:endParaRPr sz="1950" baseline="2136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300">
              <a:latin typeface="Calibri"/>
              <a:cs typeface="Calibri"/>
            </a:endParaRPr>
          </a:p>
          <a:p>
            <a:pPr marL="164465" marR="140970">
              <a:lnSpc>
                <a:spcPct val="129900"/>
              </a:lnSpc>
            </a:pP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Bloomberg,</a:t>
            </a:r>
            <a:r>
              <a:rPr sz="11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Reuters,</a:t>
            </a:r>
            <a:r>
              <a:rPr sz="11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bases</a:t>
            </a:r>
            <a:r>
              <a:rPr sz="11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locales,</a:t>
            </a:r>
            <a:r>
              <a:rPr sz="11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rapports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PDF</a:t>
            </a:r>
            <a:r>
              <a:rPr sz="11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—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aucun</a:t>
            </a:r>
            <a:r>
              <a:rPr sz="11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lien</a:t>
            </a:r>
            <a:r>
              <a:rPr sz="11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entre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les</a:t>
            </a:r>
            <a:r>
              <a:rPr sz="11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sources,</a:t>
            </a:r>
            <a:r>
              <a:rPr sz="11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chaque</a:t>
            </a:r>
            <a:r>
              <a:rPr sz="11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requête</a:t>
            </a:r>
            <a:r>
              <a:rPr sz="11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repart</a:t>
            </a:r>
            <a:r>
              <a:rPr sz="11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de</a:t>
            </a:r>
            <a:r>
              <a:rPr sz="11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63738A"/>
                </a:solidFill>
                <a:latin typeface="Calibri"/>
                <a:cs typeface="Calibri"/>
              </a:rPr>
              <a:t>zéro.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00600" y="1444677"/>
            <a:ext cx="4160520" cy="1664335"/>
            <a:chOff x="4800600" y="1444677"/>
            <a:chExt cx="4160520" cy="1664335"/>
          </a:xfrm>
        </p:grpSpPr>
        <p:sp>
          <p:nvSpPr>
            <p:cNvPr id="12" name="object 12"/>
            <p:cNvSpPr/>
            <p:nvPr/>
          </p:nvSpPr>
          <p:spPr>
            <a:xfrm>
              <a:off x="4800600" y="1444677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4160164" y="0"/>
                  </a:moveTo>
                  <a:lnTo>
                    <a:pt x="0" y="0"/>
                  </a:lnTo>
                  <a:lnTo>
                    <a:pt x="0" y="1663928"/>
                  </a:lnTo>
                  <a:lnTo>
                    <a:pt x="2080082" y="1663928"/>
                  </a:lnTo>
                  <a:lnTo>
                    <a:pt x="4160164" y="1663928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65115" y="1609206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30" y="6432"/>
                  </a:lnTo>
                  <a:lnTo>
                    <a:pt x="96126" y="25552"/>
                  </a:lnTo>
                  <a:lnTo>
                    <a:pt x="56254" y="56068"/>
                  </a:lnTo>
                  <a:lnTo>
                    <a:pt x="25565" y="95758"/>
                  </a:lnTo>
                  <a:lnTo>
                    <a:pt x="6572" y="142062"/>
                  </a:lnTo>
                  <a:lnTo>
                    <a:pt x="0" y="191871"/>
                  </a:lnTo>
                  <a:lnTo>
                    <a:pt x="1665" y="217069"/>
                  </a:lnTo>
                  <a:lnTo>
                    <a:pt x="14583" y="265436"/>
                  </a:lnTo>
                  <a:lnTo>
                    <a:pt x="39626" y="308888"/>
                  </a:lnTo>
                  <a:lnTo>
                    <a:pt x="75178" y="344187"/>
                  </a:lnTo>
                  <a:lnTo>
                    <a:pt x="118687" y="369382"/>
                  </a:lnTo>
                  <a:lnTo>
                    <a:pt x="167049" y="382442"/>
                  </a:lnTo>
                  <a:lnTo>
                    <a:pt x="192239" y="384111"/>
                  </a:lnTo>
                  <a:lnTo>
                    <a:pt x="217230" y="382442"/>
                  </a:lnTo>
                  <a:lnTo>
                    <a:pt x="265443" y="369382"/>
                  </a:lnTo>
                  <a:lnTo>
                    <a:pt x="308951" y="344187"/>
                  </a:lnTo>
                  <a:lnTo>
                    <a:pt x="344499" y="308888"/>
                  </a:lnTo>
                  <a:lnTo>
                    <a:pt x="369540" y="265436"/>
                  </a:lnTo>
                  <a:lnTo>
                    <a:pt x="382458" y="217069"/>
                  </a:lnTo>
                  <a:lnTo>
                    <a:pt x="384124" y="191871"/>
                  </a:lnTo>
                  <a:lnTo>
                    <a:pt x="382458" y="166681"/>
                  </a:lnTo>
                  <a:lnTo>
                    <a:pt x="369540" y="118319"/>
                  </a:lnTo>
                  <a:lnTo>
                    <a:pt x="344499" y="74867"/>
                  </a:lnTo>
                  <a:lnTo>
                    <a:pt x="308951" y="39563"/>
                  </a:lnTo>
                  <a:lnTo>
                    <a:pt x="265443" y="14423"/>
                  </a:lnTo>
                  <a:lnTo>
                    <a:pt x="217230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65115" y="1609206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71"/>
                  </a:moveTo>
                  <a:lnTo>
                    <a:pt x="1665" y="166681"/>
                  </a:lnTo>
                  <a:lnTo>
                    <a:pt x="6572" y="142062"/>
                  </a:lnTo>
                  <a:lnTo>
                    <a:pt x="25565" y="95758"/>
                  </a:lnTo>
                  <a:lnTo>
                    <a:pt x="56254" y="56068"/>
                  </a:lnTo>
                  <a:lnTo>
                    <a:pt x="96126" y="25552"/>
                  </a:lnTo>
                  <a:lnTo>
                    <a:pt x="142430" y="6432"/>
                  </a:lnTo>
                  <a:lnTo>
                    <a:pt x="192239" y="0"/>
                  </a:lnTo>
                  <a:lnTo>
                    <a:pt x="241742" y="6432"/>
                  </a:lnTo>
                  <a:lnTo>
                    <a:pt x="287997" y="25552"/>
                  </a:lnTo>
                  <a:lnTo>
                    <a:pt x="327874" y="56068"/>
                  </a:lnTo>
                  <a:lnTo>
                    <a:pt x="358559" y="95758"/>
                  </a:lnTo>
                  <a:lnTo>
                    <a:pt x="377551" y="142062"/>
                  </a:lnTo>
                  <a:lnTo>
                    <a:pt x="384124" y="191871"/>
                  </a:lnTo>
                  <a:lnTo>
                    <a:pt x="382458" y="217069"/>
                  </a:lnTo>
                  <a:lnTo>
                    <a:pt x="377551" y="241692"/>
                  </a:lnTo>
                  <a:lnTo>
                    <a:pt x="358559" y="287997"/>
                  </a:lnTo>
                  <a:lnTo>
                    <a:pt x="327874" y="327685"/>
                  </a:lnTo>
                  <a:lnTo>
                    <a:pt x="287997" y="358190"/>
                  </a:lnTo>
                  <a:lnTo>
                    <a:pt x="241742" y="377499"/>
                  </a:lnTo>
                  <a:lnTo>
                    <a:pt x="192239" y="384111"/>
                  </a:lnTo>
                  <a:lnTo>
                    <a:pt x="142430" y="377499"/>
                  </a:lnTo>
                  <a:lnTo>
                    <a:pt x="96126" y="358190"/>
                  </a:lnTo>
                  <a:lnTo>
                    <a:pt x="56254" y="327685"/>
                  </a:lnTo>
                  <a:lnTo>
                    <a:pt x="25565" y="287997"/>
                  </a:lnTo>
                  <a:lnTo>
                    <a:pt x="6572" y="241692"/>
                  </a:lnTo>
                  <a:lnTo>
                    <a:pt x="1665" y="217069"/>
                  </a:lnTo>
                  <a:lnTo>
                    <a:pt x="0" y="191871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800600" y="1444677"/>
            <a:ext cx="4160520" cy="1664335"/>
          </a:xfrm>
          <a:prstGeom prst="rect">
            <a:avLst/>
          </a:prstGeom>
          <a:ln w="10079">
            <a:solidFill>
              <a:srgbClr val="CAD4E0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endParaRPr sz="13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tabLst>
                <a:tab pos="657860" algn="l"/>
              </a:tabLst>
            </a:pPr>
            <a:r>
              <a:rPr sz="1100" b="1" spc="-25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950" b="1" baseline="2136" dirty="0">
                <a:solidFill>
                  <a:srgbClr val="0E1629"/>
                </a:solidFill>
                <a:latin typeface="Calibri"/>
                <a:cs typeface="Calibri"/>
              </a:rPr>
              <a:t>Données</a:t>
            </a:r>
            <a:r>
              <a:rPr sz="1950" b="1" spc="-75" baseline="2136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950" b="1" baseline="2136" dirty="0">
                <a:solidFill>
                  <a:srgbClr val="0E1629"/>
                </a:solidFill>
                <a:latin typeface="Calibri"/>
                <a:cs typeface="Calibri"/>
              </a:rPr>
              <a:t>non</a:t>
            </a:r>
            <a:r>
              <a:rPr sz="1950" b="1" spc="-89" baseline="2136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950" b="1" spc="-15" baseline="2136" dirty="0">
                <a:solidFill>
                  <a:srgbClr val="0E1629"/>
                </a:solidFill>
                <a:latin typeface="Calibri"/>
                <a:cs typeface="Calibri"/>
              </a:rPr>
              <a:t>centralisées</a:t>
            </a:r>
            <a:endParaRPr sz="1950" baseline="2136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300">
              <a:latin typeface="Calibri"/>
              <a:cs typeface="Calibri"/>
            </a:endParaRPr>
          </a:p>
          <a:p>
            <a:pPr marL="164465" marR="568960">
              <a:lnSpc>
                <a:spcPct val="129900"/>
              </a:lnSpc>
            </a:pP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Chaque</a:t>
            </a:r>
            <a:r>
              <a:rPr sz="11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analyste</a:t>
            </a:r>
            <a:r>
              <a:rPr sz="11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maintient</a:t>
            </a:r>
            <a:r>
              <a:rPr sz="11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son</a:t>
            </a:r>
            <a:r>
              <a:rPr sz="11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propre</a:t>
            </a:r>
            <a:r>
              <a:rPr sz="1100" spc="-20" dirty="0">
                <a:solidFill>
                  <a:srgbClr val="63738A"/>
                </a:solidFill>
                <a:latin typeface="Calibri"/>
                <a:cs typeface="Calibri"/>
              </a:rPr>
              <a:t> tableur.</a:t>
            </a:r>
            <a:r>
              <a:rPr sz="11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L'information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critique</a:t>
            </a:r>
            <a:r>
              <a:rPr sz="11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est</a:t>
            </a:r>
            <a:r>
              <a:rPr sz="11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silotée</a:t>
            </a:r>
            <a:r>
              <a:rPr sz="11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et</a:t>
            </a:r>
            <a:r>
              <a:rPr sz="11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jamais</a:t>
            </a:r>
            <a:r>
              <a:rPr sz="11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partagée</a:t>
            </a:r>
            <a:r>
              <a:rPr sz="11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efficacement.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200" y="3255126"/>
            <a:ext cx="4160520" cy="1664335"/>
            <a:chOff x="457200" y="3255126"/>
            <a:chExt cx="4160520" cy="1664335"/>
          </a:xfrm>
        </p:grpSpPr>
        <p:sp>
          <p:nvSpPr>
            <p:cNvPr id="17" name="object 17"/>
            <p:cNvSpPr/>
            <p:nvPr/>
          </p:nvSpPr>
          <p:spPr>
            <a:xfrm>
              <a:off x="457200" y="3255126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4160164" y="0"/>
                  </a:moveTo>
                  <a:lnTo>
                    <a:pt x="0" y="0"/>
                  </a:lnTo>
                  <a:lnTo>
                    <a:pt x="0" y="1663915"/>
                  </a:lnTo>
                  <a:lnTo>
                    <a:pt x="2080082" y="1663915"/>
                  </a:lnTo>
                  <a:lnTo>
                    <a:pt x="4160164" y="1663915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1715" y="3419997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30" y="6438"/>
                  </a:lnTo>
                  <a:lnTo>
                    <a:pt x="96126" y="25565"/>
                  </a:lnTo>
                  <a:lnTo>
                    <a:pt x="56254" y="56070"/>
                  </a:lnTo>
                  <a:lnTo>
                    <a:pt x="25565" y="95758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43"/>
                  </a:lnTo>
                  <a:lnTo>
                    <a:pt x="39626" y="308900"/>
                  </a:lnTo>
                  <a:lnTo>
                    <a:pt x="75178" y="344199"/>
                  </a:lnTo>
                  <a:lnTo>
                    <a:pt x="118687" y="369390"/>
                  </a:lnTo>
                  <a:lnTo>
                    <a:pt x="167049" y="382452"/>
                  </a:lnTo>
                  <a:lnTo>
                    <a:pt x="192239" y="384124"/>
                  </a:lnTo>
                  <a:lnTo>
                    <a:pt x="217230" y="382452"/>
                  </a:lnTo>
                  <a:lnTo>
                    <a:pt x="265443" y="369390"/>
                  </a:lnTo>
                  <a:lnTo>
                    <a:pt x="308951" y="344199"/>
                  </a:lnTo>
                  <a:lnTo>
                    <a:pt x="344499" y="308900"/>
                  </a:lnTo>
                  <a:lnTo>
                    <a:pt x="369540" y="265443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9" y="74867"/>
                  </a:lnTo>
                  <a:lnTo>
                    <a:pt x="308951" y="39568"/>
                  </a:lnTo>
                  <a:lnTo>
                    <a:pt x="265443" y="14433"/>
                  </a:lnTo>
                  <a:lnTo>
                    <a:pt x="217230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1715" y="3419997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5" y="166688"/>
                  </a:lnTo>
                  <a:lnTo>
                    <a:pt x="6572" y="142068"/>
                  </a:lnTo>
                  <a:lnTo>
                    <a:pt x="25565" y="95758"/>
                  </a:lnTo>
                  <a:lnTo>
                    <a:pt x="56254" y="56070"/>
                  </a:lnTo>
                  <a:lnTo>
                    <a:pt x="96126" y="25565"/>
                  </a:lnTo>
                  <a:lnTo>
                    <a:pt x="142430" y="6438"/>
                  </a:lnTo>
                  <a:lnTo>
                    <a:pt x="192239" y="0"/>
                  </a:lnTo>
                  <a:lnTo>
                    <a:pt x="241742" y="6438"/>
                  </a:lnTo>
                  <a:lnTo>
                    <a:pt x="287997" y="25565"/>
                  </a:lnTo>
                  <a:lnTo>
                    <a:pt x="327874" y="56070"/>
                  </a:lnTo>
                  <a:lnTo>
                    <a:pt x="358559" y="95758"/>
                  </a:lnTo>
                  <a:lnTo>
                    <a:pt x="377551" y="142068"/>
                  </a:lnTo>
                  <a:lnTo>
                    <a:pt x="384124" y="191884"/>
                  </a:lnTo>
                  <a:lnTo>
                    <a:pt x="382458" y="217080"/>
                  </a:lnTo>
                  <a:lnTo>
                    <a:pt x="377551" y="241700"/>
                  </a:lnTo>
                  <a:lnTo>
                    <a:pt x="358559" y="288010"/>
                  </a:lnTo>
                  <a:lnTo>
                    <a:pt x="327874" y="327698"/>
                  </a:lnTo>
                  <a:lnTo>
                    <a:pt x="287997" y="358203"/>
                  </a:lnTo>
                  <a:lnTo>
                    <a:pt x="241742" y="377507"/>
                  </a:lnTo>
                  <a:lnTo>
                    <a:pt x="192239" y="384124"/>
                  </a:lnTo>
                  <a:lnTo>
                    <a:pt x="142430" y="377507"/>
                  </a:lnTo>
                  <a:lnTo>
                    <a:pt x="96126" y="358203"/>
                  </a:lnTo>
                  <a:lnTo>
                    <a:pt x="56254" y="327698"/>
                  </a:lnTo>
                  <a:lnTo>
                    <a:pt x="25565" y="288010"/>
                  </a:lnTo>
                  <a:lnTo>
                    <a:pt x="6572" y="241700"/>
                  </a:lnTo>
                  <a:lnTo>
                    <a:pt x="1665" y="217080"/>
                  </a:lnTo>
                  <a:lnTo>
                    <a:pt x="0" y="191884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7200" y="3255126"/>
            <a:ext cx="4160520" cy="1664335"/>
          </a:xfrm>
          <a:prstGeom prst="rect">
            <a:avLst/>
          </a:prstGeom>
          <a:ln w="10079">
            <a:solidFill>
              <a:srgbClr val="CAD4E0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endParaRPr sz="13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tabLst>
                <a:tab pos="657860" algn="l"/>
              </a:tabLst>
            </a:pPr>
            <a:r>
              <a:rPr sz="1100" b="1" spc="-25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950" b="1" baseline="2136" dirty="0">
                <a:solidFill>
                  <a:srgbClr val="0E1629"/>
                </a:solidFill>
                <a:latin typeface="Calibri"/>
                <a:cs typeface="Calibri"/>
              </a:rPr>
              <a:t>Analyse</a:t>
            </a:r>
            <a:r>
              <a:rPr sz="1950" b="1" spc="-37" baseline="2136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950" b="1" spc="-15" baseline="2136" dirty="0">
                <a:solidFill>
                  <a:srgbClr val="0E1629"/>
                </a:solidFill>
                <a:latin typeface="Calibri"/>
                <a:cs typeface="Calibri"/>
              </a:rPr>
              <a:t>manuelle</a:t>
            </a:r>
            <a:r>
              <a:rPr sz="1950" b="1" spc="-52" baseline="2136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950" b="1" spc="-30" baseline="2136" dirty="0">
                <a:solidFill>
                  <a:srgbClr val="0E1629"/>
                </a:solidFill>
                <a:latin typeface="Calibri"/>
                <a:cs typeface="Calibri"/>
              </a:rPr>
              <a:t>lente</a:t>
            </a:r>
            <a:endParaRPr sz="1950" baseline="2136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300">
              <a:latin typeface="Calibri"/>
              <a:cs typeface="Calibri"/>
            </a:endParaRPr>
          </a:p>
          <a:p>
            <a:pPr marL="164465" marR="509905">
              <a:lnSpc>
                <a:spcPct val="129900"/>
              </a:lnSpc>
            </a:pP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Modèles</a:t>
            </a:r>
            <a:r>
              <a:rPr sz="11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Excel</a:t>
            </a:r>
            <a:r>
              <a:rPr sz="11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chronophages,</a:t>
            </a:r>
            <a:r>
              <a:rPr sz="11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consolidations</a:t>
            </a:r>
            <a:r>
              <a:rPr sz="11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fastidieuses.</a:t>
            </a:r>
            <a:r>
              <a:rPr sz="1100" spc="-25" dirty="0">
                <a:solidFill>
                  <a:srgbClr val="63738A"/>
                </a:solidFill>
                <a:latin typeface="Calibri"/>
                <a:cs typeface="Calibri"/>
              </a:rPr>
              <a:t> Les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décisions</a:t>
            </a:r>
            <a:r>
              <a:rPr sz="11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arrivent</a:t>
            </a:r>
            <a:r>
              <a:rPr sz="11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trop</a:t>
            </a:r>
            <a:r>
              <a:rPr sz="11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tard</a:t>
            </a:r>
            <a:r>
              <a:rPr sz="11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dans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un</a:t>
            </a:r>
            <a:r>
              <a:rPr sz="11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marché</a:t>
            </a:r>
            <a:r>
              <a:rPr sz="11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qui</a:t>
            </a:r>
            <a:r>
              <a:rPr sz="11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évolue</a:t>
            </a:r>
            <a:r>
              <a:rPr sz="11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vite.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800600" y="3255126"/>
            <a:ext cx="4160520" cy="1664335"/>
            <a:chOff x="4800600" y="3255126"/>
            <a:chExt cx="4160520" cy="1664335"/>
          </a:xfrm>
        </p:grpSpPr>
        <p:sp>
          <p:nvSpPr>
            <p:cNvPr id="22" name="object 22"/>
            <p:cNvSpPr/>
            <p:nvPr/>
          </p:nvSpPr>
          <p:spPr>
            <a:xfrm>
              <a:off x="4800600" y="3255126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4160164" y="0"/>
                  </a:moveTo>
                  <a:lnTo>
                    <a:pt x="0" y="0"/>
                  </a:lnTo>
                  <a:lnTo>
                    <a:pt x="0" y="1663915"/>
                  </a:lnTo>
                  <a:lnTo>
                    <a:pt x="2080082" y="1663915"/>
                  </a:lnTo>
                  <a:lnTo>
                    <a:pt x="4160164" y="1663915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65115" y="3419997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30" y="6438"/>
                  </a:lnTo>
                  <a:lnTo>
                    <a:pt x="96126" y="25565"/>
                  </a:lnTo>
                  <a:lnTo>
                    <a:pt x="56254" y="56070"/>
                  </a:lnTo>
                  <a:lnTo>
                    <a:pt x="25565" y="95758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43"/>
                  </a:lnTo>
                  <a:lnTo>
                    <a:pt x="39626" y="308900"/>
                  </a:lnTo>
                  <a:lnTo>
                    <a:pt x="75178" y="344199"/>
                  </a:lnTo>
                  <a:lnTo>
                    <a:pt x="118687" y="369390"/>
                  </a:lnTo>
                  <a:lnTo>
                    <a:pt x="167049" y="382452"/>
                  </a:lnTo>
                  <a:lnTo>
                    <a:pt x="192239" y="384124"/>
                  </a:lnTo>
                  <a:lnTo>
                    <a:pt x="217230" y="382452"/>
                  </a:lnTo>
                  <a:lnTo>
                    <a:pt x="265443" y="369390"/>
                  </a:lnTo>
                  <a:lnTo>
                    <a:pt x="308951" y="344199"/>
                  </a:lnTo>
                  <a:lnTo>
                    <a:pt x="344499" y="308900"/>
                  </a:lnTo>
                  <a:lnTo>
                    <a:pt x="369540" y="265443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9" y="74867"/>
                  </a:lnTo>
                  <a:lnTo>
                    <a:pt x="308951" y="39568"/>
                  </a:lnTo>
                  <a:lnTo>
                    <a:pt x="265443" y="14433"/>
                  </a:lnTo>
                  <a:lnTo>
                    <a:pt x="217230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65115" y="3419997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5" y="166688"/>
                  </a:lnTo>
                  <a:lnTo>
                    <a:pt x="6572" y="142068"/>
                  </a:lnTo>
                  <a:lnTo>
                    <a:pt x="25565" y="95758"/>
                  </a:lnTo>
                  <a:lnTo>
                    <a:pt x="56254" y="56070"/>
                  </a:lnTo>
                  <a:lnTo>
                    <a:pt x="96126" y="25565"/>
                  </a:lnTo>
                  <a:lnTo>
                    <a:pt x="142430" y="6438"/>
                  </a:lnTo>
                  <a:lnTo>
                    <a:pt x="192239" y="0"/>
                  </a:lnTo>
                  <a:lnTo>
                    <a:pt x="241742" y="6438"/>
                  </a:lnTo>
                  <a:lnTo>
                    <a:pt x="287997" y="25565"/>
                  </a:lnTo>
                  <a:lnTo>
                    <a:pt x="327874" y="56070"/>
                  </a:lnTo>
                  <a:lnTo>
                    <a:pt x="358559" y="95758"/>
                  </a:lnTo>
                  <a:lnTo>
                    <a:pt x="377551" y="142068"/>
                  </a:lnTo>
                  <a:lnTo>
                    <a:pt x="384124" y="191884"/>
                  </a:lnTo>
                  <a:lnTo>
                    <a:pt x="382458" y="217080"/>
                  </a:lnTo>
                  <a:lnTo>
                    <a:pt x="377551" y="241700"/>
                  </a:lnTo>
                  <a:lnTo>
                    <a:pt x="358559" y="288010"/>
                  </a:lnTo>
                  <a:lnTo>
                    <a:pt x="327874" y="327698"/>
                  </a:lnTo>
                  <a:lnTo>
                    <a:pt x="287997" y="358203"/>
                  </a:lnTo>
                  <a:lnTo>
                    <a:pt x="241742" y="377507"/>
                  </a:lnTo>
                  <a:lnTo>
                    <a:pt x="192239" y="384124"/>
                  </a:lnTo>
                  <a:lnTo>
                    <a:pt x="142430" y="377507"/>
                  </a:lnTo>
                  <a:lnTo>
                    <a:pt x="96126" y="358203"/>
                  </a:lnTo>
                  <a:lnTo>
                    <a:pt x="56254" y="327698"/>
                  </a:lnTo>
                  <a:lnTo>
                    <a:pt x="25565" y="288010"/>
                  </a:lnTo>
                  <a:lnTo>
                    <a:pt x="6572" y="241700"/>
                  </a:lnTo>
                  <a:lnTo>
                    <a:pt x="1665" y="217080"/>
                  </a:lnTo>
                  <a:lnTo>
                    <a:pt x="0" y="191884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800600" y="3255126"/>
            <a:ext cx="4160520" cy="1664335"/>
          </a:xfrm>
          <a:prstGeom prst="rect">
            <a:avLst/>
          </a:prstGeom>
          <a:ln w="10079">
            <a:solidFill>
              <a:srgbClr val="CAD4E0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endParaRPr sz="13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tabLst>
                <a:tab pos="657860" algn="l"/>
              </a:tabLst>
            </a:pPr>
            <a:r>
              <a:rPr sz="1100" b="1" spc="-25" dirty="0">
                <a:solidFill>
                  <a:srgbClr val="FFFFFF"/>
                </a:solidFill>
                <a:latin typeface="Calibri"/>
                <a:cs typeface="Calibri"/>
              </a:rPr>
              <a:t>04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950" b="1" baseline="2136" dirty="0">
                <a:solidFill>
                  <a:srgbClr val="0E1629"/>
                </a:solidFill>
                <a:latin typeface="Calibri"/>
                <a:cs typeface="Calibri"/>
              </a:rPr>
              <a:t>Risques</a:t>
            </a:r>
            <a:r>
              <a:rPr sz="1950" b="1" spc="-30" baseline="2136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950" b="1" baseline="2136" dirty="0">
                <a:solidFill>
                  <a:srgbClr val="0E1629"/>
                </a:solidFill>
                <a:latin typeface="Calibri"/>
                <a:cs typeface="Calibri"/>
              </a:rPr>
              <a:t>&amp;</a:t>
            </a:r>
            <a:r>
              <a:rPr sz="1950" b="1" spc="-52" baseline="2136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950" b="1" spc="-15" baseline="2136" dirty="0">
                <a:solidFill>
                  <a:srgbClr val="0E1629"/>
                </a:solidFill>
                <a:latin typeface="Calibri"/>
                <a:cs typeface="Calibri"/>
              </a:rPr>
              <a:t>opportunités</a:t>
            </a:r>
            <a:r>
              <a:rPr sz="1950" b="1" spc="-37" baseline="2136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950" b="1" baseline="2136" dirty="0">
                <a:solidFill>
                  <a:srgbClr val="0E1629"/>
                </a:solidFill>
                <a:latin typeface="Calibri"/>
                <a:cs typeface="Calibri"/>
              </a:rPr>
              <a:t>non</a:t>
            </a:r>
            <a:r>
              <a:rPr sz="1950" b="1" spc="-44" baseline="2136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950" b="1" spc="-15" baseline="2136" dirty="0">
                <a:solidFill>
                  <a:srgbClr val="0E1629"/>
                </a:solidFill>
                <a:latin typeface="Calibri"/>
                <a:cs typeface="Calibri"/>
              </a:rPr>
              <a:t>détectés</a:t>
            </a:r>
            <a:endParaRPr sz="1950" baseline="2136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300">
              <a:latin typeface="Calibri"/>
              <a:cs typeface="Calibri"/>
            </a:endParaRPr>
          </a:p>
          <a:p>
            <a:pPr marL="164465" marR="172720">
              <a:lnSpc>
                <a:spcPct val="129900"/>
              </a:lnSpc>
            </a:pP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Sans</a:t>
            </a:r>
            <a:r>
              <a:rPr sz="11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monitoring</a:t>
            </a:r>
            <a:r>
              <a:rPr sz="11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automatique,</a:t>
            </a:r>
            <a:r>
              <a:rPr sz="11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les</a:t>
            </a:r>
            <a:r>
              <a:rPr sz="11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signaux</a:t>
            </a:r>
            <a:r>
              <a:rPr sz="11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faibles</a:t>
            </a:r>
            <a:r>
              <a:rPr sz="11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—</a:t>
            </a:r>
            <a:r>
              <a:rPr sz="11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retournements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sectoriels,</a:t>
            </a:r>
            <a:r>
              <a:rPr sz="11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émergence</a:t>
            </a:r>
            <a:r>
              <a:rPr sz="11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de</a:t>
            </a:r>
            <a:r>
              <a:rPr sz="11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startups</a:t>
            </a:r>
            <a:r>
              <a:rPr sz="11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—</a:t>
            </a:r>
            <a:r>
              <a:rPr sz="11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passent</a:t>
            </a:r>
            <a:r>
              <a:rPr sz="11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inaperçus.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55602"/>
            <a:ext cx="1828800" cy="237490"/>
          </a:xfrm>
          <a:custGeom>
            <a:avLst/>
            <a:gdLst/>
            <a:ahLst/>
            <a:cxnLst/>
            <a:rect l="l" t="t" r="r" b="b"/>
            <a:pathLst>
              <a:path w="1828800" h="237490">
                <a:moveTo>
                  <a:pt x="1828431" y="0"/>
                </a:moveTo>
                <a:lnTo>
                  <a:pt x="0" y="0"/>
                </a:lnTo>
                <a:lnTo>
                  <a:pt x="0" y="237235"/>
                </a:lnTo>
                <a:lnTo>
                  <a:pt x="914400" y="237235"/>
                </a:lnTo>
                <a:lnTo>
                  <a:pt x="1828431" y="237235"/>
                </a:lnTo>
                <a:lnTo>
                  <a:pt x="1828431" y="0"/>
                </a:lnTo>
                <a:close/>
              </a:path>
            </a:pathLst>
          </a:custGeom>
          <a:solidFill>
            <a:srgbClr val="CC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6844" y="255602"/>
            <a:ext cx="1828800" cy="237490"/>
          </a:xfrm>
          <a:prstGeom prst="rect">
            <a:avLst/>
          </a:prstGeom>
          <a:ln w="6479">
            <a:solidFill>
              <a:srgbClr val="0C9387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O</a:t>
            </a:r>
            <a:r>
              <a:rPr sz="80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0C9387"/>
                </a:solidFill>
                <a:latin typeface="Calibri"/>
                <a:cs typeface="Calibri"/>
              </a:rPr>
              <a:t>B</a:t>
            </a:r>
            <a:r>
              <a:rPr sz="800" b="1" spc="-4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J</a:t>
            </a:r>
            <a:r>
              <a:rPr sz="800" b="1" spc="-2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E</a:t>
            </a:r>
            <a:r>
              <a:rPr sz="800" b="1" spc="-5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C</a:t>
            </a:r>
            <a:r>
              <a:rPr sz="800" b="1" spc="-2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T</a:t>
            </a:r>
            <a:r>
              <a:rPr sz="80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I</a:t>
            </a:r>
            <a:r>
              <a:rPr sz="80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F</a:t>
            </a:r>
            <a:r>
              <a:rPr sz="800" b="1" spc="-4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0C9387"/>
                </a:solidFill>
                <a:latin typeface="Calibri"/>
                <a:cs typeface="Calibri"/>
              </a:rPr>
              <a:t>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Six</a:t>
            </a:r>
            <a:r>
              <a:rPr spc="-80" dirty="0"/>
              <a:t> </a:t>
            </a:r>
            <a:r>
              <a:rPr dirty="0"/>
              <a:t>objectifs</a:t>
            </a:r>
            <a:r>
              <a:rPr spc="-75" dirty="0"/>
              <a:t> </a:t>
            </a:r>
            <a:r>
              <a:rPr spc="-10" dirty="0"/>
              <a:t>stratégiques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144" y="1113385"/>
            <a:ext cx="5527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Une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vision</a:t>
            </a:r>
            <a:r>
              <a:rPr sz="1300" spc="-4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claire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pour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transformer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la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veille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financière</a:t>
            </a:r>
            <a:r>
              <a:rPr sz="1300" spc="-4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au</a:t>
            </a:r>
            <a:r>
              <a:rPr sz="1300" spc="-4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Maroc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et</a:t>
            </a:r>
            <a:r>
              <a:rPr sz="1300" spc="-4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à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l'international.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0900" y="1411022"/>
            <a:ext cx="2708910" cy="1640205"/>
            <a:chOff x="450900" y="1411022"/>
            <a:chExt cx="2708910" cy="1640205"/>
          </a:xfrm>
        </p:grpSpPr>
        <p:sp>
          <p:nvSpPr>
            <p:cNvPr id="7" name="object 7"/>
            <p:cNvSpPr/>
            <p:nvPr/>
          </p:nvSpPr>
          <p:spPr>
            <a:xfrm>
              <a:off x="457199" y="1417322"/>
              <a:ext cx="2697480" cy="1627505"/>
            </a:xfrm>
            <a:custGeom>
              <a:avLst/>
              <a:gdLst/>
              <a:ahLst/>
              <a:cxnLst/>
              <a:rect l="l" t="t" r="r" b="b"/>
              <a:pathLst>
                <a:path w="2697480" h="1627505">
                  <a:moveTo>
                    <a:pt x="2697124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1348562" y="1627200"/>
                  </a:lnTo>
                  <a:lnTo>
                    <a:pt x="2697124" y="1627200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199" y="1417322"/>
              <a:ext cx="2697480" cy="1627505"/>
            </a:xfrm>
            <a:custGeom>
              <a:avLst/>
              <a:gdLst/>
              <a:ahLst/>
              <a:cxnLst/>
              <a:rect l="l" t="t" r="r" b="b"/>
              <a:pathLst>
                <a:path w="2697480" h="1627505">
                  <a:moveTo>
                    <a:pt x="1348562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1627200"/>
                  </a:lnTo>
                  <a:lnTo>
                    <a:pt x="1348562" y="1627200"/>
                  </a:lnTo>
                  <a:close/>
                </a:path>
              </a:pathLst>
            </a:custGeom>
            <a:ln w="1007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199" y="1417322"/>
              <a:ext cx="45720" cy="1627505"/>
            </a:xfrm>
            <a:custGeom>
              <a:avLst/>
              <a:gdLst/>
              <a:ahLst/>
              <a:cxnLst/>
              <a:rect l="l" t="t" r="r" b="b"/>
              <a:pathLst>
                <a:path w="45720" h="1627505">
                  <a:moveTo>
                    <a:pt x="45364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22682" y="1627200"/>
                  </a:lnTo>
                  <a:lnTo>
                    <a:pt x="45364" y="1627200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199" y="1417322"/>
              <a:ext cx="45720" cy="1627505"/>
            </a:xfrm>
            <a:custGeom>
              <a:avLst/>
              <a:gdLst/>
              <a:ahLst/>
              <a:cxnLst/>
              <a:rect l="l" t="t" r="r" b="b"/>
              <a:pathLst>
                <a:path w="45720" h="1627505">
                  <a:moveTo>
                    <a:pt x="22682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627200"/>
                  </a:lnTo>
                  <a:lnTo>
                    <a:pt x="22682" y="1627200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8864" y="1543875"/>
            <a:ext cx="2640965" cy="1342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35"/>
              </a:spcBef>
            </a:pPr>
            <a:r>
              <a:rPr sz="2550" spc="125" dirty="0">
                <a:latin typeface="MingLiU_HKSCS-ExtB"/>
                <a:cs typeface="MingLiU_HKSCS-ExtB"/>
              </a:rPr>
              <a:t>🔗</a:t>
            </a:r>
            <a:endParaRPr sz="2550">
              <a:latin typeface="MingLiU_HKSCS-ExtB"/>
              <a:cs typeface="MingLiU_HKSCS-ExtB"/>
            </a:endParaRPr>
          </a:p>
          <a:p>
            <a:pPr marL="112395">
              <a:lnSpc>
                <a:spcPct val="100000"/>
              </a:lnSpc>
              <a:spcBef>
                <a:spcPts val="1220"/>
              </a:spcBef>
            </a:pP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Centralisation</a:t>
            </a:r>
            <a:endParaRPr sz="1300">
              <a:latin typeface="Calibri"/>
              <a:cs typeface="Calibri"/>
            </a:endParaRPr>
          </a:p>
          <a:p>
            <a:pPr marL="112395" marR="214629">
              <a:lnSpc>
                <a:spcPct val="129800"/>
              </a:lnSpc>
              <a:spcBef>
                <a:spcPts val="1220"/>
              </a:spcBef>
            </a:pP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Agréger</a:t>
            </a:r>
            <a:r>
              <a:rPr sz="105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toutes</a:t>
            </a:r>
            <a:r>
              <a:rPr sz="105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les</a:t>
            </a:r>
            <a:r>
              <a:rPr sz="105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sources</a:t>
            </a:r>
            <a:r>
              <a:rPr sz="105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en</a:t>
            </a:r>
            <a:r>
              <a:rPr sz="1050" spc="-3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un</a:t>
            </a:r>
            <a:r>
              <a:rPr sz="105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seul</a:t>
            </a:r>
            <a:r>
              <a:rPr sz="105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point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d'accès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structuré.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03904" y="1411022"/>
            <a:ext cx="2708910" cy="1640205"/>
            <a:chOff x="3303904" y="1411022"/>
            <a:chExt cx="2708910" cy="1640205"/>
          </a:xfrm>
        </p:grpSpPr>
        <p:sp>
          <p:nvSpPr>
            <p:cNvPr id="13" name="object 13"/>
            <p:cNvSpPr/>
            <p:nvPr/>
          </p:nvSpPr>
          <p:spPr>
            <a:xfrm>
              <a:off x="3310204" y="1417322"/>
              <a:ext cx="2697480" cy="1627505"/>
            </a:xfrm>
            <a:custGeom>
              <a:avLst/>
              <a:gdLst/>
              <a:ahLst/>
              <a:cxnLst/>
              <a:rect l="l" t="t" r="r" b="b"/>
              <a:pathLst>
                <a:path w="2697479" h="1627505">
                  <a:moveTo>
                    <a:pt x="2697111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1348549" y="1627200"/>
                  </a:lnTo>
                  <a:lnTo>
                    <a:pt x="2697111" y="1627200"/>
                  </a:lnTo>
                  <a:lnTo>
                    <a:pt x="2697111" y="0"/>
                  </a:lnTo>
                  <a:close/>
                </a:path>
              </a:pathLst>
            </a:custGeom>
            <a:solidFill>
              <a:srgbClr val="ECE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10204" y="1417322"/>
              <a:ext cx="2697480" cy="1627505"/>
            </a:xfrm>
            <a:custGeom>
              <a:avLst/>
              <a:gdLst/>
              <a:ahLst/>
              <a:cxnLst/>
              <a:rect l="l" t="t" r="r" b="b"/>
              <a:pathLst>
                <a:path w="2697479" h="1627505">
                  <a:moveTo>
                    <a:pt x="1348549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2697111" y="0"/>
                  </a:lnTo>
                  <a:lnTo>
                    <a:pt x="2697111" y="1627200"/>
                  </a:lnTo>
                  <a:lnTo>
                    <a:pt x="1348549" y="1627200"/>
                  </a:lnTo>
                  <a:close/>
                </a:path>
              </a:pathLst>
            </a:custGeom>
            <a:ln w="1007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10204" y="1417322"/>
              <a:ext cx="45720" cy="1627505"/>
            </a:xfrm>
            <a:custGeom>
              <a:avLst/>
              <a:gdLst/>
              <a:ahLst/>
              <a:cxnLst/>
              <a:rect l="l" t="t" r="r" b="b"/>
              <a:pathLst>
                <a:path w="45720" h="1627505">
                  <a:moveTo>
                    <a:pt x="45351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22669" y="1627200"/>
                  </a:lnTo>
                  <a:lnTo>
                    <a:pt x="45351" y="1627200"/>
                  </a:lnTo>
                  <a:lnTo>
                    <a:pt x="45351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10204" y="1417322"/>
              <a:ext cx="45720" cy="1627505"/>
            </a:xfrm>
            <a:custGeom>
              <a:avLst/>
              <a:gdLst/>
              <a:ahLst/>
              <a:cxnLst/>
              <a:rect l="l" t="t" r="r" b="b"/>
              <a:pathLst>
                <a:path w="45720" h="1627505">
                  <a:moveTo>
                    <a:pt x="22669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45351" y="0"/>
                  </a:lnTo>
                  <a:lnTo>
                    <a:pt x="45351" y="1627200"/>
                  </a:lnTo>
                  <a:lnTo>
                    <a:pt x="22669" y="1627200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361855" y="1543875"/>
            <a:ext cx="2640965" cy="1342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35"/>
              </a:spcBef>
            </a:pPr>
            <a:r>
              <a:rPr sz="2550" spc="125" dirty="0">
                <a:latin typeface="MingLiU_HKSCS-ExtB"/>
                <a:cs typeface="MingLiU_HKSCS-ExtB"/>
              </a:rPr>
              <a:t>🧠</a:t>
            </a:r>
            <a:endParaRPr sz="2550">
              <a:latin typeface="MingLiU_HKSCS-ExtB"/>
              <a:cs typeface="MingLiU_HKSCS-ExtB"/>
            </a:endParaRPr>
          </a:p>
          <a:p>
            <a:pPr marL="112395">
              <a:lnSpc>
                <a:spcPct val="100000"/>
              </a:lnSpc>
              <a:spcBef>
                <a:spcPts val="1220"/>
              </a:spcBef>
            </a:pP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Analyse</a:t>
            </a:r>
            <a:r>
              <a:rPr sz="1300" b="1" spc="-6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0E1629"/>
                </a:solidFill>
                <a:latin typeface="Calibri"/>
                <a:cs typeface="Calibri"/>
              </a:rPr>
              <a:t>IA</a:t>
            </a:r>
            <a:endParaRPr sz="1300">
              <a:latin typeface="Calibri"/>
              <a:cs typeface="Calibri"/>
            </a:endParaRPr>
          </a:p>
          <a:p>
            <a:pPr marL="112395" marR="292735">
              <a:lnSpc>
                <a:spcPct val="129800"/>
              </a:lnSpc>
              <a:spcBef>
                <a:spcPts val="1220"/>
              </a:spcBef>
            </a:pP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Interpréter automatiquement données</a:t>
            </a:r>
            <a:r>
              <a:rPr sz="105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334054"/>
                </a:solidFill>
                <a:latin typeface="Calibri"/>
                <a:cs typeface="Calibri"/>
              </a:rPr>
              <a:t>et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signaux</a:t>
            </a:r>
            <a:r>
              <a:rPr sz="1050" spc="-4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de</a:t>
            </a:r>
            <a:r>
              <a:rPr sz="1050" spc="-4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marché.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56895" y="1411022"/>
            <a:ext cx="2708910" cy="1640205"/>
            <a:chOff x="6156895" y="1411022"/>
            <a:chExt cx="2708910" cy="1640205"/>
          </a:xfrm>
        </p:grpSpPr>
        <p:sp>
          <p:nvSpPr>
            <p:cNvPr id="19" name="object 19"/>
            <p:cNvSpPr/>
            <p:nvPr/>
          </p:nvSpPr>
          <p:spPr>
            <a:xfrm>
              <a:off x="6163195" y="1417322"/>
              <a:ext cx="2697480" cy="1627505"/>
            </a:xfrm>
            <a:custGeom>
              <a:avLst/>
              <a:gdLst/>
              <a:ahLst/>
              <a:cxnLst/>
              <a:rect l="l" t="t" r="r" b="b"/>
              <a:pathLst>
                <a:path w="2697479" h="1627505">
                  <a:moveTo>
                    <a:pt x="2697124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1348562" y="1627200"/>
                  </a:lnTo>
                  <a:lnTo>
                    <a:pt x="2697124" y="1627200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63195" y="1417322"/>
              <a:ext cx="2697480" cy="1627505"/>
            </a:xfrm>
            <a:custGeom>
              <a:avLst/>
              <a:gdLst/>
              <a:ahLst/>
              <a:cxnLst/>
              <a:rect l="l" t="t" r="r" b="b"/>
              <a:pathLst>
                <a:path w="2697479" h="1627505">
                  <a:moveTo>
                    <a:pt x="1348562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1627200"/>
                  </a:lnTo>
                  <a:lnTo>
                    <a:pt x="1348562" y="1627200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63195" y="1417322"/>
              <a:ext cx="45720" cy="1627505"/>
            </a:xfrm>
            <a:custGeom>
              <a:avLst/>
              <a:gdLst/>
              <a:ahLst/>
              <a:cxnLst/>
              <a:rect l="l" t="t" r="r" b="b"/>
              <a:pathLst>
                <a:path w="45720" h="1627505">
                  <a:moveTo>
                    <a:pt x="45364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22682" y="1627200"/>
                  </a:lnTo>
                  <a:lnTo>
                    <a:pt x="45364" y="1627200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63195" y="1417322"/>
              <a:ext cx="45720" cy="1627505"/>
            </a:xfrm>
            <a:custGeom>
              <a:avLst/>
              <a:gdLst/>
              <a:ahLst/>
              <a:cxnLst/>
              <a:rect l="l" t="t" r="r" b="b"/>
              <a:pathLst>
                <a:path w="45720" h="1627505">
                  <a:moveTo>
                    <a:pt x="22682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627200"/>
                  </a:lnTo>
                  <a:lnTo>
                    <a:pt x="22682" y="1627200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214860" y="1543875"/>
            <a:ext cx="2640965" cy="1342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35"/>
              </a:spcBef>
            </a:pPr>
            <a:r>
              <a:rPr sz="2550" spc="125" dirty="0">
                <a:latin typeface="MingLiU_HKSCS-ExtB"/>
                <a:cs typeface="MingLiU_HKSCS-ExtB"/>
              </a:rPr>
              <a:t>📡</a:t>
            </a:r>
            <a:endParaRPr sz="2550">
              <a:latin typeface="MingLiU_HKSCS-ExtB"/>
              <a:cs typeface="MingLiU_HKSCS-ExtB"/>
            </a:endParaRPr>
          </a:p>
          <a:p>
            <a:pPr marL="112395">
              <a:lnSpc>
                <a:spcPct val="100000"/>
              </a:lnSpc>
              <a:spcBef>
                <a:spcPts val="1220"/>
              </a:spcBef>
            </a:pP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Suivi</a:t>
            </a:r>
            <a:r>
              <a:rPr sz="1300" b="1" spc="-4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en</a:t>
            </a:r>
            <a:r>
              <a:rPr sz="1300" b="1" spc="-4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temps</a:t>
            </a:r>
            <a:r>
              <a:rPr sz="1300" b="1" spc="-4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E1629"/>
                </a:solidFill>
                <a:latin typeface="Calibri"/>
                <a:cs typeface="Calibri"/>
              </a:rPr>
              <a:t>réel</a:t>
            </a:r>
            <a:endParaRPr sz="1300">
              <a:latin typeface="Calibri"/>
              <a:cs typeface="Calibri"/>
            </a:endParaRPr>
          </a:p>
          <a:p>
            <a:pPr marL="112395" marR="331470">
              <a:lnSpc>
                <a:spcPct val="129800"/>
              </a:lnSpc>
              <a:spcBef>
                <a:spcPts val="1220"/>
              </a:spcBef>
            </a:pP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Monitoring</a:t>
            </a:r>
            <a:r>
              <a:rPr sz="1050" spc="-3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continu</a:t>
            </a:r>
            <a:r>
              <a:rPr sz="105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des</a:t>
            </a:r>
            <a:r>
              <a:rPr sz="105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KPIs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sectoriels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334054"/>
                </a:solidFill>
                <a:latin typeface="Calibri"/>
                <a:cs typeface="Calibri"/>
              </a:rPr>
              <a:t>et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macroéconomiques.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0900" y="3194102"/>
            <a:ext cx="2708910" cy="1640205"/>
            <a:chOff x="450900" y="3194102"/>
            <a:chExt cx="2708910" cy="1640205"/>
          </a:xfrm>
        </p:grpSpPr>
        <p:sp>
          <p:nvSpPr>
            <p:cNvPr id="25" name="object 25"/>
            <p:cNvSpPr/>
            <p:nvPr/>
          </p:nvSpPr>
          <p:spPr>
            <a:xfrm>
              <a:off x="457199" y="3200402"/>
              <a:ext cx="2697480" cy="1627505"/>
            </a:xfrm>
            <a:custGeom>
              <a:avLst/>
              <a:gdLst/>
              <a:ahLst/>
              <a:cxnLst/>
              <a:rect l="l" t="t" r="r" b="b"/>
              <a:pathLst>
                <a:path w="2697480" h="1627504">
                  <a:moveTo>
                    <a:pt x="2697124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1348562" y="1627200"/>
                  </a:lnTo>
                  <a:lnTo>
                    <a:pt x="2697124" y="1627200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199" y="3200402"/>
              <a:ext cx="2697480" cy="1627505"/>
            </a:xfrm>
            <a:custGeom>
              <a:avLst/>
              <a:gdLst/>
              <a:ahLst/>
              <a:cxnLst/>
              <a:rect l="l" t="t" r="r" b="b"/>
              <a:pathLst>
                <a:path w="2697480" h="1627504">
                  <a:moveTo>
                    <a:pt x="1348562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1627200"/>
                  </a:lnTo>
                  <a:lnTo>
                    <a:pt x="1348562" y="1627200"/>
                  </a:lnTo>
                  <a:close/>
                </a:path>
              </a:pathLst>
            </a:custGeom>
            <a:ln w="1007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7199" y="3200402"/>
              <a:ext cx="45720" cy="1627505"/>
            </a:xfrm>
            <a:custGeom>
              <a:avLst/>
              <a:gdLst/>
              <a:ahLst/>
              <a:cxnLst/>
              <a:rect l="l" t="t" r="r" b="b"/>
              <a:pathLst>
                <a:path w="45720" h="1627504">
                  <a:moveTo>
                    <a:pt x="45364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22682" y="1627200"/>
                  </a:lnTo>
                  <a:lnTo>
                    <a:pt x="45364" y="1627200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199" y="3200402"/>
              <a:ext cx="45720" cy="1627505"/>
            </a:xfrm>
            <a:custGeom>
              <a:avLst/>
              <a:gdLst/>
              <a:ahLst/>
              <a:cxnLst/>
              <a:rect l="l" t="t" r="r" b="b"/>
              <a:pathLst>
                <a:path w="45720" h="1627504">
                  <a:moveTo>
                    <a:pt x="22682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627200"/>
                  </a:lnTo>
                  <a:lnTo>
                    <a:pt x="22682" y="1627200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08864" y="3326955"/>
            <a:ext cx="2640965" cy="1342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35"/>
              </a:spcBef>
            </a:pPr>
            <a:r>
              <a:rPr sz="2550" spc="-1225" dirty="0">
                <a:latin typeface="MingLiU_HKSCS-ExtB"/>
                <a:cs typeface="MingLiU_HKSCS-ExtB"/>
              </a:rPr>
              <a:t>⚖️</a:t>
            </a:r>
            <a:endParaRPr sz="2550">
              <a:latin typeface="MingLiU_HKSCS-ExtB"/>
              <a:cs typeface="MingLiU_HKSCS-ExtB"/>
            </a:endParaRPr>
          </a:p>
          <a:p>
            <a:pPr marL="112395">
              <a:lnSpc>
                <a:spcPct val="100000"/>
              </a:lnSpc>
              <a:spcBef>
                <a:spcPts val="1220"/>
              </a:spcBef>
            </a:pP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Benchmarking</a:t>
            </a:r>
            <a:endParaRPr sz="1300">
              <a:latin typeface="Calibri"/>
              <a:cs typeface="Calibri"/>
            </a:endParaRPr>
          </a:p>
          <a:p>
            <a:pPr marL="112395" marR="207010">
              <a:lnSpc>
                <a:spcPct val="129800"/>
              </a:lnSpc>
              <a:spcBef>
                <a:spcPts val="1220"/>
              </a:spcBef>
            </a:pP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Comparaisons</a:t>
            </a:r>
            <a:r>
              <a:rPr sz="105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secteurs,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pays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et</a:t>
            </a:r>
            <a:r>
              <a:rPr sz="1050" spc="-3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entreprises automatisées.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303904" y="3194102"/>
            <a:ext cx="2708910" cy="1640205"/>
            <a:chOff x="3303904" y="3194102"/>
            <a:chExt cx="2708910" cy="1640205"/>
          </a:xfrm>
        </p:grpSpPr>
        <p:sp>
          <p:nvSpPr>
            <p:cNvPr id="31" name="object 31"/>
            <p:cNvSpPr/>
            <p:nvPr/>
          </p:nvSpPr>
          <p:spPr>
            <a:xfrm>
              <a:off x="3310204" y="3200402"/>
              <a:ext cx="2697480" cy="1627505"/>
            </a:xfrm>
            <a:custGeom>
              <a:avLst/>
              <a:gdLst/>
              <a:ahLst/>
              <a:cxnLst/>
              <a:rect l="l" t="t" r="r" b="b"/>
              <a:pathLst>
                <a:path w="2697479" h="1627504">
                  <a:moveTo>
                    <a:pt x="2697111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1348549" y="1627200"/>
                  </a:lnTo>
                  <a:lnTo>
                    <a:pt x="2697111" y="1627200"/>
                  </a:lnTo>
                  <a:lnTo>
                    <a:pt x="2697111" y="0"/>
                  </a:lnTo>
                  <a:close/>
                </a:path>
              </a:pathLst>
            </a:custGeom>
            <a:solidFill>
              <a:srgbClr val="ECE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310204" y="3200402"/>
              <a:ext cx="2697480" cy="1627505"/>
            </a:xfrm>
            <a:custGeom>
              <a:avLst/>
              <a:gdLst/>
              <a:ahLst/>
              <a:cxnLst/>
              <a:rect l="l" t="t" r="r" b="b"/>
              <a:pathLst>
                <a:path w="2697479" h="1627504">
                  <a:moveTo>
                    <a:pt x="1348549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2697111" y="0"/>
                  </a:lnTo>
                  <a:lnTo>
                    <a:pt x="2697111" y="1627200"/>
                  </a:lnTo>
                  <a:lnTo>
                    <a:pt x="1348549" y="1627200"/>
                  </a:lnTo>
                  <a:close/>
                </a:path>
              </a:pathLst>
            </a:custGeom>
            <a:ln w="1007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10204" y="3200402"/>
              <a:ext cx="45720" cy="1627505"/>
            </a:xfrm>
            <a:custGeom>
              <a:avLst/>
              <a:gdLst/>
              <a:ahLst/>
              <a:cxnLst/>
              <a:rect l="l" t="t" r="r" b="b"/>
              <a:pathLst>
                <a:path w="45720" h="1627504">
                  <a:moveTo>
                    <a:pt x="45351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22669" y="1627200"/>
                  </a:lnTo>
                  <a:lnTo>
                    <a:pt x="45351" y="1627200"/>
                  </a:lnTo>
                  <a:lnTo>
                    <a:pt x="45351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10204" y="3200402"/>
              <a:ext cx="45720" cy="1627505"/>
            </a:xfrm>
            <a:custGeom>
              <a:avLst/>
              <a:gdLst/>
              <a:ahLst/>
              <a:cxnLst/>
              <a:rect l="l" t="t" r="r" b="b"/>
              <a:pathLst>
                <a:path w="45720" h="1627504">
                  <a:moveTo>
                    <a:pt x="22669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45351" y="0"/>
                  </a:lnTo>
                  <a:lnTo>
                    <a:pt x="45351" y="1627200"/>
                  </a:lnTo>
                  <a:lnTo>
                    <a:pt x="22669" y="1627200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361855" y="3326955"/>
            <a:ext cx="2640965" cy="1342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35"/>
              </a:spcBef>
            </a:pPr>
            <a:r>
              <a:rPr sz="2550" spc="125" dirty="0">
                <a:latin typeface="MingLiU_HKSCS-ExtB"/>
                <a:cs typeface="MingLiU_HKSCS-ExtB"/>
              </a:rPr>
              <a:t>📄</a:t>
            </a:r>
            <a:endParaRPr sz="2550">
              <a:latin typeface="MingLiU_HKSCS-ExtB"/>
              <a:cs typeface="MingLiU_HKSCS-ExtB"/>
            </a:endParaRPr>
          </a:p>
          <a:p>
            <a:pPr marL="112395">
              <a:lnSpc>
                <a:spcPct val="100000"/>
              </a:lnSpc>
              <a:spcBef>
                <a:spcPts val="1220"/>
              </a:spcBef>
            </a:pP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Rapports</a:t>
            </a:r>
            <a:r>
              <a:rPr sz="1300" b="1" spc="-7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automatiques</a:t>
            </a:r>
            <a:endParaRPr sz="1300">
              <a:latin typeface="Calibri"/>
              <a:cs typeface="Calibri"/>
            </a:endParaRPr>
          </a:p>
          <a:p>
            <a:pPr marL="112395" marR="492125">
              <a:lnSpc>
                <a:spcPct val="129800"/>
              </a:lnSpc>
              <a:spcBef>
                <a:spcPts val="1220"/>
              </a:spcBef>
            </a:pP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Génération</a:t>
            </a:r>
            <a:r>
              <a:rPr sz="105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de</a:t>
            </a:r>
            <a:r>
              <a:rPr sz="1050" spc="-3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synthèses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PDF</a:t>
            </a:r>
            <a:r>
              <a:rPr sz="1050" spc="-3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prêtes</a:t>
            </a:r>
            <a:r>
              <a:rPr sz="105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50" dirty="0">
                <a:solidFill>
                  <a:srgbClr val="334054"/>
                </a:solidFill>
                <a:latin typeface="Calibri"/>
                <a:cs typeface="Calibri"/>
              </a:rPr>
              <a:t>à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 soumettre</a:t>
            </a:r>
            <a:r>
              <a:rPr sz="1050" spc="-3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aux</a:t>
            </a:r>
            <a:r>
              <a:rPr sz="1050" spc="-3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comités.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156895" y="3194102"/>
            <a:ext cx="2708910" cy="1640205"/>
            <a:chOff x="6156895" y="3194102"/>
            <a:chExt cx="2708910" cy="1640205"/>
          </a:xfrm>
        </p:grpSpPr>
        <p:sp>
          <p:nvSpPr>
            <p:cNvPr id="37" name="object 37"/>
            <p:cNvSpPr/>
            <p:nvPr/>
          </p:nvSpPr>
          <p:spPr>
            <a:xfrm>
              <a:off x="6163195" y="3200402"/>
              <a:ext cx="2697480" cy="1627505"/>
            </a:xfrm>
            <a:custGeom>
              <a:avLst/>
              <a:gdLst/>
              <a:ahLst/>
              <a:cxnLst/>
              <a:rect l="l" t="t" r="r" b="b"/>
              <a:pathLst>
                <a:path w="2697479" h="1627504">
                  <a:moveTo>
                    <a:pt x="2697124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1348562" y="1627200"/>
                  </a:lnTo>
                  <a:lnTo>
                    <a:pt x="2697124" y="1627200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163195" y="3200402"/>
              <a:ext cx="2697480" cy="1627505"/>
            </a:xfrm>
            <a:custGeom>
              <a:avLst/>
              <a:gdLst/>
              <a:ahLst/>
              <a:cxnLst/>
              <a:rect l="l" t="t" r="r" b="b"/>
              <a:pathLst>
                <a:path w="2697479" h="1627504">
                  <a:moveTo>
                    <a:pt x="1348562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1627200"/>
                  </a:lnTo>
                  <a:lnTo>
                    <a:pt x="1348562" y="1627200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163195" y="3200402"/>
              <a:ext cx="45720" cy="1627505"/>
            </a:xfrm>
            <a:custGeom>
              <a:avLst/>
              <a:gdLst/>
              <a:ahLst/>
              <a:cxnLst/>
              <a:rect l="l" t="t" r="r" b="b"/>
              <a:pathLst>
                <a:path w="45720" h="1627504">
                  <a:moveTo>
                    <a:pt x="45364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22682" y="1627200"/>
                  </a:lnTo>
                  <a:lnTo>
                    <a:pt x="45364" y="1627200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163195" y="3200402"/>
              <a:ext cx="45720" cy="1627505"/>
            </a:xfrm>
            <a:custGeom>
              <a:avLst/>
              <a:gdLst/>
              <a:ahLst/>
              <a:cxnLst/>
              <a:rect l="l" t="t" r="r" b="b"/>
              <a:pathLst>
                <a:path w="45720" h="1627504">
                  <a:moveTo>
                    <a:pt x="22682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627200"/>
                  </a:lnTo>
                  <a:lnTo>
                    <a:pt x="22682" y="1627200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214860" y="3326955"/>
            <a:ext cx="2640965" cy="1342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35"/>
              </a:spcBef>
            </a:pPr>
            <a:r>
              <a:rPr sz="2550" spc="125" dirty="0">
                <a:latin typeface="MingLiU_HKSCS-ExtB"/>
                <a:cs typeface="MingLiU_HKSCS-ExtB"/>
              </a:rPr>
              <a:t>🔔</a:t>
            </a:r>
            <a:endParaRPr sz="2550">
              <a:latin typeface="MingLiU_HKSCS-ExtB"/>
              <a:cs typeface="MingLiU_HKSCS-ExtB"/>
            </a:endParaRPr>
          </a:p>
          <a:p>
            <a:pPr marL="112395">
              <a:lnSpc>
                <a:spcPct val="100000"/>
              </a:lnSpc>
              <a:spcBef>
                <a:spcPts val="1220"/>
              </a:spcBef>
            </a:pP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Alertes</a:t>
            </a:r>
            <a:r>
              <a:rPr sz="1300" b="1" spc="-7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intelligentes</a:t>
            </a:r>
            <a:endParaRPr sz="1300">
              <a:latin typeface="Calibri"/>
              <a:cs typeface="Calibri"/>
            </a:endParaRPr>
          </a:p>
          <a:p>
            <a:pPr marL="112395" marR="195580">
              <a:lnSpc>
                <a:spcPct val="129800"/>
              </a:lnSpc>
              <a:spcBef>
                <a:spcPts val="1220"/>
              </a:spcBef>
            </a:pP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Notifications</a:t>
            </a:r>
            <a:r>
              <a:rPr sz="105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instantanées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sur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les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risques</a:t>
            </a:r>
            <a:r>
              <a:rPr sz="1050" spc="-25" dirty="0">
                <a:solidFill>
                  <a:srgbClr val="334054"/>
                </a:solidFill>
                <a:latin typeface="Calibri"/>
                <a:cs typeface="Calibri"/>
              </a:rPr>
              <a:t> et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opportunités.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55602"/>
            <a:ext cx="1828800" cy="237490"/>
          </a:xfrm>
          <a:custGeom>
            <a:avLst/>
            <a:gdLst/>
            <a:ahLst/>
            <a:cxnLst/>
            <a:rect l="l" t="t" r="r" b="b"/>
            <a:pathLst>
              <a:path w="1828800" h="237490">
                <a:moveTo>
                  <a:pt x="1828431" y="0"/>
                </a:moveTo>
                <a:lnTo>
                  <a:pt x="0" y="0"/>
                </a:lnTo>
                <a:lnTo>
                  <a:pt x="0" y="237235"/>
                </a:lnTo>
                <a:lnTo>
                  <a:pt x="914400" y="237235"/>
                </a:lnTo>
                <a:lnTo>
                  <a:pt x="1828431" y="237235"/>
                </a:lnTo>
                <a:lnTo>
                  <a:pt x="1828431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6844" y="255602"/>
            <a:ext cx="1828800" cy="237490"/>
          </a:xfrm>
          <a:prstGeom prst="rect">
            <a:avLst/>
          </a:prstGeom>
          <a:ln w="6479">
            <a:solidFill>
              <a:srgbClr val="2462EA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418465">
              <a:lnSpc>
                <a:spcPct val="100000"/>
              </a:lnSpc>
              <a:spcBef>
                <a:spcPts val="455"/>
              </a:spcBef>
            </a:pP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S</a:t>
            </a:r>
            <a:r>
              <a:rPr sz="800" b="1" spc="-4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E</a:t>
            </a:r>
            <a:r>
              <a:rPr sz="800" b="1" spc="-4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C</a:t>
            </a:r>
            <a:r>
              <a:rPr sz="800" b="1" spc="-2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T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E</a:t>
            </a:r>
            <a:r>
              <a:rPr sz="800" b="1" spc="-3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2462EA"/>
                </a:solidFill>
                <a:latin typeface="Calibri"/>
                <a:cs typeface="Calibri"/>
              </a:rPr>
              <a:t>U</a:t>
            </a:r>
            <a:r>
              <a:rPr sz="800" b="1" spc="-4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R</a:t>
            </a:r>
            <a:r>
              <a:rPr sz="800" b="1" spc="-4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S</a:t>
            </a:r>
            <a:r>
              <a:rPr sz="800" b="1" spc="29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C</a:t>
            </a:r>
            <a:r>
              <a:rPr sz="800" b="1" spc="-2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I</a:t>
            </a:r>
            <a:r>
              <a:rPr sz="800" b="1" spc="-4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B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L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É</a:t>
            </a:r>
            <a:r>
              <a:rPr sz="800" b="1" spc="-4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2462EA"/>
                </a:solidFill>
                <a:latin typeface="Calibri"/>
                <a:cs typeface="Calibri"/>
              </a:rPr>
              <a:t>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9</a:t>
            </a:r>
            <a:r>
              <a:rPr spc="-35" dirty="0"/>
              <a:t> </a:t>
            </a:r>
            <a:r>
              <a:rPr spc="-10" dirty="0"/>
              <a:t>secteurs</a:t>
            </a:r>
            <a:r>
              <a:rPr spc="-30" dirty="0"/>
              <a:t> </a:t>
            </a:r>
            <a:r>
              <a:rPr spc="-20" dirty="0"/>
              <a:t>stratégiques</a:t>
            </a:r>
            <a:r>
              <a:rPr spc="-45" dirty="0"/>
              <a:t> </a:t>
            </a:r>
            <a:r>
              <a:rPr spc="-10" dirty="0"/>
              <a:t>couverts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144" y="1113385"/>
            <a:ext cx="51384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Une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couverture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complète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des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secteurs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à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fort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potentiel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pour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les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investisseurs.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2160" y="1412282"/>
            <a:ext cx="2707640" cy="1061720"/>
            <a:chOff x="452160" y="1412282"/>
            <a:chExt cx="2707640" cy="1061720"/>
          </a:xfrm>
        </p:grpSpPr>
        <p:sp>
          <p:nvSpPr>
            <p:cNvPr id="7" name="object 7"/>
            <p:cNvSpPr/>
            <p:nvPr/>
          </p:nvSpPr>
          <p:spPr>
            <a:xfrm>
              <a:off x="457200" y="1417322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80" h="1051560">
                  <a:moveTo>
                    <a:pt x="2697124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1348562" y="1051204"/>
                  </a:lnTo>
                  <a:lnTo>
                    <a:pt x="2697124" y="105120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1417322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80" h="1051560">
                  <a:moveTo>
                    <a:pt x="1348562" y="1051204"/>
                  </a:moveTo>
                  <a:lnTo>
                    <a:pt x="0" y="1051204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1051204"/>
                  </a:lnTo>
                  <a:lnTo>
                    <a:pt x="1348562" y="1051204"/>
                  </a:lnTo>
                  <a:close/>
                </a:path>
              </a:pathLst>
            </a:custGeom>
            <a:ln w="1007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1715" y="1645922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5">
                  <a:moveTo>
                    <a:pt x="283324" y="0"/>
                  </a:moveTo>
                  <a:lnTo>
                    <a:pt x="210018" y="9582"/>
                  </a:lnTo>
                  <a:lnTo>
                    <a:pt x="141846" y="37795"/>
                  </a:lnTo>
                  <a:lnTo>
                    <a:pt x="83118" y="82888"/>
                  </a:lnTo>
                  <a:lnTo>
                    <a:pt x="38163" y="141477"/>
                  </a:lnTo>
                  <a:lnTo>
                    <a:pt x="9632" y="209972"/>
                  </a:lnTo>
                  <a:lnTo>
                    <a:pt x="0" y="283324"/>
                  </a:lnTo>
                  <a:lnTo>
                    <a:pt x="2419" y="320366"/>
                  </a:lnTo>
                  <a:lnTo>
                    <a:pt x="21570" y="391759"/>
                  </a:lnTo>
                  <a:lnTo>
                    <a:pt x="58768" y="455936"/>
                  </a:lnTo>
                  <a:lnTo>
                    <a:pt x="110911" y="508184"/>
                  </a:lnTo>
                  <a:lnTo>
                    <a:pt x="175037" y="545283"/>
                  </a:lnTo>
                  <a:lnTo>
                    <a:pt x="246282" y="564534"/>
                  </a:lnTo>
                  <a:lnTo>
                    <a:pt x="283324" y="567004"/>
                  </a:lnTo>
                  <a:lnTo>
                    <a:pt x="320571" y="564534"/>
                  </a:lnTo>
                  <a:lnTo>
                    <a:pt x="391961" y="545283"/>
                  </a:lnTo>
                  <a:lnTo>
                    <a:pt x="456092" y="508184"/>
                  </a:lnTo>
                  <a:lnTo>
                    <a:pt x="508236" y="455936"/>
                  </a:lnTo>
                  <a:lnTo>
                    <a:pt x="545439" y="391759"/>
                  </a:lnTo>
                  <a:lnTo>
                    <a:pt x="564586" y="320366"/>
                  </a:lnTo>
                  <a:lnTo>
                    <a:pt x="567004" y="283324"/>
                  </a:lnTo>
                  <a:lnTo>
                    <a:pt x="564586" y="246276"/>
                  </a:lnTo>
                  <a:lnTo>
                    <a:pt x="545439" y="174882"/>
                  </a:lnTo>
                  <a:lnTo>
                    <a:pt x="508236" y="110698"/>
                  </a:lnTo>
                  <a:lnTo>
                    <a:pt x="456092" y="58451"/>
                  </a:lnTo>
                  <a:lnTo>
                    <a:pt x="391961" y="21409"/>
                  </a:lnTo>
                  <a:lnTo>
                    <a:pt x="320571" y="2412"/>
                  </a:lnTo>
                  <a:lnTo>
                    <a:pt x="283324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1715" y="1645922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5">
                  <a:moveTo>
                    <a:pt x="0" y="283324"/>
                  </a:moveTo>
                  <a:lnTo>
                    <a:pt x="2419" y="246276"/>
                  </a:lnTo>
                  <a:lnTo>
                    <a:pt x="9632" y="209972"/>
                  </a:lnTo>
                  <a:lnTo>
                    <a:pt x="38163" y="141477"/>
                  </a:lnTo>
                  <a:lnTo>
                    <a:pt x="83118" y="82888"/>
                  </a:lnTo>
                  <a:lnTo>
                    <a:pt x="141846" y="37795"/>
                  </a:lnTo>
                  <a:lnTo>
                    <a:pt x="210018" y="9582"/>
                  </a:lnTo>
                  <a:lnTo>
                    <a:pt x="283324" y="0"/>
                  </a:lnTo>
                  <a:lnTo>
                    <a:pt x="356941" y="9582"/>
                  </a:lnTo>
                  <a:lnTo>
                    <a:pt x="425157" y="37795"/>
                  </a:lnTo>
                  <a:lnTo>
                    <a:pt x="483885" y="82888"/>
                  </a:lnTo>
                  <a:lnTo>
                    <a:pt x="528840" y="141477"/>
                  </a:lnTo>
                  <a:lnTo>
                    <a:pt x="557376" y="209972"/>
                  </a:lnTo>
                  <a:lnTo>
                    <a:pt x="567004" y="283324"/>
                  </a:lnTo>
                  <a:lnTo>
                    <a:pt x="564586" y="320366"/>
                  </a:lnTo>
                  <a:lnTo>
                    <a:pt x="557376" y="356669"/>
                  </a:lnTo>
                  <a:lnTo>
                    <a:pt x="528840" y="425157"/>
                  </a:lnTo>
                  <a:lnTo>
                    <a:pt x="483885" y="483747"/>
                  </a:lnTo>
                  <a:lnTo>
                    <a:pt x="425157" y="528840"/>
                  </a:lnTo>
                  <a:lnTo>
                    <a:pt x="356941" y="557237"/>
                  </a:lnTo>
                  <a:lnTo>
                    <a:pt x="283324" y="567004"/>
                  </a:lnTo>
                  <a:lnTo>
                    <a:pt x="210018" y="557237"/>
                  </a:lnTo>
                  <a:lnTo>
                    <a:pt x="141846" y="528840"/>
                  </a:lnTo>
                  <a:lnTo>
                    <a:pt x="83118" y="483747"/>
                  </a:lnTo>
                  <a:lnTo>
                    <a:pt x="38163" y="425157"/>
                  </a:lnTo>
                  <a:lnTo>
                    <a:pt x="9632" y="356669"/>
                  </a:lnTo>
                  <a:lnTo>
                    <a:pt x="2419" y="320366"/>
                  </a:lnTo>
                  <a:lnTo>
                    <a:pt x="0" y="283324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80160" y="1782624"/>
            <a:ext cx="4273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E1629"/>
                </a:solidFill>
                <a:latin typeface="Calibri"/>
                <a:cs typeface="Calibri"/>
              </a:rPr>
              <a:t>Santé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05164" y="1412282"/>
            <a:ext cx="2707640" cy="1061720"/>
            <a:chOff x="3305164" y="1412282"/>
            <a:chExt cx="2707640" cy="1061720"/>
          </a:xfrm>
        </p:grpSpPr>
        <p:sp>
          <p:nvSpPr>
            <p:cNvPr id="13" name="object 13"/>
            <p:cNvSpPr/>
            <p:nvPr/>
          </p:nvSpPr>
          <p:spPr>
            <a:xfrm>
              <a:off x="3310204" y="1417322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79" h="1051560">
                  <a:moveTo>
                    <a:pt x="2697111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1348549" y="1051204"/>
                  </a:lnTo>
                  <a:lnTo>
                    <a:pt x="2697111" y="1051204"/>
                  </a:lnTo>
                  <a:lnTo>
                    <a:pt x="2697111" y="0"/>
                  </a:lnTo>
                  <a:close/>
                </a:path>
              </a:pathLst>
            </a:custGeom>
            <a:solidFill>
              <a:srgbClr val="ECE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10204" y="1417322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79" h="1051560">
                  <a:moveTo>
                    <a:pt x="1348549" y="1051204"/>
                  </a:moveTo>
                  <a:lnTo>
                    <a:pt x="0" y="1051204"/>
                  </a:lnTo>
                  <a:lnTo>
                    <a:pt x="0" y="0"/>
                  </a:lnTo>
                  <a:lnTo>
                    <a:pt x="2697111" y="0"/>
                  </a:lnTo>
                  <a:lnTo>
                    <a:pt x="2697111" y="1051204"/>
                  </a:lnTo>
                  <a:lnTo>
                    <a:pt x="1348549" y="1051204"/>
                  </a:lnTo>
                  <a:close/>
                </a:path>
              </a:pathLst>
            </a:custGeom>
            <a:ln w="1007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74719" y="1645922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679" y="0"/>
                  </a:moveTo>
                  <a:lnTo>
                    <a:pt x="210062" y="9582"/>
                  </a:lnTo>
                  <a:lnTo>
                    <a:pt x="141846" y="37795"/>
                  </a:lnTo>
                  <a:lnTo>
                    <a:pt x="83118" y="82888"/>
                  </a:lnTo>
                  <a:lnTo>
                    <a:pt x="38163" y="141477"/>
                  </a:lnTo>
                  <a:lnTo>
                    <a:pt x="9628" y="209972"/>
                  </a:lnTo>
                  <a:lnTo>
                    <a:pt x="0" y="283324"/>
                  </a:lnTo>
                  <a:lnTo>
                    <a:pt x="2417" y="320366"/>
                  </a:lnTo>
                  <a:lnTo>
                    <a:pt x="21565" y="391759"/>
                  </a:lnTo>
                  <a:lnTo>
                    <a:pt x="58768" y="455936"/>
                  </a:lnTo>
                  <a:lnTo>
                    <a:pt x="110911" y="508184"/>
                  </a:lnTo>
                  <a:lnTo>
                    <a:pt x="175043" y="545283"/>
                  </a:lnTo>
                  <a:lnTo>
                    <a:pt x="246432" y="564534"/>
                  </a:lnTo>
                  <a:lnTo>
                    <a:pt x="283679" y="567004"/>
                  </a:lnTo>
                  <a:lnTo>
                    <a:pt x="320721" y="564534"/>
                  </a:lnTo>
                  <a:lnTo>
                    <a:pt x="391966" y="545283"/>
                  </a:lnTo>
                  <a:lnTo>
                    <a:pt x="456092" y="508184"/>
                  </a:lnTo>
                  <a:lnTo>
                    <a:pt x="508236" y="455936"/>
                  </a:lnTo>
                  <a:lnTo>
                    <a:pt x="545433" y="391759"/>
                  </a:lnTo>
                  <a:lnTo>
                    <a:pt x="564584" y="320366"/>
                  </a:lnTo>
                  <a:lnTo>
                    <a:pt x="567004" y="283324"/>
                  </a:lnTo>
                  <a:lnTo>
                    <a:pt x="564584" y="246276"/>
                  </a:lnTo>
                  <a:lnTo>
                    <a:pt x="545433" y="174882"/>
                  </a:lnTo>
                  <a:lnTo>
                    <a:pt x="508236" y="110698"/>
                  </a:lnTo>
                  <a:lnTo>
                    <a:pt x="456092" y="58451"/>
                  </a:lnTo>
                  <a:lnTo>
                    <a:pt x="391966" y="21409"/>
                  </a:lnTo>
                  <a:lnTo>
                    <a:pt x="320721" y="2412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74719" y="1645922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0" y="283324"/>
                  </a:moveTo>
                  <a:lnTo>
                    <a:pt x="2417" y="246276"/>
                  </a:lnTo>
                  <a:lnTo>
                    <a:pt x="9628" y="209972"/>
                  </a:lnTo>
                  <a:lnTo>
                    <a:pt x="38163" y="141477"/>
                  </a:lnTo>
                  <a:lnTo>
                    <a:pt x="83118" y="82888"/>
                  </a:lnTo>
                  <a:lnTo>
                    <a:pt x="141846" y="37795"/>
                  </a:lnTo>
                  <a:lnTo>
                    <a:pt x="210062" y="9582"/>
                  </a:lnTo>
                  <a:lnTo>
                    <a:pt x="283679" y="0"/>
                  </a:lnTo>
                  <a:lnTo>
                    <a:pt x="356985" y="9582"/>
                  </a:lnTo>
                  <a:lnTo>
                    <a:pt x="425157" y="37795"/>
                  </a:lnTo>
                  <a:lnTo>
                    <a:pt x="483885" y="82888"/>
                  </a:lnTo>
                  <a:lnTo>
                    <a:pt x="528840" y="141477"/>
                  </a:lnTo>
                  <a:lnTo>
                    <a:pt x="557371" y="209972"/>
                  </a:lnTo>
                  <a:lnTo>
                    <a:pt x="567004" y="283324"/>
                  </a:lnTo>
                  <a:lnTo>
                    <a:pt x="564584" y="320366"/>
                  </a:lnTo>
                  <a:lnTo>
                    <a:pt x="557371" y="356669"/>
                  </a:lnTo>
                  <a:lnTo>
                    <a:pt x="528840" y="425157"/>
                  </a:lnTo>
                  <a:lnTo>
                    <a:pt x="483885" y="483747"/>
                  </a:lnTo>
                  <a:lnTo>
                    <a:pt x="425157" y="528840"/>
                  </a:lnTo>
                  <a:lnTo>
                    <a:pt x="356985" y="557237"/>
                  </a:lnTo>
                  <a:lnTo>
                    <a:pt x="283679" y="567004"/>
                  </a:lnTo>
                  <a:lnTo>
                    <a:pt x="210062" y="557237"/>
                  </a:lnTo>
                  <a:lnTo>
                    <a:pt x="141846" y="528840"/>
                  </a:lnTo>
                  <a:lnTo>
                    <a:pt x="83118" y="483747"/>
                  </a:lnTo>
                  <a:lnTo>
                    <a:pt x="38163" y="425157"/>
                  </a:lnTo>
                  <a:lnTo>
                    <a:pt x="9628" y="356669"/>
                  </a:lnTo>
                  <a:lnTo>
                    <a:pt x="2417" y="320366"/>
                  </a:lnTo>
                  <a:lnTo>
                    <a:pt x="0" y="283324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31164" y="1699755"/>
            <a:ext cx="3213735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2852420" algn="l"/>
              </a:tabLst>
            </a:pPr>
            <a:r>
              <a:rPr sz="2550" spc="125" dirty="0">
                <a:latin typeface="MingLiU_HKSCS-ExtB"/>
                <a:cs typeface="MingLiU_HKSCS-ExtB"/>
              </a:rPr>
              <a:t>🏥</a:t>
            </a:r>
            <a:r>
              <a:rPr sz="2550" dirty="0">
                <a:latin typeface="MingLiU_HKSCS-ExtB"/>
                <a:cs typeface="MingLiU_HKSCS-ExtB"/>
              </a:rPr>
              <a:t>	</a:t>
            </a:r>
            <a:r>
              <a:rPr sz="2550" spc="125" dirty="0">
                <a:latin typeface="MingLiU_HKSCS-ExtB"/>
                <a:cs typeface="MingLiU_HKSCS-ExtB"/>
              </a:rPr>
              <a:t>🚗</a:t>
            </a:r>
            <a:endParaRPr sz="2550">
              <a:latin typeface="MingLiU_HKSCS-ExtB"/>
              <a:cs typeface="MingLiU_HKSCS-ExtB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3164" y="1782624"/>
            <a:ext cx="885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E1629"/>
                </a:solidFill>
                <a:latin typeface="Calibri"/>
                <a:cs typeface="Calibri"/>
              </a:rPr>
              <a:t>Automobile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158155" y="1412282"/>
            <a:ext cx="2707640" cy="1061720"/>
            <a:chOff x="6158155" y="1412282"/>
            <a:chExt cx="2707640" cy="1061720"/>
          </a:xfrm>
        </p:grpSpPr>
        <p:sp>
          <p:nvSpPr>
            <p:cNvPr id="20" name="object 20"/>
            <p:cNvSpPr/>
            <p:nvPr/>
          </p:nvSpPr>
          <p:spPr>
            <a:xfrm>
              <a:off x="6163195" y="1417322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79" h="1051560">
                  <a:moveTo>
                    <a:pt x="2697124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1348562" y="1051204"/>
                  </a:lnTo>
                  <a:lnTo>
                    <a:pt x="2697124" y="105120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63195" y="1417322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79" h="1051560">
                  <a:moveTo>
                    <a:pt x="1348562" y="1051204"/>
                  </a:moveTo>
                  <a:lnTo>
                    <a:pt x="0" y="1051204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1051204"/>
                  </a:lnTo>
                  <a:lnTo>
                    <a:pt x="1348562" y="1051204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27724" y="1645922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679" y="0"/>
                  </a:moveTo>
                  <a:lnTo>
                    <a:pt x="210056" y="9582"/>
                  </a:lnTo>
                  <a:lnTo>
                    <a:pt x="141833" y="37795"/>
                  </a:lnTo>
                  <a:lnTo>
                    <a:pt x="83110" y="82888"/>
                  </a:lnTo>
                  <a:lnTo>
                    <a:pt x="38150" y="141477"/>
                  </a:lnTo>
                  <a:lnTo>
                    <a:pt x="9626" y="209972"/>
                  </a:lnTo>
                  <a:lnTo>
                    <a:pt x="0" y="283324"/>
                  </a:lnTo>
                  <a:lnTo>
                    <a:pt x="2417" y="320366"/>
                  </a:lnTo>
                  <a:lnTo>
                    <a:pt x="21559" y="391759"/>
                  </a:lnTo>
                  <a:lnTo>
                    <a:pt x="58757" y="455936"/>
                  </a:lnTo>
                  <a:lnTo>
                    <a:pt x="110904" y="508184"/>
                  </a:lnTo>
                  <a:lnTo>
                    <a:pt x="175032" y="545283"/>
                  </a:lnTo>
                  <a:lnTo>
                    <a:pt x="246430" y="564534"/>
                  </a:lnTo>
                  <a:lnTo>
                    <a:pt x="283679" y="567004"/>
                  </a:lnTo>
                  <a:lnTo>
                    <a:pt x="320716" y="564534"/>
                  </a:lnTo>
                  <a:lnTo>
                    <a:pt x="391964" y="545283"/>
                  </a:lnTo>
                  <a:lnTo>
                    <a:pt x="456086" y="508184"/>
                  </a:lnTo>
                  <a:lnTo>
                    <a:pt x="508234" y="455936"/>
                  </a:lnTo>
                  <a:lnTo>
                    <a:pt x="545431" y="391759"/>
                  </a:lnTo>
                  <a:lnTo>
                    <a:pt x="564573" y="320366"/>
                  </a:lnTo>
                  <a:lnTo>
                    <a:pt x="566991" y="283324"/>
                  </a:lnTo>
                  <a:lnTo>
                    <a:pt x="564573" y="246276"/>
                  </a:lnTo>
                  <a:lnTo>
                    <a:pt x="545431" y="174882"/>
                  </a:lnTo>
                  <a:lnTo>
                    <a:pt x="508234" y="110698"/>
                  </a:lnTo>
                  <a:lnTo>
                    <a:pt x="456086" y="58451"/>
                  </a:lnTo>
                  <a:lnTo>
                    <a:pt x="391964" y="21409"/>
                  </a:lnTo>
                  <a:lnTo>
                    <a:pt x="320716" y="2412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27724" y="1645922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0" y="283324"/>
                  </a:moveTo>
                  <a:lnTo>
                    <a:pt x="2417" y="246276"/>
                  </a:lnTo>
                  <a:lnTo>
                    <a:pt x="9626" y="209972"/>
                  </a:lnTo>
                  <a:lnTo>
                    <a:pt x="38150" y="141477"/>
                  </a:lnTo>
                  <a:lnTo>
                    <a:pt x="83110" y="82888"/>
                  </a:lnTo>
                  <a:lnTo>
                    <a:pt x="141833" y="37795"/>
                  </a:lnTo>
                  <a:lnTo>
                    <a:pt x="210056" y="9582"/>
                  </a:lnTo>
                  <a:lnTo>
                    <a:pt x="283679" y="0"/>
                  </a:lnTo>
                  <a:lnTo>
                    <a:pt x="356981" y="9582"/>
                  </a:lnTo>
                  <a:lnTo>
                    <a:pt x="425157" y="37795"/>
                  </a:lnTo>
                  <a:lnTo>
                    <a:pt x="483881" y="82888"/>
                  </a:lnTo>
                  <a:lnTo>
                    <a:pt x="528840" y="141477"/>
                  </a:lnTo>
                  <a:lnTo>
                    <a:pt x="557364" y="209972"/>
                  </a:lnTo>
                  <a:lnTo>
                    <a:pt x="566991" y="283324"/>
                  </a:lnTo>
                  <a:lnTo>
                    <a:pt x="564573" y="320366"/>
                  </a:lnTo>
                  <a:lnTo>
                    <a:pt x="557364" y="356669"/>
                  </a:lnTo>
                  <a:lnTo>
                    <a:pt x="528840" y="425157"/>
                  </a:lnTo>
                  <a:lnTo>
                    <a:pt x="483881" y="483747"/>
                  </a:lnTo>
                  <a:lnTo>
                    <a:pt x="425157" y="528840"/>
                  </a:lnTo>
                  <a:lnTo>
                    <a:pt x="356981" y="557237"/>
                  </a:lnTo>
                  <a:lnTo>
                    <a:pt x="283679" y="567004"/>
                  </a:lnTo>
                  <a:lnTo>
                    <a:pt x="210056" y="557237"/>
                  </a:lnTo>
                  <a:lnTo>
                    <a:pt x="141833" y="528840"/>
                  </a:lnTo>
                  <a:lnTo>
                    <a:pt x="83110" y="483747"/>
                  </a:lnTo>
                  <a:lnTo>
                    <a:pt x="38150" y="425157"/>
                  </a:lnTo>
                  <a:lnTo>
                    <a:pt x="9626" y="356669"/>
                  </a:lnTo>
                  <a:lnTo>
                    <a:pt x="2417" y="320366"/>
                  </a:lnTo>
                  <a:lnTo>
                    <a:pt x="0" y="283324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37160" y="1699755"/>
            <a:ext cx="36068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550" spc="125" dirty="0">
                <a:latin typeface="MingLiU_HKSCS-ExtB"/>
                <a:cs typeface="MingLiU_HKSCS-ExtB"/>
              </a:rPr>
              <a:t>🎓</a:t>
            </a:r>
            <a:endParaRPr sz="2550">
              <a:latin typeface="MingLiU_HKSCS-ExtB"/>
              <a:cs typeface="MingLiU_HKSCS-ExtB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86155" y="1782624"/>
            <a:ext cx="7435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E1629"/>
                </a:solidFill>
                <a:latin typeface="Calibri"/>
                <a:cs typeface="Calibri"/>
              </a:rPr>
              <a:t>Éducation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52160" y="2601002"/>
            <a:ext cx="2707640" cy="1061720"/>
            <a:chOff x="452160" y="2601002"/>
            <a:chExt cx="2707640" cy="1061720"/>
          </a:xfrm>
        </p:grpSpPr>
        <p:sp>
          <p:nvSpPr>
            <p:cNvPr id="27" name="object 27"/>
            <p:cNvSpPr/>
            <p:nvPr/>
          </p:nvSpPr>
          <p:spPr>
            <a:xfrm>
              <a:off x="457200" y="2606041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80" h="1051560">
                  <a:moveTo>
                    <a:pt x="2697124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1348562" y="1051204"/>
                  </a:lnTo>
                  <a:lnTo>
                    <a:pt x="2697124" y="105120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200" y="2606041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80" h="1051560">
                  <a:moveTo>
                    <a:pt x="1348562" y="1051204"/>
                  </a:moveTo>
                  <a:lnTo>
                    <a:pt x="0" y="1051204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1051204"/>
                  </a:lnTo>
                  <a:lnTo>
                    <a:pt x="1348562" y="1051204"/>
                  </a:lnTo>
                  <a:close/>
                </a:path>
              </a:pathLst>
            </a:custGeom>
            <a:ln w="1007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1715" y="2834641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4">
                  <a:moveTo>
                    <a:pt x="283324" y="0"/>
                  </a:moveTo>
                  <a:lnTo>
                    <a:pt x="210018" y="9582"/>
                  </a:lnTo>
                  <a:lnTo>
                    <a:pt x="141846" y="37795"/>
                  </a:lnTo>
                  <a:lnTo>
                    <a:pt x="83118" y="82888"/>
                  </a:lnTo>
                  <a:lnTo>
                    <a:pt x="38163" y="141477"/>
                  </a:lnTo>
                  <a:lnTo>
                    <a:pt x="9632" y="209972"/>
                  </a:lnTo>
                  <a:lnTo>
                    <a:pt x="0" y="283324"/>
                  </a:lnTo>
                  <a:lnTo>
                    <a:pt x="2419" y="320366"/>
                  </a:lnTo>
                  <a:lnTo>
                    <a:pt x="21570" y="391759"/>
                  </a:lnTo>
                  <a:lnTo>
                    <a:pt x="58768" y="455936"/>
                  </a:lnTo>
                  <a:lnTo>
                    <a:pt x="110911" y="508184"/>
                  </a:lnTo>
                  <a:lnTo>
                    <a:pt x="175037" y="545283"/>
                  </a:lnTo>
                  <a:lnTo>
                    <a:pt x="246282" y="564534"/>
                  </a:lnTo>
                  <a:lnTo>
                    <a:pt x="283324" y="567004"/>
                  </a:lnTo>
                  <a:lnTo>
                    <a:pt x="320571" y="564534"/>
                  </a:lnTo>
                  <a:lnTo>
                    <a:pt x="391961" y="545283"/>
                  </a:lnTo>
                  <a:lnTo>
                    <a:pt x="456092" y="508184"/>
                  </a:lnTo>
                  <a:lnTo>
                    <a:pt x="508236" y="455936"/>
                  </a:lnTo>
                  <a:lnTo>
                    <a:pt x="545439" y="391759"/>
                  </a:lnTo>
                  <a:lnTo>
                    <a:pt x="564586" y="320366"/>
                  </a:lnTo>
                  <a:lnTo>
                    <a:pt x="567004" y="283324"/>
                  </a:lnTo>
                  <a:lnTo>
                    <a:pt x="564586" y="246276"/>
                  </a:lnTo>
                  <a:lnTo>
                    <a:pt x="545439" y="174882"/>
                  </a:lnTo>
                  <a:lnTo>
                    <a:pt x="508236" y="110698"/>
                  </a:lnTo>
                  <a:lnTo>
                    <a:pt x="456092" y="58451"/>
                  </a:lnTo>
                  <a:lnTo>
                    <a:pt x="391961" y="21409"/>
                  </a:lnTo>
                  <a:lnTo>
                    <a:pt x="320571" y="2412"/>
                  </a:lnTo>
                  <a:lnTo>
                    <a:pt x="283324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1715" y="2834641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4">
                  <a:moveTo>
                    <a:pt x="0" y="283324"/>
                  </a:moveTo>
                  <a:lnTo>
                    <a:pt x="2419" y="246276"/>
                  </a:lnTo>
                  <a:lnTo>
                    <a:pt x="9632" y="209972"/>
                  </a:lnTo>
                  <a:lnTo>
                    <a:pt x="38163" y="141477"/>
                  </a:lnTo>
                  <a:lnTo>
                    <a:pt x="83118" y="82888"/>
                  </a:lnTo>
                  <a:lnTo>
                    <a:pt x="141846" y="37795"/>
                  </a:lnTo>
                  <a:lnTo>
                    <a:pt x="210018" y="9582"/>
                  </a:lnTo>
                  <a:lnTo>
                    <a:pt x="283324" y="0"/>
                  </a:lnTo>
                  <a:lnTo>
                    <a:pt x="356941" y="9582"/>
                  </a:lnTo>
                  <a:lnTo>
                    <a:pt x="425157" y="37795"/>
                  </a:lnTo>
                  <a:lnTo>
                    <a:pt x="483885" y="82888"/>
                  </a:lnTo>
                  <a:lnTo>
                    <a:pt x="528840" y="141477"/>
                  </a:lnTo>
                  <a:lnTo>
                    <a:pt x="557376" y="209972"/>
                  </a:lnTo>
                  <a:lnTo>
                    <a:pt x="567004" y="283324"/>
                  </a:lnTo>
                  <a:lnTo>
                    <a:pt x="564586" y="320366"/>
                  </a:lnTo>
                  <a:lnTo>
                    <a:pt x="557376" y="356669"/>
                  </a:lnTo>
                  <a:lnTo>
                    <a:pt x="528840" y="425157"/>
                  </a:lnTo>
                  <a:lnTo>
                    <a:pt x="483885" y="483747"/>
                  </a:lnTo>
                  <a:lnTo>
                    <a:pt x="425157" y="528840"/>
                  </a:lnTo>
                  <a:lnTo>
                    <a:pt x="356941" y="557237"/>
                  </a:lnTo>
                  <a:lnTo>
                    <a:pt x="283324" y="567004"/>
                  </a:lnTo>
                  <a:lnTo>
                    <a:pt x="210018" y="557237"/>
                  </a:lnTo>
                  <a:lnTo>
                    <a:pt x="141846" y="528840"/>
                  </a:lnTo>
                  <a:lnTo>
                    <a:pt x="83118" y="483747"/>
                  </a:lnTo>
                  <a:lnTo>
                    <a:pt x="38163" y="425157"/>
                  </a:lnTo>
                  <a:lnTo>
                    <a:pt x="9632" y="356669"/>
                  </a:lnTo>
                  <a:lnTo>
                    <a:pt x="2419" y="320366"/>
                  </a:lnTo>
                  <a:lnTo>
                    <a:pt x="0" y="283324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31164" y="2888475"/>
            <a:ext cx="36068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550" spc="125" dirty="0">
                <a:latin typeface="MingLiU_HKSCS-ExtB"/>
                <a:cs typeface="MingLiU_HKSCS-ExtB"/>
              </a:rPr>
              <a:t>⚡</a:t>
            </a:r>
            <a:endParaRPr sz="2550">
              <a:latin typeface="MingLiU_HKSCS-ExtB"/>
              <a:cs typeface="MingLiU_HKSCS-ExtB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80160" y="2971344"/>
            <a:ext cx="5638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E1629"/>
                </a:solidFill>
                <a:latin typeface="Calibri"/>
                <a:cs typeface="Calibri"/>
              </a:rPr>
              <a:t>Énergie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305164" y="2601002"/>
            <a:ext cx="2707640" cy="1061720"/>
            <a:chOff x="3305164" y="2601002"/>
            <a:chExt cx="2707640" cy="1061720"/>
          </a:xfrm>
        </p:grpSpPr>
        <p:sp>
          <p:nvSpPr>
            <p:cNvPr id="34" name="object 34"/>
            <p:cNvSpPr/>
            <p:nvPr/>
          </p:nvSpPr>
          <p:spPr>
            <a:xfrm>
              <a:off x="3310204" y="2606041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79" h="1051560">
                  <a:moveTo>
                    <a:pt x="2697111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1348549" y="1051204"/>
                  </a:lnTo>
                  <a:lnTo>
                    <a:pt x="2697111" y="1051204"/>
                  </a:lnTo>
                  <a:lnTo>
                    <a:pt x="2697111" y="0"/>
                  </a:lnTo>
                  <a:close/>
                </a:path>
              </a:pathLst>
            </a:custGeom>
            <a:solidFill>
              <a:srgbClr val="ECE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10204" y="2606041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79" h="1051560">
                  <a:moveTo>
                    <a:pt x="1348549" y="1051204"/>
                  </a:moveTo>
                  <a:lnTo>
                    <a:pt x="0" y="1051204"/>
                  </a:lnTo>
                  <a:lnTo>
                    <a:pt x="0" y="0"/>
                  </a:lnTo>
                  <a:lnTo>
                    <a:pt x="2697111" y="0"/>
                  </a:lnTo>
                  <a:lnTo>
                    <a:pt x="2697111" y="1051204"/>
                  </a:lnTo>
                  <a:lnTo>
                    <a:pt x="1348549" y="1051204"/>
                  </a:lnTo>
                  <a:close/>
                </a:path>
              </a:pathLst>
            </a:custGeom>
            <a:ln w="1007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74719" y="2834641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283679" y="0"/>
                  </a:moveTo>
                  <a:lnTo>
                    <a:pt x="210062" y="9582"/>
                  </a:lnTo>
                  <a:lnTo>
                    <a:pt x="141846" y="37795"/>
                  </a:lnTo>
                  <a:lnTo>
                    <a:pt x="83118" y="82888"/>
                  </a:lnTo>
                  <a:lnTo>
                    <a:pt x="38163" y="141477"/>
                  </a:lnTo>
                  <a:lnTo>
                    <a:pt x="9628" y="209972"/>
                  </a:lnTo>
                  <a:lnTo>
                    <a:pt x="0" y="283324"/>
                  </a:lnTo>
                  <a:lnTo>
                    <a:pt x="2417" y="320366"/>
                  </a:lnTo>
                  <a:lnTo>
                    <a:pt x="21565" y="391759"/>
                  </a:lnTo>
                  <a:lnTo>
                    <a:pt x="58768" y="455936"/>
                  </a:lnTo>
                  <a:lnTo>
                    <a:pt x="110911" y="508184"/>
                  </a:lnTo>
                  <a:lnTo>
                    <a:pt x="175043" y="545283"/>
                  </a:lnTo>
                  <a:lnTo>
                    <a:pt x="246432" y="564534"/>
                  </a:lnTo>
                  <a:lnTo>
                    <a:pt x="283679" y="567004"/>
                  </a:lnTo>
                  <a:lnTo>
                    <a:pt x="320721" y="564534"/>
                  </a:lnTo>
                  <a:lnTo>
                    <a:pt x="391966" y="545283"/>
                  </a:lnTo>
                  <a:lnTo>
                    <a:pt x="456092" y="508184"/>
                  </a:lnTo>
                  <a:lnTo>
                    <a:pt x="508236" y="455936"/>
                  </a:lnTo>
                  <a:lnTo>
                    <a:pt x="545433" y="391759"/>
                  </a:lnTo>
                  <a:lnTo>
                    <a:pt x="564584" y="320366"/>
                  </a:lnTo>
                  <a:lnTo>
                    <a:pt x="567004" y="283324"/>
                  </a:lnTo>
                  <a:lnTo>
                    <a:pt x="564584" y="246276"/>
                  </a:lnTo>
                  <a:lnTo>
                    <a:pt x="545433" y="174882"/>
                  </a:lnTo>
                  <a:lnTo>
                    <a:pt x="508236" y="110698"/>
                  </a:lnTo>
                  <a:lnTo>
                    <a:pt x="456092" y="58451"/>
                  </a:lnTo>
                  <a:lnTo>
                    <a:pt x="391966" y="21409"/>
                  </a:lnTo>
                  <a:lnTo>
                    <a:pt x="320721" y="2412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74719" y="2834641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0" y="283324"/>
                  </a:moveTo>
                  <a:lnTo>
                    <a:pt x="2417" y="246276"/>
                  </a:lnTo>
                  <a:lnTo>
                    <a:pt x="9628" y="209972"/>
                  </a:lnTo>
                  <a:lnTo>
                    <a:pt x="38163" y="141477"/>
                  </a:lnTo>
                  <a:lnTo>
                    <a:pt x="83118" y="82888"/>
                  </a:lnTo>
                  <a:lnTo>
                    <a:pt x="141846" y="37795"/>
                  </a:lnTo>
                  <a:lnTo>
                    <a:pt x="210062" y="9582"/>
                  </a:lnTo>
                  <a:lnTo>
                    <a:pt x="283679" y="0"/>
                  </a:lnTo>
                  <a:lnTo>
                    <a:pt x="356985" y="9582"/>
                  </a:lnTo>
                  <a:lnTo>
                    <a:pt x="425157" y="37795"/>
                  </a:lnTo>
                  <a:lnTo>
                    <a:pt x="483885" y="82888"/>
                  </a:lnTo>
                  <a:lnTo>
                    <a:pt x="528840" y="141477"/>
                  </a:lnTo>
                  <a:lnTo>
                    <a:pt x="557371" y="209972"/>
                  </a:lnTo>
                  <a:lnTo>
                    <a:pt x="567004" y="283324"/>
                  </a:lnTo>
                  <a:lnTo>
                    <a:pt x="564584" y="320366"/>
                  </a:lnTo>
                  <a:lnTo>
                    <a:pt x="557371" y="356669"/>
                  </a:lnTo>
                  <a:lnTo>
                    <a:pt x="528840" y="425157"/>
                  </a:lnTo>
                  <a:lnTo>
                    <a:pt x="483885" y="483747"/>
                  </a:lnTo>
                  <a:lnTo>
                    <a:pt x="425157" y="528840"/>
                  </a:lnTo>
                  <a:lnTo>
                    <a:pt x="356985" y="557237"/>
                  </a:lnTo>
                  <a:lnTo>
                    <a:pt x="283679" y="567004"/>
                  </a:lnTo>
                  <a:lnTo>
                    <a:pt x="210062" y="557237"/>
                  </a:lnTo>
                  <a:lnTo>
                    <a:pt x="141846" y="528840"/>
                  </a:lnTo>
                  <a:lnTo>
                    <a:pt x="83118" y="483747"/>
                  </a:lnTo>
                  <a:lnTo>
                    <a:pt x="38163" y="425157"/>
                  </a:lnTo>
                  <a:lnTo>
                    <a:pt x="9628" y="356669"/>
                  </a:lnTo>
                  <a:lnTo>
                    <a:pt x="2417" y="320366"/>
                  </a:lnTo>
                  <a:lnTo>
                    <a:pt x="0" y="283324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584156" y="2888475"/>
            <a:ext cx="36068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550" spc="125" dirty="0">
                <a:latin typeface="MingLiU_HKSCS-ExtB"/>
                <a:cs typeface="MingLiU_HKSCS-ExtB"/>
              </a:rPr>
              <a:t>🏦</a:t>
            </a:r>
            <a:endParaRPr sz="2550">
              <a:latin typeface="MingLiU_HKSCS-ExtB"/>
              <a:cs typeface="MingLiU_HKSCS-ExtB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33164" y="2971344"/>
            <a:ext cx="5803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E1629"/>
                </a:solidFill>
                <a:latin typeface="Calibri"/>
                <a:cs typeface="Calibri"/>
              </a:rPr>
              <a:t>Finance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158155" y="2601002"/>
            <a:ext cx="2707640" cy="1061720"/>
            <a:chOff x="6158155" y="2601002"/>
            <a:chExt cx="2707640" cy="1061720"/>
          </a:xfrm>
        </p:grpSpPr>
        <p:sp>
          <p:nvSpPr>
            <p:cNvPr id="41" name="object 41"/>
            <p:cNvSpPr/>
            <p:nvPr/>
          </p:nvSpPr>
          <p:spPr>
            <a:xfrm>
              <a:off x="6163195" y="2606041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79" h="1051560">
                  <a:moveTo>
                    <a:pt x="2697124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1348562" y="1051204"/>
                  </a:lnTo>
                  <a:lnTo>
                    <a:pt x="2697124" y="105120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163195" y="2606041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79" h="1051560">
                  <a:moveTo>
                    <a:pt x="1348562" y="1051204"/>
                  </a:moveTo>
                  <a:lnTo>
                    <a:pt x="0" y="1051204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1051204"/>
                  </a:lnTo>
                  <a:lnTo>
                    <a:pt x="1348562" y="1051204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327724" y="2834641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283679" y="0"/>
                  </a:moveTo>
                  <a:lnTo>
                    <a:pt x="210056" y="9582"/>
                  </a:lnTo>
                  <a:lnTo>
                    <a:pt x="141833" y="37795"/>
                  </a:lnTo>
                  <a:lnTo>
                    <a:pt x="83110" y="82888"/>
                  </a:lnTo>
                  <a:lnTo>
                    <a:pt x="38150" y="141477"/>
                  </a:lnTo>
                  <a:lnTo>
                    <a:pt x="9626" y="209972"/>
                  </a:lnTo>
                  <a:lnTo>
                    <a:pt x="0" y="283324"/>
                  </a:lnTo>
                  <a:lnTo>
                    <a:pt x="2417" y="320366"/>
                  </a:lnTo>
                  <a:lnTo>
                    <a:pt x="21559" y="391759"/>
                  </a:lnTo>
                  <a:lnTo>
                    <a:pt x="58757" y="455936"/>
                  </a:lnTo>
                  <a:lnTo>
                    <a:pt x="110904" y="508184"/>
                  </a:lnTo>
                  <a:lnTo>
                    <a:pt x="175032" y="545283"/>
                  </a:lnTo>
                  <a:lnTo>
                    <a:pt x="246430" y="564534"/>
                  </a:lnTo>
                  <a:lnTo>
                    <a:pt x="283679" y="567004"/>
                  </a:lnTo>
                  <a:lnTo>
                    <a:pt x="320716" y="564534"/>
                  </a:lnTo>
                  <a:lnTo>
                    <a:pt x="391964" y="545283"/>
                  </a:lnTo>
                  <a:lnTo>
                    <a:pt x="456086" y="508184"/>
                  </a:lnTo>
                  <a:lnTo>
                    <a:pt x="508234" y="455936"/>
                  </a:lnTo>
                  <a:lnTo>
                    <a:pt x="545431" y="391759"/>
                  </a:lnTo>
                  <a:lnTo>
                    <a:pt x="564573" y="320366"/>
                  </a:lnTo>
                  <a:lnTo>
                    <a:pt x="566991" y="283324"/>
                  </a:lnTo>
                  <a:lnTo>
                    <a:pt x="564573" y="246276"/>
                  </a:lnTo>
                  <a:lnTo>
                    <a:pt x="545431" y="174882"/>
                  </a:lnTo>
                  <a:lnTo>
                    <a:pt x="508234" y="110698"/>
                  </a:lnTo>
                  <a:lnTo>
                    <a:pt x="456086" y="58451"/>
                  </a:lnTo>
                  <a:lnTo>
                    <a:pt x="391964" y="21409"/>
                  </a:lnTo>
                  <a:lnTo>
                    <a:pt x="320716" y="2412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327724" y="2834641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4">
                  <a:moveTo>
                    <a:pt x="0" y="283324"/>
                  </a:moveTo>
                  <a:lnTo>
                    <a:pt x="2417" y="246276"/>
                  </a:lnTo>
                  <a:lnTo>
                    <a:pt x="9626" y="209972"/>
                  </a:lnTo>
                  <a:lnTo>
                    <a:pt x="38150" y="141477"/>
                  </a:lnTo>
                  <a:lnTo>
                    <a:pt x="83110" y="82888"/>
                  </a:lnTo>
                  <a:lnTo>
                    <a:pt x="141833" y="37795"/>
                  </a:lnTo>
                  <a:lnTo>
                    <a:pt x="210056" y="9582"/>
                  </a:lnTo>
                  <a:lnTo>
                    <a:pt x="283679" y="0"/>
                  </a:lnTo>
                  <a:lnTo>
                    <a:pt x="356981" y="9582"/>
                  </a:lnTo>
                  <a:lnTo>
                    <a:pt x="425157" y="37795"/>
                  </a:lnTo>
                  <a:lnTo>
                    <a:pt x="483881" y="82888"/>
                  </a:lnTo>
                  <a:lnTo>
                    <a:pt x="528840" y="141477"/>
                  </a:lnTo>
                  <a:lnTo>
                    <a:pt x="557364" y="209972"/>
                  </a:lnTo>
                  <a:lnTo>
                    <a:pt x="566991" y="283324"/>
                  </a:lnTo>
                  <a:lnTo>
                    <a:pt x="564573" y="320366"/>
                  </a:lnTo>
                  <a:lnTo>
                    <a:pt x="557364" y="356669"/>
                  </a:lnTo>
                  <a:lnTo>
                    <a:pt x="528840" y="425157"/>
                  </a:lnTo>
                  <a:lnTo>
                    <a:pt x="483881" y="483747"/>
                  </a:lnTo>
                  <a:lnTo>
                    <a:pt x="425157" y="528840"/>
                  </a:lnTo>
                  <a:lnTo>
                    <a:pt x="356981" y="557237"/>
                  </a:lnTo>
                  <a:lnTo>
                    <a:pt x="283679" y="567004"/>
                  </a:lnTo>
                  <a:lnTo>
                    <a:pt x="210056" y="557237"/>
                  </a:lnTo>
                  <a:lnTo>
                    <a:pt x="141833" y="528840"/>
                  </a:lnTo>
                  <a:lnTo>
                    <a:pt x="83110" y="483747"/>
                  </a:lnTo>
                  <a:lnTo>
                    <a:pt x="38150" y="425157"/>
                  </a:lnTo>
                  <a:lnTo>
                    <a:pt x="9626" y="356669"/>
                  </a:lnTo>
                  <a:lnTo>
                    <a:pt x="2417" y="320366"/>
                  </a:lnTo>
                  <a:lnTo>
                    <a:pt x="0" y="283324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437160" y="2888475"/>
            <a:ext cx="36068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550" spc="125" dirty="0">
                <a:latin typeface="MingLiU_HKSCS-ExtB"/>
                <a:cs typeface="MingLiU_HKSCS-ExtB"/>
              </a:rPr>
              <a:t>💻</a:t>
            </a:r>
            <a:endParaRPr sz="2550">
              <a:latin typeface="MingLiU_HKSCS-ExtB"/>
              <a:cs typeface="MingLiU_HKSCS-ExtB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986155" y="2971344"/>
            <a:ext cx="8928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E1629"/>
                </a:solidFill>
                <a:latin typeface="Calibri"/>
                <a:cs typeface="Calibri"/>
              </a:rPr>
              <a:t>Technologie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52160" y="3789722"/>
            <a:ext cx="2707640" cy="1061720"/>
            <a:chOff x="452160" y="3789722"/>
            <a:chExt cx="2707640" cy="1061720"/>
          </a:xfrm>
        </p:grpSpPr>
        <p:sp>
          <p:nvSpPr>
            <p:cNvPr id="48" name="object 48"/>
            <p:cNvSpPr/>
            <p:nvPr/>
          </p:nvSpPr>
          <p:spPr>
            <a:xfrm>
              <a:off x="457200" y="3794762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80" h="1051560">
                  <a:moveTo>
                    <a:pt x="2697124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1348562" y="1051204"/>
                  </a:lnTo>
                  <a:lnTo>
                    <a:pt x="2697124" y="105120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57200" y="3794762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80" h="1051560">
                  <a:moveTo>
                    <a:pt x="1348562" y="1051204"/>
                  </a:moveTo>
                  <a:lnTo>
                    <a:pt x="0" y="1051204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1051204"/>
                  </a:lnTo>
                  <a:lnTo>
                    <a:pt x="1348562" y="1051204"/>
                  </a:lnTo>
                  <a:close/>
                </a:path>
              </a:pathLst>
            </a:custGeom>
            <a:ln w="1007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21715" y="4023006"/>
              <a:ext cx="567055" cy="567690"/>
            </a:xfrm>
            <a:custGeom>
              <a:avLst/>
              <a:gdLst/>
              <a:ahLst/>
              <a:cxnLst/>
              <a:rect l="l" t="t" r="r" b="b"/>
              <a:pathLst>
                <a:path w="567055" h="567689">
                  <a:moveTo>
                    <a:pt x="283324" y="0"/>
                  </a:moveTo>
                  <a:lnTo>
                    <a:pt x="210018" y="9759"/>
                  </a:lnTo>
                  <a:lnTo>
                    <a:pt x="141846" y="38150"/>
                  </a:lnTo>
                  <a:lnTo>
                    <a:pt x="83118" y="83243"/>
                  </a:lnTo>
                  <a:lnTo>
                    <a:pt x="38163" y="141833"/>
                  </a:lnTo>
                  <a:lnTo>
                    <a:pt x="9632" y="210327"/>
                  </a:lnTo>
                  <a:lnTo>
                    <a:pt x="0" y="283679"/>
                  </a:lnTo>
                  <a:lnTo>
                    <a:pt x="2419" y="320721"/>
                  </a:lnTo>
                  <a:lnTo>
                    <a:pt x="21570" y="392114"/>
                  </a:lnTo>
                  <a:lnTo>
                    <a:pt x="58768" y="456292"/>
                  </a:lnTo>
                  <a:lnTo>
                    <a:pt x="110911" y="508539"/>
                  </a:lnTo>
                  <a:lnTo>
                    <a:pt x="175037" y="545639"/>
                  </a:lnTo>
                  <a:lnTo>
                    <a:pt x="246282" y="564890"/>
                  </a:lnTo>
                  <a:lnTo>
                    <a:pt x="283324" y="567359"/>
                  </a:lnTo>
                  <a:lnTo>
                    <a:pt x="320571" y="564890"/>
                  </a:lnTo>
                  <a:lnTo>
                    <a:pt x="391961" y="545639"/>
                  </a:lnTo>
                  <a:lnTo>
                    <a:pt x="456092" y="508539"/>
                  </a:lnTo>
                  <a:lnTo>
                    <a:pt x="508236" y="456292"/>
                  </a:lnTo>
                  <a:lnTo>
                    <a:pt x="545439" y="392114"/>
                  </a:lnTo>
                  <a:lnTo>
                    <a:pt x="564586" y="320721"/>
                  </a:lnTo>
                  <a:lnTo>
                    <a:pt x="567004" y="283679"/>
                  </a:lnTo>
                  <a:lnTo>
                    <a:pt x="564586" y="246632"/>
                  </a:lnTo>
                  <a:lnTo>
                    <a:pt x="545439" y="175237"/>
                  </a:lnTo>
                  <a:lnTo>
                    <a:pt x="508236" y="111054"/>
                  </a:lnTo>
                  <a:lnTo>
                    <a:pt x="456092" y="58807"/>
                  </a:lnTo>
                  <a:lnTo>
                    <a:pt x="391961" y="21709"/>
                  </a:lnTo>
                  <a:lnTo>
                    <a:pt x="320571" y="2467"/>
                  </a:lnTo>
                  <a:lnTo>
                    <a:pt x="283324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21715" y="4023006"/>
              <a:ext cx="567055" cy="567690"/>
            </a:xfrm>
            <a:custGeom>
              <a:avLst/>
              <a:gdLst/>
              <a:ahLst/>
              <a:cxnLst/>
              <a:rect l="l" t="t" r="r" b="b"/>
              <a:pathLst>
                <a:path w="567055" h="567689">
                  <a:moveTo>
                    <a:pt x="0" y="283679"/>
                  </a:moveTo>
                  <a:lnTo>
                    <a:pt x="2419" y="246632"/>
                  </a:lnTo>
                  <a:lnTo>
                    <a:pt x="9632" y="210327"/>
                  </a:lnTo>
                  <a:lnTo>
                    <a:pt x="38163" y="141833"/>
                  </a:lnTo>
                  <a:lnTo>
                    <a:pt x="83118" y="83243"/>
                  </a:lnTo>
                  <a:lnTo>
                    <a:pt x="141846" y="38150"/>
                  </a:lnTo>
                  <a:lnTo>
                    <a:pt x="210018" y="9759"/>
                  </a:lnTo>
                  <a:lnTo>
                    <a:pt x="283324" y="0"/>
                  </a:lnTo>
                  <a:lnTo>
                    <a:pt x="356941" y="9759"/>
                  </a:lnTo>
                  <a:lnTo>
                    <a:pt x="425157" y="38150"/>
                  </a:lnTo>
                  <a:lnTo>
                    <a:pt x="483885" y="83243"/>
                  </a:lnTo>
                  <a:lnTo>
                    <a:pt x="528840" y="141833"/>
                  </a:lnTo>
                  <a:lnTo>
                    <a:pt x="557376" y="210327"/>
                  </a:lnTo>
                  <a:lnTo>
                    <a:pt x="567004" y="283679"/>
                  </a:lnTo>
                  <a:lnTo>
                    <a:pt x="564586" y="320721"/>
                  </a:lnTo>
                  <a:lnTo>
                    <a:pt x="557376" y="357025"/>
                  </a:lnTo>
                  <a:lnTo>
                    <a:pt x="528840" y="425513"/>
                  </a:lnTo>
                  <a:lnTo>
                    <a:pt x="483885" y="484103"/>
                  </a:lnTo>
                  <a:lnTo>
                    <a:pt x="425157" y="529196"/>
                  </a:lnTo>
                  <a:lnTo>
                    <a:pt x="356941" y="557593"/>
                  </a:lnTo>
                  <a:lnTo>
                    <a:pt x="283324" y="567359"/>
                  </a:lnTo>
                  <a:lnTo>
                    <a:pt x="210018" y="557593"/>
                  </a:lnTo>
                  <a:lnTo>
                    <a:pt x="141846" y="529196"/>
                  </a:lnTo>
                  <a:lnTo>
                    <a:pt x="83118" y="484103"/>
                  </a:lnTo>
                  <a:lnTo>
                    <a:pt x="38163" y="425513"/>
                  </a:lnTo>
                  <a:lnTo>
                    <a:pt x="9632" y="357025"/>
                  </a:lnTo>
                  <a:lnTo>
                    <a:pt x="2419" y="320721"/>
                  </a:lnTo>
                  <a:lnTo>
                    <a:pt x="0" y="283679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731164" y="4077195"/>
            <a:ext cx="36068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550" spc="125" dirty="0">
                <a:latin typeface="MingLiU_HKSCS-ExtB"/>
                <a:cs typeface="MingLiU_HKSCS-ExtB"/>
              </a:rPr>
              <a:t>🏘</a:t>
            </a:r>
            <a:endParaRPr sz="2550">
              <a:latin typeface="MingLiU_HKSCS-ExtB"/>
              <a:cs typeface="MingLiU_HKSCS-ExtB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80160" y="4160064"/>
            <a:ext cx="824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E1629"/>
                </a:solidFill>
                <a:latin typeface="Calibri"/>
                <a:cs typeface="Calibri"/>
              </a:rPr>
              <a:t>Immobilier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305164" y="3789722"/>
            <a:ext cx="2707640" cy="1061720"/>
            <a:chOff x="3305164" y="3789722"/>
            <a:chExt cx="2707640" cy="1061720"/>
          </a:xfrm>
        </p:grpSpPr>
        <p:sp>
          <p:nvSpPr>
            <p:cNvPr id="55" name="object 55"/>
            <p:cNvSpPr/>
            <p:nvPr/>
          </p:nvSpPr>
          <p:spPr>
            <a:xfrm>
              <a:off x="3310204" y="3794762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79" h="1051560">
                  <a:moveTo>
                    <a:pt x="2697111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1348549" y="1051204"/>
                  </a:lnTo>
                  <a:lnTo>
                    <a:pt x="2697111" y="1051204"/>
                  </a:lnTo>
                  <a:lnTo>
                    <a:pt x="2697111" y="0"/>
                  </a:lnTo>
                  <a:close/>
                </a:path>
              </a:pathLst>
            </a:custGeom>
            <a:solidFill>
              <a:srgbClr val="ECE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310204" y="3794762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79" h="1051560">
                  <a:moveTo>
                    <a:pt x="1348549" y="1051204"/>
                  </a:moveTo>
                  <a:lnTo>
                    <a:pt x="0" y="1051204"/>
                  </a:lnTo>
                  <a:lnTo>
                    <a:pt x="0" y="0"/>
                  </a:lnTo>
                  <a:lnTo>
                    <a:pt x="2697111" y="0"/>
                  </a:lnTo>
                  <a:lnTo>
                    <a:pt x="2697111" y="1051204"/>
                  </a:lnTo>
                  <a:lnTo>
                    <a:pt x="1348549" y="1051204"/>
                  </a:lnTo>
                  <a:close/>
                </a:path>
              </a:pathLst>
            </a:custGeom>
            <a:ln w="1007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474719" y="4023006"/>
              <a:ext cx="567055" cy="567690"/>
            </a:xfrm>
            <a:custGeom>
              <a:avLst/>
              <a:gdLst/>
              <a:ahLst/>
              <a:cxnLst/>
              <a:rect l="l" t="t" r="r" b="b"/>
              <a:pathLst>
                <a:path w="567054" h="567689">
                  <a:moveTo>
                    <a:pt x="283679" y="0"/>
                  </a:moveTo>
                  <a:lnTo>
                    <a:pt x="210062" y="9759"/>
                  </a:lnTo>
                  <a:lnTo>
                    <a:pt x="141846" y="38150"/>
                  </a:lnTo>
                  <a:lnTo>
                    <a:pt x="83118" y="83243"/>
                  </a:lnTo>
                  <a:lnTo>
                    <a:pt x="38163" y="141833"/>
                  </a:lnTo>
                  <a:lnTo>
                    <a:pt x="9628" y="210327"/>
                  </a:lnTo>
                  <a:lnTo>
                    <a:pt x="0" y="283679"/>
                  </a:lnTo>
                  <a:lnTo>
                    <a:pt x="2417" y="320721"/>
                  </a:lnTo>
                  <a:lnTo>
                    <a:pt x="21565" y="392114"/>
                  </a:lnTo>
                  <a:lnTo>
                    <a:pt x="58768" y="456292"/>
                  </a:lnTo>
                  <a:lnTo>
                    <a:pt x="110911" y="508539"/>
                  </a:lnTo>
                  <a:lnTo>
                    <a:pt x="175043" y="545639"/>
                  </a:lnTo>
                  <a:lnTo>
                    <a:pt x="246432" y="564890"/>
                  </a:lnTo>
                  <a:lnTo>
                    <a:pt x="283679" y="567359"/>
                  </a:lnTo>
                  <a:lnTo>
                    <a:pt x="320721" y="564890"/>
                  </a:lnTo>
                  <a:lnTo>
                    <a:pt x="391966" y="545639"/>
                  </a:lnTo>
                  <a:lnTo>
                    <a:pt x="456092" y="508539"/>
                  </a:lnTo>
                  <a:lnTo>
                    <a:pt x="508236" y="456292"/>
                  </a:lnTo>
                  <a:lnTo>
                    <a:pt x="545433" y="392114"/>
                  </a:lnTo>
                  <a:lnTo>
                    <a:pt x="564584" y="320721"/>
                  </a:lnTo>
                  <a:lnTo>
                    <a:pt x="567004" y="283679"/>
                  </a:lnTo>
                  <a:lnTo>
                    <a:pt x="564584" y="246632"/>
                  </a:lnTo>
                  <a:lnTo>
                    <a:pt x="545433" y="175237"/>
                  </a:lnTo>
                  <a:lnTo>
                    <a:pt x="508236" y="111054"/>
                  </a:lnTo>
                  <a:lnTo>
                    <a:pt x="456092" y="58807"/>
                  </a:lnTo>
                  <a:lnTo>
                    <a:pt x="391966" y="21709"/>
                  </a:lnTo>
                  <a:lnTo>
                    <a:pt x="320721" y="2467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474719" y="4023006"/>
              <a:ext cx="567055" cy="567690"/>
            </a:xfrm>
            <a:custGeom>
              <a:avLst/>
              <a:gdLst/>
              <a:ahLst/>
              <a:cxnLst/>
              <a:rect l="l" t="t" r="r" b="b"/>
              <a:pathLst>
                <a:path w="567054" h="567689">
                  <a:moveTo>
                    <a:pt x="0" y="283679"/>
                  </a:moveTo>
                  <a:lnTo>
                    <a:pt x="2417" y="246632"/>
                  </a:lnTo>
                  <a:lnTo>
                    <a:pt x="9628" y="210327"/>
                  </a:lnTo>
                  <a:lnTo>
                    <a:pt x="38163" y="141833"/>
                  </a:lnTo>
                  <a:lnTo>
                    <a:pt x="83118" y="83243"/>
                  </a:lnTo>
                  <a:lnTo>
                    <a:pt x="141846" y="38150"/>
                  </a:lnTo>
                  <a:lnTo>
                    <a:pt x="210062" y="9759"/>
                  </a:lnTo>
                  <a:lnTo>
                    <a:pt x="283679" y="0"/>
                  </a:lnTo>
                  <a:lnTo>
                    <a:pt x="356985" y="9759"/>
                  </a:lnTo>
                  <a:lnTo>
                    <a:pt x="425157" y="38150"/>
                  </a:lnTo>
                  <a:lnTo>
                    <a:pt x="483885" y="83243"/>
                  </a:lnTo>
                  <a:lnTo>
                    <a:pt x="528840" y="141833"/>
                  </a:lnTo>
                  <a:lnTo>
                    <a:pt x="557371" y="210327"/>
                  </a:lnTo>
                  <a:lnTo>
                    <a:pt x="567004" y="283679"/>
                  </a:lnTo>
                  <a:lnTo>
                    <a:pt x="564584" y="320721"/>
                  </a:lnTo>
                  <a:lnTo>
                    <a:pt x="557371" y="357025"/>
                  </a:lnTo>
                  <a:lnTo>
                    <a:pt x="528840" y="425513"/>
                  </a:lnTo>
                  <a:lnTo>
                    <a:pt x="483885" y="484103"/>
                  </a:lnTo>
                  <a:lnTo>
                    <a:pt x="425157" y="529196"/>
                  </a:lnTo>
                  <a:lnTo>
                    <a:pt x="356985" y="557593"/>
                  </a:lnTo>
                  <a:lnTo>
                    <a:pt x="283679" y="567359"/>
                  </a:lnTo>
                  <a:lnTo>
                    <a:pt x="210062" y="557593"/>
                  </a:lnTo>
                  <a:lnTo>
                    <a:pt x="141846" y="529196"/>
                  </a:lnTo>
                  <a:lnTo>
                    <a:pt x="83118" y="484103"/>
                  </a:lnTo>
                  <a:lnTo>
                    <a:pt x="38163" y="425513"/>
                  </a:lnTo>
                  <a:lnTo>
                    <a:pt x="9628" y="357025"/>
                  </a:lnTo>
                  <a:lnTo>
                    <a:pt x="2417" y="320721"/>
                  </a:lnTo>
                  <a:lnTo>
                    <a:pt x="0" y="283679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584156" y="4077195"/>
            <a:ext cx="36068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550" spc="125" dirty="0">
                <a:latin typeface="MingLiU_HKSCS-ExtB"/>
                <a:cs typeface="MingLiU_HKSCS-ExtB"/>
              </a:rPr>
              <a:t>🌾</a:t>
            </a:r>
            <a:endParaRPr sz="2550">
              <a:latin typeface="MingLiU_HKSCS-ExtB"/>
              <a:cs typeface="MingLiU_HKSCS-ExtB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133164" y="4160064"/>
            <a:ext cx="83311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E1629"/>
                </a:solidFill>
                <a:latin typeface="Calibri"/>
                <a:cs typeface="Calibri"/>
              </a:rPr>
              <a:t>Agriculture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158155" y="3789722"/>
            <a:ext cx="2707640" cy="1061720"/>
            <a:chOff x="6158155" y="3789722"/>
            <a:chExt cx="2707640" cy="1061720"/>
          </a:xfrm>
        </p:grpSpPr>
        <p:sp>
          <p:nvSpPr>
            <p:cNvPr id="62" name="object 62"/>
            <p:cNvSpPr/>
            <p:nvPr/>
          </p:nvSpPr>
          <p:spPr>
            <a:xfrm>
              <a:off x="6163195" y="3794762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79" h="1051560">
                  <a:moveTo>
                    <a:pt x="2697124" y="0"/>
                  </a:moveTo>
                  <a:lnTo>
                    <a:pt x="0" y="0"/>
                  </a:lnTo>
                  <a:lnTo>
                    <a:pt x="0" y="1051204"/>
                  </a:lnTo>
                  <a:lnTo>
                    <a:pt x="1348562" y="1051204"/>
                  </a:lnTo>
                  <a:lnTo>
                    <a:pt x="2697124" y="105120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163195" y="3794762"/>
              <a:ext cx="2697480" cy="1051560"/>
            </a:xfrm>
            <a:custGeom>
              <a:avLst/>
              <a:gdLst/>
              <a:ahLst/>
              <a:cxnLst/>
              <a:rect l="l" t="t" r="r" b="b"/>
              <a:pathLst>
                <a:path w="2697479" h="1051560">
                  <a:moveTo>
                    <a:pt x="1348562" y="1051204"/>
                  </a:moveTo>
                  <a:lnTo>
                    <a:pt x="0" y="1051204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1051204"/>
                  </a:lnTo>
                  <a:lnTo>
                    <a:pt x="1348562" y="1051204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327724" y="4023006"/>
              <a:ext cx="567055" cy="567690"/>
            </a:xfrm>
            <a:custGeom>
              <a:avLst/>
              <a:gdLst/>
              <a:ahLst/>
              <a:cxnLst/>
              <a:rect l="l" t="t" r="r" b="b"/>
              <a:pathLst>
                <a:path w="567054" h="567689">
                  <a:moveTo>
                    <a:pt x="283679" y="0"/>
                  </a:moveTo>
                  <a:lnTo>
                    <a:pt x="210056" y="9759"/>
                  </a:lnTo>
                  <a:lnTo>
                    <a:pt x="141833" y="38150"/>
                  </a:lnTo>
                  <a:lnTo>
                    <a:pt x="83110" y="83243"/>
                  </a:lnTo>
                  <a:lnTo>
                    <a:pt x="38150" y="141833"/>
                  </a:lnTo>
                  <a:lnTo>
                    <a:pt x="9626" y="210327"/>
                  </a:lnTo>
                  <a:lnTo>
                    <a:pt x="0" y="283679"/>
                  </a:lnTo>
                  <a:lnTo>
                    <a:pt x="2417" y="320721"/>
                  </a:lnTo>
                  <a:lnTo>
                    <a:pt x="21559" y="392114"/>
                  </a:lnTo>
                  <a:lnTo>
                    <a:pt x="58757" y="456292"/>
                  </a:lnTo>
                  <a:lnTo>
                    <a:pt x="110904" y="508539"/>
                  </a:lnTo>
                  <a:lnTo>
                    <a:pt x="175032" y="545639"/>
                  </a:lnTo>
                  <a:lnTo>
                    <a:pt x="246430" y="564890"/>
                  </a:lnTo>
                  <a:lnTo>
                    <a:pt x="283679" y="567359"/>
                  </a:lnTo>
                  <a:lnTo>
                    <a:pt x="320716" y="564890"/>
                  </a:lnTo>
                  <a:lnTo>
                    <a:pt x="391964" y="545639"/>
                  </a:lnTo>
                  <a:lnTo>
                    <a:pt x="456086" y="508539"/>
                  </a:lnTo>
                  <a:lnTo>
                    <a:pt x="508234" y="456292"/>
                  </a:lnTo>
                  <a:lnTo>
                    <a:pt x="545431" y="392114"/>
                  </a:lnTo>
                  <a:lnTo>
                    <a:pt x="564573" y="320721"/>
                  </a:lnTo>
                  <a:lnTo>
                    <a:pt x="566991" y="283679"/>
                  </a:lnTo>
                  <a:lnTo>
                    <a:pt x="564573" y="246632"/>
                  </a:lnTo>
                  <a:lnTo>
                    <a:pt x="545431" y="175237"/>
                  </a:lnTo>
                  <a:lnTo>
                    <a:pt x="508234" y="111054"/>
                  </a:lnTo>
                  <a:lnTo>
                    <a:pt x="456086" y="58807"/>
                  </a:lnTo>
                  <a:lnTo>
                    <a:pt x="391964" y="21709"/>
                  </a:lnTo>
                  <a:lnTo>
                    <a:pt x="320716" y="2467"/>
                  </a:lnTo>
                  <a:lnTo>
                    <a:pt x="283679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327724" y="4023006"/>
              <a:ext cx="567055" cy="567690"/>
            </a:xfrm>
            <a:custGeom>
              <a:avLst/>
              <a:gdLst/>
              <a:ahLst/>
              <a:cxnLst/>
              <a:rect l="l" t="t" r="r" b="b"/>
              <a:pathLst>
                <a:path w="567054" h="567689">
                  <a:moveTo>
                    <a:pt x="0" y="283679"/>
                  </a:moveTo>
                  <a:lnTo>
                    <a:pt x="2417" y="246632"/>
                  </a:lnTo>
                  <a:lnTo>
                    <a:pt x="9626" y="210327"/>
                  </a:lnTo>
                  <a:lnTo>
                    <a:pt x="38150" y="141833"/>
                  </a:lnTo>
                  <a:lnTo>
                    <a:pt x="83110" y="83243"/>
                  </a:lnTo>
                  <a:lnTo>
                    <a:pt x="141833" y="38150"/>
                  </a:lnTo>
                  <a:lnTo>
                    <a:pt x="210056" y="9759"/>
                  </a:lnTo>
                  <a:lnTo>
                    <a:pt x="283679" y="0"/>
                  </a:lnTo>
                  <a:lnTo>
                    <a:pt x="356981" y="9759"/>
                  </a:lnTo>
                  <a:lnTo>
                    <a:pt x="425157" y="38150"/>
                  </a:lnTo>
                  <a:lnTo>
                    <a:pt x="483881" y="83243"/>
                  </a:lnTo>
                  <a:lnTo>
                    <a:pt x="528840" y="141833"/>
                  </a:lnTo>
                  <a:lnTo>
                    <a:pt x="557364" y="210327"/>
                  </a:lnTo>
                  <a:lnTo>
                    <a:pt x="566991" y="283679"/>
                  </a:lnTo>
                  <a:lnTo>
                    <a:pt x="564573" y="320721"/>
                  </a:lnTo>
                  <a:lnTo>
                    <a:pt x="557364" y="357025"/>
                  </a:lnTo>
                  <a:lnTo>
                    <a:pt x="528840" y="425513"/>
                  </a:lnTo>
                  <a:lnTo>
                    <a:pt x="483881" y="484103"/>
                  </a:lnTo>
                  <a:lnTo>
                    <a:pt x="425157" y="529196"/>
                  </a:lnTo>
                  <a:lnTo>
                    <a:pt x="356981" y="557593"/>
                  </a:lnTo>
                  <a:lnTo>
                    <a:pt x="283679" y="567359"/>
                  </a:lnTo>
                  <a:lnTo>
                    <a:pt x="210056" y="557593"/>
                  </a:lnTo>
                  <a:lnTo>
                    <a:pt x="141833" y="529196"/>
                  </a:lnTo>
                  <a:lnTo>
                    <a:pt x="83110" y="484103"/>
                  </a:lnTo>
                  <a:lnTo>
                    <a:pt x="38150" y="425513"/>
                  </a:lnTo>
                  <a:lnTo>
                    <a:pt x="9626" y="357025"/>
                  </a:lnTo>
                  <a:lnTo>
                    <a:pt x="2417" y="320721"/>
                  </a:lnTo>
                  <a:lnTo>
                    <a:pt x="0" y="283679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437160" y="4077195"/>
            <a:ext cx="36068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550" spc="125" dirty="0">
                <a:latin typeface="MingLiU_HKSCS-ExtB"/>
                <a:cs typeface="MingLiU_HKSCS-ExtB"/>
              </a:rPr>
              <a:t>📶</a:t>
            </a:r>
            <a:endParaRPr sz="2550">
              <a:latin typeface="MingLiU_HKSCS-ExtB"/>
              <a:cs typeface="MingLiU_HKSCS-ExtB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986155" y="4160064"/>
            <a:ext cx="6921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E1629"/>
                </a:solidFill>
                <a:latin typeface="Calibri"/>
                <a:cs typeface="Calibri"/>
              </a:rPr>
              <a:t>Télécoms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55602"/>
            <a:ext cx="1828800" cy="237490"/>
          </a:xfrm>
          <a:custGeom>
            <a:avLst/>
            <a:gdLst/>
            <a:ahLst/>
            <a:cxnLst/>
            <a:rect l="l" t="t" r="r" b="b"/>
            <a:pathLst>
              <a:path w="1828800" h="237490">
                <a:moveTo>
                  <a:pt x="1828431" y="0"/>
                </a:moveTo>
                <a:lnTo>
                  <a:pt x="0" y="0"/>
                </a:lnTo>
                <a:lnTo>
                  <a:pt x="0" y="237235"/>
                </a:lnTo>
                <a:lnTo>
                  <a:pt x="914400" y="237235"/>
                </a:lnTo>
                <a:lnTo>
                  <a:pt x="1828431" y="237235"/>
                </a:lnTo>
                <a:lnTo>
                  <a:pt x="1828431" y="0"/>
                </a:lnTo>
                <a:close/>
              </a:path>
            </a:pathLst>
          </a:custGeom>
          <a:solidFill>
            <a:srgbClr val="ECE8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6844" y="255602"/>
            <a:ext cx="1828800" cy="237490"/>
          </a:xfrm>
          <a:prstGeom prst="rect">
            <a:avLst/>
          </a:prstGeom>
          <a:ln w="6479">
            <a:solidFill>
              <a:srgbClr val="7B39E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S</a:t>
            </a:r>
            <a:r>
              <a:rPr sz="800" b="1" spc="-4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L</a:t>
            </a:r>
            <a:r>
              <a:rPr sz="800" b="1" spc="-5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U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I</a:t>
            </a:r>
            <a:r>
              <a:rPr sz="800" b="1" spc="-3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</a:t>
            </a:r>
            <a:r>
              <a:rPr spc="-65" dirty="0"/>
              <a:t> </a:t>
            </a:r>
            <a:r>
              <a:rPr spc="-10" dirty="0"/>
              <a:t>Plateforme</a:t>
            </a:r>
            <a:r>
              <a:rPr spc="-55" dirty="0"/>
              <a:t> </a:t>
            </a:r>
            <a:r>
              <a:rPr spc="-10" dirty="0"/>
              <a:t>Intelligente</a:t>
            </a:r>
            <a:r>
              <a:rPr spc="-55" dirty="0"/>
              <a:t> </a:t>
            </a:r>
            <a:r>
              <a:rPr dirty="0"/>
              <a:t>—</a:t>
            </a:r>
            <a:r>
              <a:rPr spc="-65" dirty="0"/>
              <a:t> </a:t>
            </a:r>
            <a:r>
              <a:rPr dirty="0"/>
              <a:t>vue</a:t>
            </a:r>
            <a:r>
              <a:rPr spc="-55" dirty="0"/>
              <a:t> </a:t>
            </a:r>
            <a:r>
              <a:rPr spc="-10" dirty="0"/>
              <a:t>d'ensemble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144" y="1113385"/>
            <a:ext cx="33921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Un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pipeline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automatisé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de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la</a:t>
            </a:r>
            <a:r>
              <a:rPr sz="13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collecte</a:t>
            </a:r>
            <a:r>
              <a:rPr sz="13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à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la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décision.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5955" y="1444677"/>
            <a:ext cx="1298575" cy="1417320"/>
            <a:chOff x="255955" y="1444677"/>
            <a:chExt cx="1298575" cy="1417320"/>
          </a:xfrm>
        </p:grpSpPr>
        <p:sp>
          <p:nvSpPr>
            <p:cNvPr id="7" name="object 7"/>
            <p:cNvSpPr/>
            <p:nvPr/>
          </p:nvSpPr>
          <p:spPr>
            <a:xfrm>
              <a:off x="255955" y="1444677"/>
              <a:ext cx="1298575" cy="1417320"/>
            </a:xfrm>
            <a:custGeom>
              <a:avLst/>
              <a:gdLst/>
              <a:ahLst/>
              <a:cxnLst/>
              <a:rect l="l" t="t" r="r" b="b"/>
              <a:pathLst>
                <a:path w="1298575" h="1417320">
                  <a:moveTo>
                    <a:pt x="1298168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649084" y="1416964"/>
                  </a:lnTo>
                  <a:lnTo>
                    <a:pt x="1298168" y="1416964"/>
                  </a:lnTo>
                  <a:lnTo>
                    <a:pt x="1298168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2800" y="155412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40" y="6164"/>
                  </a:lnTo>
                  <a:lnTo>
                    <a:pt x="91440" y="24472"/>
                  </a:lnTo>
                  <a:lnTo>
                    <a:pt x="53638" y="53636"/>
                  </a:lnTo>
                  <a:lnTo>
                    <a:pt x="24485" y="91439"/>
                  </a:lnTo>
                  <a:lnTo>
                    <a:pt x="6165" y="135535"/>
                  </a:lnTo>
                  <a:lnTo>
                    <a:pt x="0" y="182879"/>
                  </a:lnTo>
                  <a:lnTo>
                    <a:pt x="1547" y="206781"/>
                  </a:lnTo>
                  <a:lnTo>
                    <a:pt x="13823" y="252840"/>
                  </a:lnTo>
                  <a:lnTo>
                    <a:pt x="37879" y="294195"/>
                  </a:lnTo>
                  <a:lnTo>
                    <a:pt x="71559" y="327878"/>
                  </a:lnTo>
                  <a:lnTo>
                    <a:pt x="112917" y="351936"/>
                  </a:lnTo>
                  <a:lnTo>
                    <a:pt x="158973" y="364212"/>
                  </a:lnTo>
                  <a:lnTo>
                    <a:pt x="182879" y="365759"/>
                  </a:lnTo>
                  <a:lnTo>
                    <a:pt x="206786" y="364212"/>
                  </a:lnTo>
                  <a:lnTo>
                    <a:pt x="252842" y="351936"/>
                  </a:lnTo>
                  <a:lnTo>
                    <a:pt x="294200" y="327878"/>
                  </a:lnTo>
                  <a:lnTo>
                    <a:pt x="327880" y="294195"/>
                  </a:lnTo>
                  <a:lnTo>
                    <a:pt x="351936" y="252840"/>
                  </a:lnTo>
                  <a:lnTo>
                    <a:pt x="364212" y="206781"/>
                  </a:lnTo>
                  <a:lnTo>
                    <a:pt x="365760" y="182879"/>
                  </a:lnTo>
                  <a:lnTo>
                    <a:pt x="364212" y="158971"/>
                  </a:lnTo>
                  <a:lnTo>
                    <a:pt x="351936" y="112912"/>
                  </a:lnTo>
                  <a:lnTo>
                    <a:pt x="327880" y="71559"/>
                  </a:lnTo>
                  <a:lnTo>
                    <a:pt x="294200" y="37874"/>
                  </a:lnTo>
                  <a:lnTo>
                    <a:pt x="252842" y="13817"/>
                  </a:lnTo>
                  <a:lnTo>
                    <a:pt x="206786" y="1546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2800" y="155412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79"/>
                  </a:moveTo>
                  <a:lnTo>
                    <a:pt x="1547" y="158971"/>
                  </a:lnTo>
                  <a:lnTo>
                    <a:pt x="6165" y="135535"/>
                  </a:lnTo>
                  <a:lnTo>
                    <a:pt x="24485" y="91439"/>
                  </a:lnTo>
                  <a:lnTo>
                    <a:pt x="53638" y="53636"/>
                  </a:lnTo>
                  <a:lnTo>
                    <a:pt x="91440" y="24472"/>
                  </a:lnTo>
                  <a:lnTo>
                    <a:pt x="135540" y="6164"/>
                  </a:lnTo>
                  <a:lnTo>
                    <a:pt x="182879" y="0"/>
                  </a:lnTo>
                  <a:lnTo>
                    <a:pt x="230219" y="6164"/>
                  </a:lnTo>
                  <a:lnTo>
                    <a:pt x="274320" y="24472"/>
                  </a:lnTo>
                  <a:lnTo>
                    <a:pt x="312121" y="53636"/>
                  </a:lnTo>
                  <a:lnTo>
                    <a:pt x="341274" y="91439"/>
                  </a:lnTo>
                  <a:lnTo>
                    <a:pt x="359594" y="135535"/>
                  </a:lnTo>
                  <a:lnTo>
                    <a:pt x="365760" y="182879"/>
                  </a:lnTo>
                  <a:lnTo>
                    <a:pt x="364212" y="206781"/>
                  </a:lnTo>
                  <a:lnTo>
                    <a:pt x="359594" y="230214"/>
                  </a:lnTo>
                  <a:lnTo>
                    <a:pt x="341274" y="274320"/>
                  </a:lnTo>
                  <a:lnTo>
                    <a:pt x="312121" y="312116"/>
                  </a:lnTo>
                  <a:lnTo>
                    <a:pt x="274320" y="341274"/>
                  </a:lnTo>
                  <a:lnTo>
                    <a:pt x="230219" y="359594"/>
                  </a:lnTo>
                  <a:lnTo>
                    <a:pt x="182879" y="365759"/>
                  </a:lnTo>
                  <a:lnTo>
                    <a:pt x="135540" y="359594"/>
                  </a:lnTo>
                  <a:lnTo>
                    <a:pt x="91440" y="341274"/>
                  </a:lnTo>
                  <a:lnTo>
                    <a:pt x="53638" y="312116"/>
                  </a:lnTo>
                  <a:lnTo>
                    <a:pt x="24485" y="274320"/>
                  </a:lnTo>
                  <a:lnTo>
                    <a:pt x="6165" y="230214"/>
                  </a:lnTo>
                  <a:lnTo>
                    <a:pt x="1547" y="206781"/>
                  </a:lnTo>
                  <a:lnTo>
                    <a:pt x="0" y="182879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55955" y="1444677"/>
            <a:ext cx="1298575" cy="1417320"/>
          </a:xfrm>
          <a:prstGeom prst="rect">
            <a:avLst/>
          </a:prstGeom>
          <a:ln w="10079">
            <a:solidFill>
              <a:srgbClr val="2462EA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Times New Roman"/>
              <a:cs typeface="Times New Roman"/>
            </a:endParaRPr>
          </a:p>
          <a:p>
            <a:pPr marR="10795" algn="ctr">
              <a:lnSpc>
                <a:spcPct val="100000"/>
              </a:lnSpc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50" b="1" spc="-10" dirty="0">
                <a:solidFill>
                  <a:srgbClr val="0E1629"/>
                </a:solidFill>
                <a:latin typeface="Calibri"/>
                <a:cs typeface="Calibri"/>
              </a:rPr>
              <a:t>Collecte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1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APIs,</a:t>
            </a:r>
            <a:r>
              <a:rPr sz="9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63738A"/>
                </a:solidFill>
                <a:latin typeface="Calibri"/>
                <a:cs typeface="Calibri"/>
              </a:rPr>
              <a:t>PDF,</a:t>
            </a:r>
            <a:r>
              <a:rPr sz="9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flux</a:t>
            </a:r>
            <a:r>
              <a:rPr sz="9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63738A"/>
                </a:solidFill>
                <a:latin typeface="Calibri"/>
                <a:cs typeface="Calibri"/>
              </a:rPr>
              <a:t>RSS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59775" y="1998626"/>
            <a:ext cx="232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75" dirty="0">
                <a:solidFill>
                  <a:srgbClr val="CAD4E0"/>
                </a:solidFill>
                <a:latin typeface="Calibri"/>
                <a:cs typeface="Calibri"/>
              </a:rPr>
              <a:t>*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13955" y="1439637"/>
            <a:ext cx="1308735" cy="1427480"/>
            <a:chOff x="1713955" y="1439637"/>
            <a:chExt cx="1308735" cy="1427480"/>
          </a:xfrm>
        </p:grpSpPr>
        <p:sp>
          <p:nvSpPr>
            <p:cNvPr id="13" name="object 13"/>
            <p:cNvSpPr/>
            <p:nvPr/>
          </p:nvSpPr>
          <p:spPr>
            <a:xfrm>
              <a:off x="1718995" y="1444677"/>
              <a:ext cx="1298575" cy="1417320"/>
            </a:xfrm>
            <a:custGeom>
              <a:avLst/>
              <a:gdLst/>
              <a:ahLst/>
              <a:cxnLst/>
              <a:rect l="l" t="t" r="r" b="b"/>
              <a:pathLst>
                <a:path w="1298575" h="1417320">
                  <a:moveTo>
                    <a:pt x="1298168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649084" y="1416964"/>
                  </a:lnTo>
                  <a:lnTo>
                    <a:pt x="1298168" y="1416964"/>
                  </a:lnTo>
                  <a:lnTo>
                    <a:pt x="1298168" y="0"/>
                  </a:lnTo>
                  <a:close/>
                </a:path>
              </a:pathLst>
            </a:custGeom>
            <a:solidFill>
              <a:srgbClr val="ECE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18995" y="1444677"/>
              <a:ext cx="1298575" cy="1417320"/>
            </a:xfrm>
            <a:custGeom>
              <a:avLst/>
              <a:gdLst/>
              <a:ahLst/>
              <a:cxnLst/>
              <a:rect l="l" t="t" r="r" b="b"/>
              <a:pathLst>
                <a:path w="1298575" h="1417320">
                  <a:moveTo>
                    <a:pt x="649084" y="1416964"/>
                  </a:moveTo>
                  <a:lnTo>
                    <a:pt x="0" y="1416964"/>
                  </a:lnTo>
                  <a:lnTo>
                    <a:pt x="0" y="0"/>
                  </a:lnTo>
                  <a:lnTo>
                    <a:pt x="1298168" y="0"/>
                  </a:lnTo>
                  <a:lnTo>
                    <a:pt x="1298168" y="1416964"/>
                  </a:lnTo>
                  <a:lnTo>
                    <a:pt x="649084" y="1416964"/>
                  </a:lnTo>
                  <a:close/>
                </a:path>
              </a:pathLst>
            </a:custGeom>
            <a:ln w="1007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75840" y="155412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182880" y="0"/>
                  </a:moveTo>
                  <a:lnTo>
                    <a:pt x="135540" y="6164"/>
                  </a:lnTo>
                  <a:lnTo>
                    <a:pt x="91440" y="24472"/>
                  </a:lnTo>
                  <a:lnTo>
                    <a:pt x="53638" y="53636"/>
                  </a:lnTo>
                  <a:lnTo>
                    <a:pt x="24485" y="91439"/>
                  </a:lnTo>
                  <a:lnTo>
                    <a:pt x="6165" y="135535"/>
                  </a:lnTo>
                  <a:lnTo>
                    <a:pt x="0" y="182879"/>
                  </a:lnTo>
                  <a:lnTo>
                    <a:pt x="1547" y="206781"/>
                  </a:lnTo>
                  <a:lnTo>
                    <a:pt x="13823" y="252840"/>
                  </a:lnTo>
                  <a:lnTo>
                    <a:pt x="37879" y="294195"/>
                  </a:lnTo>
                  <a:lnTo>
                    <a:pt x="71559" y="327878"/>
                  </a:lnTo>
                  <a:lnTo>
                    <a:pt x="112917" y="351936"/>
                  </a:lnTo>
                  <a:lnTo>
                    <a:pt x="158973" y="364212"/>
                  </a:lnTo>
                  <a:lnTo>
                    <a:pt x="182880" y="365759"/>
                  </a:lnTo>
                  <a:lnTo>
                    <a:pt x="206786" y="364212"/>
                  </a:lnTo>
                  <a:lnTo>
                    <a:pt x="252842" y="351936"/>
                  </a:lnTo>
                  <a:lnTo>
                    <a:pt x="294200" y="327878"/>
                  </a:lnTo>
                  <a:lnTo>
                    <a:pt x="327880" y="294195"/>
                  </a:lnTo>
                  <a:lnTo>
                    <a:pt x="351936" y="252840"/>
                  </a:lnTo>
                  <a:lnTo>
                    <a:pt x="364212" y="206781"/>
                  </a:lnTo>
                  <a:lnTo>
                    <a:pt x="365760" y="182879"/>
                  </a:lnTo>
                  <a:lnTo>
                    <a:pt x="364212" y="158971"/>
                  </a:lnTo>
                  <a:lnTo>
                    <a:pt x="351936" y="112912"/>
                  </a:lnTo>
                  <a:lnTo>
                    <a:pt x="327880" y="71559"/>
                  </a:lnTo>
                  <a:lnTo>
                    <a:pt x="294200" y="37874"/>
                  </a:lnTo>
                  <a:lnTo>
                    <a:pt x="252842" y="13817"/>
                  </a:lnTo>
                  <a:lnTo>
                    <a:pt x="206786" y="1546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75840" y="155412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182879"/>
                  </a:moveTo>
                  <a:lnTo>
                    <a:pt x="1547" y="158971"/>
                  </a:lnTo>
                  <a:lnTo>
                    <a:pt x="6165" y="135535"/>
                  </a:lnTo>
                  <a:lnTo>
                    <a:pt x="24485" y="91439"/>
                  </a:lnTo>
                  <a:lnTo>
                    <a:pt x="53638" y="53636"/>
                  </a:lnTo>
                  <a:lnTo>
                    <a:pt x="91440" y="24472"/>
                  </a:lnTo>
                  <a:lnTo>
                    <a:pt x="135540" y="6164"/>
                  </a:lnTo>
                  <a:lnTo>
                    <a:pt x="182880" y="0"/>
                  </a:lnTo>
                  <a:lnTo>
                    <a:pt x="230219" y="6164"/>
                  </a:lnTo>
                  <a:lnTo>
                    <a:pt x="274319" y="24472"/>
                  </a:lnTo>
                  <a:lnTo>
                    <a:pt x="312121" y="53636"/>
                  </a:lnTo>
                  <a:lnTo>
                    <a:pt x="341274" y="91439"/>
                  </a:lnTo>
                  <a:lnTo>
                    <a:pt x="359594" y="135535"/>
                  </a:lnTo>
                  <a:lnTo>
                    <a:pt x="365760" y="182879"/>
                  </a:lnTo>
                  <a:lnTo>
                    <a:pt x="364212" y="206781"/>
                  </a:lnTo>
                  <a:lnTo>
                    <a:pt x="359594" y="230214"/>
                  </a:lnTo>
                  <a:lnTo>
                    <a:pt x="341274" y="274320"/>
                  </a:lnTo>
                  <a:lnTo>
                    <a:pt x="312121" y="312116"/>
                  </a:lnTo>
                  <a:lnTo>
                    <a:pt x="274319" y="341274"/>
                  </a:lnTo>
                  <a:lnTo>
                    <a:pt x="230219" y="359594"/>
                  </a:lnTo>
                  <a:lnTo>
                    <a:pt x="182880" y="365759"/>
                  </a:lnTo>
                  <a:lnTo>
                    <a:pt x="135540" y="359594"/>
                  </a:lnTo>
                  <a:lnTo>
                    <a:pt x="91440" y="341274"/>
                  </a:lnTo>
                  <a:lnTo>
                    <a:pt x="53638" y="312116"/>
                  </a:lnTo>
                  <a:lnTo>
                    <a:pt x="24485" y="274320"/>
                  </a:lnTo>
                  <a:lnTo>
                    <a:pt x="6165" y="230214"/>
                  </a:lnTo>
                  <a:lnTo>
                    <a:pt x="1547" y="206781"/>
                  </a:lnTo>
                  <a:lnTo>
                    <a:pt x="0" y="182879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304618" y="1624941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33816" y="2047940"/>
            <a:ext cx="8693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0E1629"/>
                </a:solidFill>
                <a:latin typeface="Calibri"/>
                <a:cs typeface="Calibri"/>
              </a:rPr>
              <a:t>Centralisation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68297" y="2483182"/>
            <a:ext cx="10007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Entrepôt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 de</a:t>
            </a:r>
            <a:r>
              <a:rPr sz="900" spc="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données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22815" y="1998626"/>
            <a:ext cx="232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75" dirty="0">
                <a:solidFill>
                  <a:srgbClr val="CAD4E0"/>
                </a:solidFill>
                <a:latin typeface="Calibri"/>
                <a:cs typeface="Calibri"/>
              </a:rPr>
              <a:t>*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176996" y="1439637"/>
            <a:ext cx="1308735" cy="1427480"/>
            <a:chOff x="3176996" y="1439637"/>
            <a:chExt cx="1308735" cy="1427480"/>
          </a:xfrm>
        </p:grpSpPr>
        <p:sp>
          <p:nvSpPr>
            <p:cNvPr id="22" name="object 22"/>
            <p:cNvSpPr/>
            <p:nvPr/>
          </p:nvSpPr>
          <p:spPr>
            <a:xfrm>
              <a:off x="3182035" y="1444677"/>
              <a:ext cx="1298575" cy="1417320"/>
            </a:xfrm>
            <a:custGeom>
              <a:avLst/>
              <a:gdLst/>
              <a:ahLst/>
              <a:cxnLst/>
              <a:rect l="l" t="t" r="r" b="b"/>
              <a:pathLst>
                <a:path w="1298575" h="1417320">
                  <a:moveTo>
                    <a:pt x="1298168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649084" y="1416964"/>
                  </a:lnTo>
                  <a:lnTo>
                    <a:pt x="1298168" y="1416964"/>
                  </a:lnTo>
                  <a:lnTo>
                    <a:pt x="1298168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82035" y="1444677"/>
              <a:ext cx="1298575" cy="1417320"/>
            </a:xfrm>
            <a:custGeom>
              <a:avLst/>
              <a:gdLst/>
              <a:ahLst/>
              <a:cxnLst/>
              <a:rect l="l" t="t" r="r" b="b"/>
              <a:pathLst>
                <a:path w="1298575" h="1417320">
                  <a:moveTo>
                    <a:pt x="649084" y="1416964"/>
                  </a:moveTo>
                  <a:lnTo>
                    <a:pt x="0" y="1416964"/>
                  </a:lnTo>
                  <a:lnTo>
                    <a:pt x="0" y="0"/>
                  </a:lnTo>
                  <a:lnTo>
                    <a:pt x="1298168" y="0"/>
                  </a:lnTo>
                  <a:lnTo>
                    <a:pt x="1298168" y="1416964"/>
                  </a:lnTo>
                  <a:lnTo>
                    <a:pt x="649084" y="1416964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38880" y="155412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182879" y="0"/>
                  </a:moveTo>
                  <a:lnTo>
                    <a:pt x="135540" y="6164"/>
                  </a:lnTo>
                  <a:lnTo>
                    <a:pt x="91439" y="24472"/>
                  </a:lnTo>
                  <a:lnTo>
                    <a:pt x="53638" y="53636"/>
                  </a:lnTo>
                  <a:lnTo>
                    <a:pt x="24485" y="91439"/>
                  </a:lnTo>
                  <a:lnTo>
                    <a:pt x="6165" y="135535"/>
                  </a:lnTo>
                  <a:lnTo>
                    <a:pt x="0" y="182879"/>
                  </a:lnTo>
                  <a:lnTo>
                    <a:pt x="1547" y="206781"/>
                  </a:lnTo>
                  <a:lnTo>
                    <a:pt x="13823" y="252840"/>
                  </a:lnTo>
                  <a:lnTo>
                    <a:pt x="37879" y="294195"/>
                  </a:lnTo>
                  <a:lnTo>
                    <a:pt x="71559" y="327878"/>
                  </a:lnTo>
                  <a:lnTo>
                    <a:pt x="112917" y="351936"/>
                  </a:lnTo>
                  <a:lnTo>
                    <a:pt x="158973" y="364212"/>
                  </a:lnTo>
                  <a:lnTo>
                    <a:pt x="182879" y="365759"/>
                  </a:lnTo>
                  <a:lnTo>
                    <a:pt x="206786" y="364212"/>
                  </a:lnTo>
                  <a:lnTo>
                    <a:pt x="252842" y="351936"/>
                  </a:lnTo>
                  <a:lnTo>
                    <a:pt x="294200" y="327878"/>
                  </a:lnTo>
                  <a:lnTo>
                    <a:pt x="327880" y="294195"/>
                  </a:lnTo>
                  <a:lnTo>
                    <a:pt x="351936" y="252840"/>
                  </a:lnTo>
                  <a:lnTo>
                    <a:pt x="364212" y="206781"/>
                  </a:lnTo>
                  <a:lnTo>
                    <a:pt x="365760" y="182879"/>
                  </a:lnTo>
                  <a:lnTo>
                    <a:pt x="364212" y="158971"/>
                  </a:lnTo>
                  <a:lnTo>
                    <a:pt x="351936" y="112912"/>
                  </a:lnTo>
                  <a:lnTo>
                    <a:pt x="327880" y="71559"/>
                  </a:lnTo>
                  <a:lnTo>
                    <a:pt x="294200" y="37874"/>
                  </a:lnTo>
                  <a:lnTo>
                    <a:pt x="252842" y="13817"/>
                  </a:lnTo>
                  <a:lnTo>
                    <a:pt x="206786" y="1546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38880" y="155412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182879"/>
                  </a:moveTo>
                  <a:lnTo>
                    <a:pt x="1547" y="158971"/>
                  </a:lnTo>
                  <a:lnTo>
                    <a:pt x="6165" y="135535"/>
                  </a:lnTo>
                  <a:lnTo>
                    <a:pt x="24485" y="91439"/>
                  </a:lnTo>
                  <a:lnTo>
                    <a:pt x="53638" y="53636"/>
                  </a:lnTo>
                  <a:lnTo>
                    <a:pt x="91439" y="24472"/>
                  </a:lnTo>
                  <a:lnTo>
                    <a:pt x="135540" y="6164"/>
                  </a:lnTo>
                  <a:lnTo>
                    <a:pt x="182879" y="0"/>
                  </a:lnTo>
                  <a:lnTo>
                    <a:pt x="230219" y="6164"/>
                  </a:lnTo>
                  <a:lnTo>
                    <a:pt x="274319" y="24472"/>
                  </a:lnTo>
                  <a:lnTo>
                    <a:pt x="312121" y="53636"/>
                  </a:lnTo>
                  <a:lnTo>
                    <a:pt x="341274" y="91439"/>
                  </a:lnTo>
                  <a:lnTo>
                    <a:pt x="359594" y="135535"/>
                  </a:lnTo>
                  <a:lnTo>
                    <a:pt x="365760" y="182879"/>
                  </a:lnTo>
                  <a:lnTo>
                    <a:pt x="364212" y="206781"/>
                  </a:lnTo>
                  <a:lnTo>
                    <a:pt x="359594" y="230214"/>
                  </a:lnTo>
                  <a:lnTo>
                    <a:pt x="341274" y="274320"/>
                  </a:lnTo>
                  <a:lnTo>
                    <a:pt x="312121" y="312116"/>
                  </a:lnTo>
                  <a:lnTo>
                    <a:pt x="274319" y="341274"/>
                  </a:lnTo>
                  <a:lnTo>
                    <a:pt x="230219" y="359594"/>
                  </a:lnTo>
                  <a:lnTo>
                    <a:pt x="182879" y="365759"/>
                  </a:lnTo>
                  <a:lnTo>
                    <a:pt x="135540" y="359594"/>
                  </a:lnTo>
                  <a:lnTo>
                    <a:pt x="91439" y="341274"/>
                  </a:lnTo>
                  <a:lnTo>
                    <a:pt x="53638" y="312116"/>
                  </a:lnTo>
                  <a:lnTo>
                    <a:pt x="24485" y="274320"/>
                  </a:lnTo>
                  <a:lnTo>
                    <a:pt x="6165" y="230214"/>
                  </a:lnTo>
                  <a:lnTo>
                    <a:pt x="1547" y="206781"/>
                  </a:lnTo>
                  <a:lnTo>
                    <a:pt x="0" y="182879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767658" y="1624941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00539" y="2047940"/>
            <a:ext cx="66103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solidFill>
                  <a:srgbClr val="0E1629"/>
                </a:solidFill>
                <a:latin typeface="Calibri"/>
                <a:cs typeface="Calibri"/>
              </a:rPr>
              <a:t>Analyse</a:t>
            </a:r>
            <a:r>
              <a:rPr sz="1150" b="1" spc="-5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150" b="1" spc="-25" dirty="0">
                <a:solidFill>
                  <a:srgbClr val="0E1629"/>
                </a:solidFill>
                <a:latin typeface="Calibri"/>
                <a:cs typeface="Calibri"/>
              </a:rPr>
              <a:t>IA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38182" y="2483182"/>
            <a:ext cx="98551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ML</a:t>
            </a:r>
            <a:r>
              <a:rPr sz="9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·</a:t>
            </a:r>
            <a:r>
              <a:rPr sz="9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NLP ·</a:t>
            </a:r>
            <a:r>
              <a:rPr sz="9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Prédiction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85856" y="1998626"/>
            <a:ext cx="232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75" dirty="0">
                <a:solidFill>
                  <a:srgbClr val="CAD4E0"/>
                </a:solidFill>
                <a:latin typeface="Calibri"/>
                <a:cs typeface="Calibri"/>
              </a:rPr>
              <a:t>*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40035" y="1439637"/>
            <a:ext cx="1308735" cy="1427480"/>
            <a:chOff x="4640035" y="1439637"/>
            <a:chExt cx="1308735" cy="1427480"/>
          </a:xfrm>
        </p:grpSpPr>
        <p:sp>
          <p:nvSpPr>
            <p:cNvPr id="31" name="object 31"/>
            <p:cNvSpPr/>
            <p:nvPr/>
          </p:nvSpPr>
          <p:spPr>
            <a:xfrm>
              <a:off x="4645075" y="1444677"/>
              <a:ext cx="1298575" cy="1417320"/>
            </a:xfrm>
            <a:custGeom>
              <a:avLst/>
              <a:gdLst/>
              <a:ahLst/>
              <a:cxnLst/>
              <a:rect l="l" t="t" r="r" b="b"/>
              <a:pathLst>
                <a:path w="1298575" h="1417320">
                  <a:moveTo>
                    <a:pt x="1298168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649084" y="1416964"/>
                  </a:lnTo>
                  <a:lnTo>
                    <a:pt x="1298168" y="1416964"/>
                  </a:lnTo>
                  <a:lnTo>
                    <a:pt x="1298168" y="0"/>
                  </a:lnTo>
                  <a:close/>
                </a:path>
              </a:pathLst>
            </a:custGeom>
            <a:solidFill>
              <a:srgbClr val="ECE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45075" y="1444677"/>
              <a:ext cx="1298575" cy="1417320"/>
            </a:xfrm>
            <a:custGeom>
              <a:avLst/>
              <a:gdLst/>
              <a:ahLst/>
              <a:cxnLst/>
              <a:rect l="l" t="t" r="r" b="b"/>
              <a:pathLst>
                <a:path w="1298575" h="1417320">
                  <a:moveTo>
                    <a:pt x="649084" y="1416964"/>
                  </a:moveTo>
                  <a:lnTo>
                    <a:pt x="0" y="1416964"/>
                  </a:lnTo>
                  <a:lnTo>
                    <a:pt x="0" y="0"/>
                  </a:lnTo>
                  <a:lnTo>
                    <a:pt x="1298168" y="0"/>
                  </a:lnTo>
                  <a:lnTo>
                    <a:pt x="1298168" y="1416964"/>
                  </a:lnTo>
                  <a:lnTo>
                    <a:pt x="649084" y="1416964"/>
                  </a:lnTo>
                  <a:close/>
                </a:path>
              </a:pathLst>
            </a:custGeom>
            <a:ln w="1007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01920" y="155412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182879" y="0"/>
                  </a:moveTo>
                  <a:lnTo>
                    <a:pt x="135540" y="6164"/>
                  </a:lnTo>
                  <a:lnTo>
                    <a:pt x="91439" y="24472"/>
                  </a:lnTo>
                  <a:lnTo>
                    <a:pt x="53638" y="53636"/>
                  </a:lnTo>
                  <a:lnTo>
                    <a:pt x="24485" y="91439"/>
                  </a:lnTo>
                  <a:lnTo>
                    <a:pt x="6165" y="135535"/>
                  </a:lnTo>
                  <a:lnTo>
                    <a:pt x="0" y="182879"/>
                  </a:lnTo>
                  <a:lnTo>
                    <a:pt x="1547" y="206781"/>
                  </a:lnTo>
                  <a:lnTo>
                    <a:pt x="13823" y="252840"/>
                  </a:lnTo>
                  <a:lnTo>
                    <a:pt x="37879" y="294195"/>
                  </a:lnTo>
                  <a:lnTo>
                    <a:pt x="71559" y="327878"/>
                  </a:lnTo>
                  <a:lnTo>
                    <a:pt x="112917" y="351936"/>
                  </a:lnTo>
                  <a:lnTo>
                    <a:pt x="158973" y="364212"/>
                  </a:lnTo>
                  <a:lnTo>
                    <a:pt x="182879" y="365759"/>
                  </a:lnTo>
                  <a:lnTo>
                    <a:pt x="206786" y="364212"/>
                  </a:lnTo>
                  <a:lnTo>
                    <a:pt x="252842" y="351936"/>
                  </a:lnTo>
                  <a:lnTo>
                    <a:pt x="294200" y="327878"/>
                  </a:lnTo>
                  <a:lnTo>
                    <a:pt x="327880" y="294195"/>
                  </a:lnTo>
                  <a:lnTo>
                    <a:pt x="351936" y="252840"/>
                  </a:lnTo>
                  <a:lnTo>
                    <a:pt x="364212" y="206781"/>
                  </a:lnTo>
                  <a:lnTo>
                    <a:pt x="365760" y="182879"/>
                  </a:lnTo>
                  <a:lnTo>
                    <a:pt x="364212" y="158971"/>
                  </a:lnTo>
                  <a:lnTo>
                    <a:pt x="351936" y="112912"/>
                  </a:lnTo>
                  <a:lnTo>
                    <a:pt x="327880" y="71559"/>
                  </a:lnTo>
                  <a:lnTo>
                    <a:pt x="294200" y="37874"/>
                  </a:lnTo>
                  <a:lnTo>
                    <a:pt x="252842" y="13817"/>
                  </a:lnTo>
                  <a:lnTo>
                    <a:pt x="206786" y="1546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101920" y="155412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182879"/>
                  </a:moveTo>
                  <a:lnTo>
                    <a:pt x="1547" y="158971"/>
                  </a:lnTo>
                  <a:lnTo>
                    <a:pt x="6165" y="135535"/>
                  </a:lnTo>
                  <a:lnTo>
                    <a:pt x="24485" y="91439"/>
                  </a:lnTo>
                  <a:lnTo>
                    <a:pt x="53638" y="53636"/>
                  </a:lnTo>
                  <a:lnTo>
                    <a:pt x="91439" y="24472"/>
                  </a:lnTo>
                  <a:lnTo>
                    <a:pt x="135540" y="6164"/>
                  </a:lnTo>
                  <a:lnTo>
                    <a:pt x="182879" y="0"/>
                  </a:lnTo>
                  <a:lnTo>
                    <a:pt x="230219" y="6164"/>
                  </a:lnTo>
                  <a:lnTo>
                    <a:pt x="274320" y="24472"/>
                  </a:lnTo>
                  <a:lnTo>
                    <a:pt x="312121" y="53636"/>
                  </a:lnTo>
                  <a:lnTo>
                    <a:pt x="341274" y="91439"/>
                  </a:lnTo>
                  <a:lnTo>
                    <a:pt x="359594" y="135535"/>
                  </a:lnTo>
                  <a:lnTo>
                    <a:pt x="365760" y="182879"/>
                  </a:lnTo>
                  <a:lnTo>
                    <a:pt x="364212" y="206781"/>
                  </a:lnTo>
                  <a:lnTo>
                    <a:pt x="359594" y="230214"/>
                  </a:lnTo>
                  <a:lnTo>
                    <a:pt x="341274" y="274320"/>
                  </a:lnTo>
                  <a:lnTo>
                    <a:pt x="312121" y="312116"/>
                  </a:lnTo>
                  <a:lnTo>
                    <a:pt x="274320" y="341274"/>
                  </a:lnTo>
                  <a:lnTo>
                    <a:pt x="230219" y="359594"/>
                  </a:lnTo>
                  <a:lnTo>
                    <a:pt x="182879" y="365759"/>
                  </a:lnTo>
                  <a:lnTo>
                    <a:pt x="135540" y="359594"/>
                  </a:lnTo>
                  <a:lnTo>
                    <a:pt x="91439" y="341274"/>
                  </a:lnTo>
                  <a:lnTo>
                    <a:pt x="53638" y="312116"/>
                  </a:lnTo>
                  <a:lnTo>
                    <a:pt x="24485" y="274320"/>
                  </a:lnTo>
                  <a:lnTo>
                    <a:pt x="6165" y="230214"/>
                  </a:lnTo>
                  <a:lnTo>
                    <a:pt x="1547" y="206781"/>
                  </a:lnTo>
                  <a:lnTo>
                    <a:pt x="0" y="182879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230698" y="1624941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22177" y="2047940"/>
            <a:ext cx="7423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0E1629"/>
                </a:solidFill>
                <a:latin typeface="Calibri"/>
                <a:cs typeface="Calibri"/>
              </a:rPr>
              <a:t>Dashboards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17579" y="2483182"/>
            <a:ext cx="5537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KPIs</a:t>
            </a:r>
            <a:r>
              <a:rPr sz="9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visuels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948895" y="1998626"/>
            <a:ext cx="232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75" dirty="0">
                <a:solidFill>
                  <a:srgbClr val="CAD4E0"/>
                </a:solidFill>
                <a:latin typeface="Calibri"/>
                <a:cs typeface="Calibri"/>
              </a:rPr>
              <a:t>*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103075" y="1439637"/>
            <a:ext cx="1308735" cy="1427480"/>
            <a:chOff x="6103075" y="1439637"/>
            <a:chExt cx="1308735" cy="1427480"/>
          </a:xfrm>
        </p:grpSpPr>
        <p:sp>
          <p:nvSpPr>
            <p:cNvPr id="40" name="object 40"/>
            <p:cNvSpPr/>
            <p:nvPr/>
          </p:nvSpPr>
          <p:spPr>
            <a:xfrm>
              <a:off x="6108115" y="1444677"/>
              <a:ext cx="1298575" cy="1417320"/>
            </a:xfrm>
            <a:custGeom>
              <a:avLst/>
              <a:gdLst/>
              <a:ahLst/>
              <a:cxnLst/>
              <a:rect l="l" t="t" r="r" b="b"/>
              <a:pathLst>
                <a:path w="1298575" h="1417320">
                  <a:moveTo>
                    <a:pt x="1298168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649084" y="1416964"/>
                  </a:lnTo>
                  <a:lnTo>
                    <a:pt x="1298168" y="1416964"/>
                  </a:lnTo>
                  <a:lnTo>
                    <a:pt x="1298168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108115" y="1444677"/>
              <a:ext cx="1298575" cy="1417320"/>
            </a:xfrm>
            <a:custGeom>
              <a:avLst/>
              <a:gdLst/>
              <a:ahLst/>
              <a:cxnLst/>
              <a:rect l="l" t="t" r="r" b="b"/>
              <a:pathLst>
                <a:path w="1298575" h="1417320">
                  <a:moveTo>
                    <a:pt x="649084" y="1416964"/>
                  </a:moveTo>
                  <a:lnTo>
                    <a:pt x="0" y="1416964"/>
                  </a:lnTo>
                  <a:lnTo>
                    <a:pt x="0" y="0"/>
                  </a:lnTo>
                  <a:lnTo>
                    <a:pt x="1298168" y="0"/>
                  </a:lnTo>
                  <a:lnTo>
                    <a:pt x="1298168" y="1416964"/>
                  </a:lnTo>
                  <a:lnTo>
                    <a:pt x="649084" y="1416964"/>
                  </a:lnTo>
                  <a:close/>
                </a:path>
              </a:pathLst>
            </a:custGeom>
            <a:ln w="1007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564960" y="155412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40" y="6164"/>
                  </a:lnTo>
                  <a:lnTo>
                    <a:pt x="91439" y="24472"/>
                  </a:lnTo>
                  <a:lnTo>
                    <a:pt x="53638" y="53636"/>
                  </a:lnTo>
                  <a:lnTo>
                    <a:pt x="24485" y="91439"/>
                  </a:lnTo>
                  <a:lnTo>
                    <a:pt x="6165" y="135535"/>
                  </a:lnTo>
                  <a:lnTo>
                    <a:pt x="0" y="182879"/>
                  </a:lnTo>
                  <a:lnTo>
                    <a:pt x="1547" y="206781"/>
                  </a:lnTo>
                  <a:lnTo>
                    <a:pt x="13823" y="252840"/>
                  </a:lnTo>
                  <a:lnTo>
                    <a:pt x="37879" y="294195"/>
                  </a:lnTo>
                  <a:lnTo>
                    <a:pt x="71559" y="327878"/>
                  </a:lnTo>
                  <a:lnTo>
                    <a:pt x="112917" y="351936"/>
                  </a:lnTo>
                  <a:lnTo>
                    <a:pt x="158973" y="364212"/>
                  </a:lnTo>
                  <a:lnTo>
                    <a:pt x="182879" y="365759"/>
                  </a:lnTo>
                  <a:lnTo>
                    <a:pt x="206786" y="364212"/>
                  </a:lnTo>
                  <a:lnTo>
                    <a:pt x="252842" y="351936"/>
                  </a:lnTo>
                  <a:lnTo>
                    <a:pt x="294200" y="327878"/>
                  </a:lnTo>
                  <a:lnTo>
                    <a:pt x="327880" y="294195"/>
                  </a:lnTo>
                  <a:lnTo>
                    <a:pt x="351936" y="252840"/>
                  </a:lnTo>
                  <a:lnTo>
                    <a:pt x="364212" y="206781"/>
                  </a:lnTo>
                  <a:lnTo>
                    <a:pt x="365759" y="182879"/>
                  </a:lnTo>
                  <a:lnTo>
                    <a:pt x="364212" y="158971"/>
                  </a:lnTo>
                  <a:lnTo>
                    <a:pt x="351936" y="112912"/>
                  </a:lnTo>
                  <a:lnTo>
                    <a:pt x="327880" y="71559"/>
                  </a:lnTo>
                  <a:lnTo>
                    <a:pt x="294200" y="37874"/>
                  </a:lnTo>
                  <a:lnTo>
                    <a:pt x="252842" y="13817"/>
                  </a:lnTo>
                  <a:lnTo>
                    <a:pt x="206786" y="1546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564960" y="155412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79"/>
                  </a:moveTo>
                  <a:lnTo>
                    <a:pt x="1547" y="158971"/>
                  </a:lnTo>
                  <a:lnTo>
                    <a:pt x="6165" y="135535"/>
                  </a:lnTo>
                  <a:lnTo>
                    <a:pt x="24485" y="91439"/>
                  </a:lnTo>
                  <a:lnTo>
                    <a:pt x="53638" y="53636"/>
                  </a:lnTo>
                  <a:lnTo>
                    <a:pt x="91439" y="24472"/>
                  </a:lnTo>
                  <a:lnTo>
                    <a:pt x="135540" y="6164"/>
                  </a:lnTo>
                  <a:lnTo>
                    <a:pt x="182879" y="0"/>
                  </a:lnTo>
                  <a:lnTo>
                    <a:pt x="230219" y="6164"/>
                  </a:lnTo>
                  <a:lnTo>
                    <a:pt x="274319" y="24472"/>
                  </a:lnTo>
                  <a:lnTo>
                    <a:pt x="312121" y="53636"/>
                  </a:lnTo>
                  <a:lnTo>
                    <a:pt x="341274" y="91439"/>
                  </a:lnTo>
                  <a:lnTo>
                    <a:pt x="359594" y="135535"/>
                  </a:lnTo>
                  <a:lnTo>
                    <a:pt x="365759" y="182879"/>
                  </a:lnTo>
                  <a:lnTo>
                    <a:pt x="364212" y="206781"/>
                  </a:lnTo>
                  <a:lnTo>
                    <a:pt x="359594" y="230214"/>
                  </a:lnTo>
                  <a:lnTo>
                    <a:pt x="341274" y="274320"/>
                  </a:lnTo>
                  <a:lnTo>
                    <a:pt x="312121" y="312116"/>
                  </a:lnTo>
                  <a:lnTo>
                    <a:pt x="274319" y="341274"/>
                  </a:lnTo>
                  <a:lnTo>
                    <a:pt x="230219" y="359594"/>
                  </a:lnTo>
                  <a:lnTo>
                    <a:pt x="182879" y="365759"/>
                  </a:lnTo>
                  <a:lnTo>
                    <a:pt x="135540" y="359594"/>
                  </a:lnTo>
                  <a:lnTo>
                    <a:pt x="91439" y="341274"/>
                  </a:lnTo>
                  <a:lnTo>
                    <a:pt x="53638" y="312116"/>
                  </a:lnTo>
                  <a:lnTo>
                    <a:pt x="24485" y="274320"/>
                  </a:lnTo>
                  <a:lnTo>
                    <a:pt x="6165" y="230214"/>
                  </a:lnTo>
                  <a:lnTo>
                    <a:pt x="1547" y="206781"/>
                  </a:lnTo>
                  <a:lnTo>
                    <a:pt x="0" y="182879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693737" y="1624941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529222" y="2047940"/>
            <a:ext cx="45593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0E1629"/>
                </a:solidFill>
                <a:latin typeface="Calibri"/>
                <a:cs typeface="Calibri"/>
              </a:rPr>
              <a:t>Alertes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192621" y="2483182"/>
            <a:ext cx="11290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Risques</a:t>
            </a:r>
            <a:r>
              <a:rPr sz="9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&amp;</a:t>
            </a:r>
            <a:r>
              <a:rPr sz="9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Opportunités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11935" y="1998626"/>
            <a:ext cx="232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75" dirty="0">
                <a:solidFill>
                  <a:srgbClr val="CAD4E0"/>
                </a:solidFill>
                <a:latin typeface="Calibri"/>
                <a:cs typeface="Calibri"/>
              </a:rPr>
              <a:t>*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566115" y="1439637"/>
            <a:ext cx="1308735" cy="1427480"/>
            <a:chOff x="7566115" y="1439637"/>
            <a:chExt cx="1308735" cy="1427480"/>
          </a:xfrm>
        </p:grpSpPr>
        <p:sp>
          <p:nvSpPr>
            <p:cNvPr id="49" name="object 49"/>
            <p:cNvSpPr/>
            <p:nvPr/>
          </p:nvSpPr>
          <p:spPr>
            <a:xfrm>
              <a:off x="7571155" y="1444677"/>
              <a:ext cx="1298575" cy="1417320"/>
            </a:xfrm>
            <a:custGeom>
              <a:avLst/>
              <a:gdLst/>
              <a:ahLst/>
              <a:cxnLst/>
              <a:rect l="l" t="t" r="r" b="b"/>
              <a:pathLst>
                <a:path w="1298575" h="1417320">
                  <a:moveTo>
                    <a:pt x="1298168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649084" y="1416964"/>
                  </a:lnTo>
                  <a:lnTo>
                    <a:pt x="1298168" y="1416964"/>
                  </a:lnTo>
                  <a:lnTo>
                    <a:pt x="1298168" y="0"/>
                  </a:lnTo>
                  <a:close/>
                </a:path>
              </a:pathLst>
            </a:custGeom>
            <a:solidFill>
              <a:srgbClr val="ECE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71155" y="1444677"/>
              <a:ext cx="1298575" cy="1417320"/>
            </a:xfrm>
            <a:custGeom>
              <a:avLst/>
              <a:gdLst/>
              <a:ahLst/>
              <a:cxnLst/>
              <a:rect l="l" t="t" r="r" b="b"/>
              <a:pathLst>
                <a:path w="1298575" h="1417320">
                  <a:moveTo>
                    <a:pt x="649084" y="1416964"/>
                  </a:moveTo>
                  <a:lnTo>
                    <a:pt x="0" y="1416964"/>
                  </a:lnTo>
                  <a:lnTo>
                    <a:pt x="0" y="0"/>
                  </a:lnTo>
                  <a:lnTo>
                    <a:pt x="1298168" y="0"/>
                  </a:lnTo>
                  <a:lnTo>
                    <a:pt x="1298168" y="1416964"/>
                  </a:lnTo>
                  <a:lnTo>
                    <a:pt x="649084" y="1416964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027999" y="155412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40" y="6164"/>
                  </a:lnTo>
                  <a:lnTo>
                    <a:pt x="91440" y="24472"/>
                  </a:lnTo>
                  <a:lnTo>
                    <a:pt x="53638" y="53636"/>
                  </a:lnTo>
                  <a:lnTo>
                    <a:pt x="24485" y="91439"/>
                  </a:lnTo>
                  <a:lnTo>
                    <a:pt x="6165" y="135535"/>
                  </a:lnTo>
                  <a:lnTo>
                    <a:pt x="0" y="182879"/>
                  </a:lnTo>
                  <a:lnTo>
                    <a:pt x="1547" y="206781"/>
                  </a:lnTo>
                  <a:lnTo>
                    <a:pt x="13823" y="252840"/>
                  </a:lnTo>
                  <a:lnTo>
                    <a:pt x="37879" y="294195"/>
                  </a:lnTo>
                  <a:lnTo>
                    <a:pt x="71559" y="327878"/>
                  </a:lnTo>
                  <a:lnTo>
                    <a:pt x="112917" y="351936"/>
                  </a:lnTo>
                  <a:lnTo>
                    <a:pt x="158973" y="364212"/>
                  </a:lnTo>
                  <a:lnTo>
                    <a:pt x="182879" y="365759"/>
                  </a:lnTo>
                  <a:lnTo>
                    <a:pt x="206786" y="364212"/>
                  </a:lnTo>
                  <a:lnTo>
                    <a:pt x="252842" y="351936"/>
                  </a:lnTo>
                  <a:lnTo>
                    <a:pt x="294200" y="327878"/>
                  </a:lnTo>
                  <a:lnTo>
                    <a:pt x="327880" y="294195"/>
                  </a:lnTo>
                  <a:lnTo>
                    <a:pt x="351936" y="252840"/>
                  </a:lnTo>
                  <a:lnTo>
                    <a:pt x="364212" y="206781"/>
                  </a:lnTo>
                  <a:lnTo>
                    <a:pt x="365760" y="182879"/>
                  </a:lnTo>
                  <a:lnTo>
                    <a:pt x="364212" y="158971"/>
                  </a:lnTo>
                  <a:lnTo>
                    <a:pt x="351936" y="112912"/>
                  </a:lnTo>
                  <a:lnTo>
                    <a:pt x="327880" y="71559"/>
                  </a:lnTo>
                  <a:lnTo>
                    <a:pt x="294200" y="37874"/>
                  </a:lnTo>
                  <a:lnTo>
                    <a:pt x="252842" y="13817"/>
                  </a:lnTo>
                  <a:lnTo>
                    <a:pt x="206786" y="1546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027999" y="155412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79"/>
                  </a:moveTo>
                  <a:lnTo>
                    <a:pt x="1547" y="158971"/>
                  </a:lnTo>
                  <a:lnTo>
                    <a:pt x="6165" y="135535"/>
                  </a:lnTo>
                  <a:lnTo>
                    <a:pt x="24485" y="91439"/>
                  </a:lnTo>
                  <a:lnTo>
                    <a:pt x="53638" y="53636"/>
                  </a:lnTo>
                  <a:lnTo>
                    <a:pt x="91440" y="24472"/>
                  </a:lnTo>
                  <a:lnTo>
                    <a:pt x="135540" y="6164"/>
                  </a:lnTo>
                  <a:lnTo>
                    <a:pt x="182879" y="0"/>
                  </a:lnTo>
                  <a:lnTo>
                    <a:pt x="230219" y="6164"/>
                  </a:lnTo>
                  <a:lnTo>
                    <a:pt x="274320" y="24472"/>
                  </a:lnTo>
                  <a:lnTo>
                    <a:pt x="312121" y="53636"/>
                  </a:lnTo>
                  <a:lnTo>
                    <a:pt x="341274" y="91439"/>
                  </a:lnTo>
                  <a:lnTo>
                    <a:pt x="359594" y="135535"/>
                  </a:lnTo>
                  <a:lnTo>
                    <a:pt x="365760" y="182879"/>
                  </a:lnTo>
                  <a:lnTo>
                    <a:pt x="364212" y="206781"/>
                  </a:lnTo>
                  <a:lnTo>
                    <a:pt x="359594" y="230214"/>
                  </a:lnTo>
                  <a:lnTo>
                    <a:pt x="341274" y="274320"/>
                  </a:lnTo>
                  <a:lnTo>
                    <a:pt x="312121" y="312116"/>
                  </a:lnTo>
                  <a:lnTo>
                    <a:pt x="274320" y="341274"/>
                  </a:lnTo>
                  <a:lnTo>
                    <a:pt x="230219" y="359594"/>
                  </a:lnTo>
                  <a:lnTo>
                    <a:pt x="182879" y="365759"/>
                  </a:lnTo>
                  <a:lnTo>
                    <a:pt x="135540" y="359594"/>
                  </a:lnTo>
                  <a:lnTo>
                    <a:pt x="91440" y="341274"/>
                  </a:lnTo>
                  <a:lnTo>
                    <a:pt x="53638" y="312116"/>
                  </a:lnTo>
                  <a:lnTo>
                    <a:pt x="24485" y="274320"/>
                  </a:lnTo>
                  <a:lnTo>
                    <a:pt x="6165" y="230214"/>
                  </a:lnTo>
                  <a:lnTo>
                    <a:pt x="1547" y="206781"/>
                  </a:lnTo>
                  <a:lnTo>
                    <a:pt x="0" y="182879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8156778" y="1624941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932140" y="2047940"/>
            <a:ext cx="57594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10" dirty="0">
                <a:solidFill>
                  <a:srgbClr val="0E1629"/>
                </a:solidFill>
                <a:latin typeface="Calibri"/>
                <a:cs typeface="Calibri"/>
              </a:rPr>
              <a:t>Rapports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782738" y="2483182"/>
            <a:ext cx="8756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PDF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 automatiques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57200" y="3063242"/>
            <a:ext cx="2697480" cy="1783080"/>
            <a:chOff x="457200" y="3063242"/>
            <a:chExt cx="2697480" cy="1783080"/>
          </a:xfrm>
        </p:grpSpPr>
        <p:sp>
          <p:nvSpPr>
            <p:cNvPr id="57" name="object 57"/>
            <p:cNvSpPr/>
            <p:nvPr/>
          </p:nvSpPr>
          <p:spPr>
            <a:xfrm>
              <a:off x="457200" y="3063242"/>
              <a:ext cx="2697480" cy="1783080"/>
            </a:xfrm>
            <a:custGeom>
              <a:avLst/>
              <a:gdLst/>
              <a:ahLst/>
              <a:cxnLst/>
              <a:rect l="l" t="t" r="r" b="b"/>
              <a:pathLst>
                <a:path w="2697480" h="1783079">
                  <a:moveTo>
                    <a:pt x="2697124" y="0"/>
                  </a:moveTo>
                  <a:lnTo>
                    <a:pt x="0" y="0"/>
                  </a:lnTo>
                  <a:lnTo>
                    <a:pt x="0" y="1782724"/>
                  </a:lnTo>
                  <a:lnTo>
                    <a:pt x="1348562" y="1782724"/>
                  </a:lnTo>
                  <a:lnTo>
                    <a:pt x="2697124" y="178272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94360" y="3437638"/>
              <a:ext cx="2423160" cy="13335"/>
            </a:xfrm>
            <a:custGeom>
              <a:avLst/>
              <a:gdLst/>
              <a:ahLst/>
              <a:cxnLst/>
              <a:rect l="l" t="t" r="r" b="b"/>
              <a:pathLst>
                <a:path w="2423160" h="13335">
                  <a:moveTo>
                    <a:pt x="2422804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1211402" y="13322"/>
                  </a:lnTo>
                  <a:lnTo>
                    <a:pt x="2422804" y="13322"/>
                  </a:lnTo>
                  <a:lnTo>
                    <a:pt x="2422804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94360" y="3437638"/>
              <a:ext cx="2423160" cy="13335"/>
            </a:xfrm>
            <a:custGeom>
              <a:avLst/>
              <a:gdLst/>
              <a:ahLst/>
              <a:cxnLst/>
              <a:rect l="l" t="t" r="r" b="b"/>
              <a:pathLst>
                <a:path w="2423160" h="13335">
                  <a:moveTo>
                    <a:pt x="1211402" y="13322"/>
                  </a:moveTo>
                  <a:lnTo>
                    <a:pt x="0" y="13322"/>
                  </a:lnTo>
                  <a:lnTo>
                    <a:pt x="0" y="0"/>
                  </a:lnTo>
                  <a:lnTo>
                    <a:pt x="2422804" y="0"/>
                  </a:lnTo>
                  <a:lnTo>
                    <a:pt x="2422804" y="13322"/>
                  </a:lnTo>
                  <a:lnTo>
                    <a:pt x="1211402" y="13322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57200" y="3063242"/>
            <a:ext cx="2697480" cy="1783080"/>
          </a:xfrm>
          <a:prstGeom prst="rect">
            <a:avLst/>
          </a:prstGeom>
          <a:ln w="10079">
            <a:solidFill>
              <a:srgbClr val="CAD4E0"/>
            </a:solidFill>
          </a:ln>
        </p:spPr>
        <p:txBody>
          <a:bodyPr vert="horz" wrap="square" lIns="0" tIns="135255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065"/>
              </a:spcBef>
            </a:pPr>
            <a:r>
              <a:rPr sz="1100" b="1" spc="-20" dirty="0">
                <a:solidFill>
                  <a:srgbClr val="0E1629"/>
                </a:solidFill>
                <a:latin typeface="Calibri"/>
                <a:cs typeface="Calibri"/>
              </a:rPr>
              <a:t>Temps</a:t>
            </a:r>
            <a:r>
              <a:rPr sz="1100" b="1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E1629"/>
                </a:solidFill>
                <a:latin typeface="Calibri"/>
                <a:cs typeface="Calibri"/>
              </a:rPr>
              <a:t>d'analyse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>
              <a:latin typeface="Calibri"/>
              <a:cs typeface="Calibri"/>
            </a:endParaRPr>
          </a:p>
          <a:p>
            <a:pPr marL="136525">
              <a:lnSpc>
                <a:spcPct val="100000"/>
              </a:lnSpc>
            </a:pPr>
            <a:r>
              <a:rPr sz="900" b="1" spc="-10" dirty="0">
                <a:solidFill>
                  <a:srgbClr val="63738A"/>
                </a:solidFill>
                <a:latin typeface="Calibri"/>
                <a:cs typeface="Calibri"/>
              </a:rPr>
              <a:t>Avant</a:t>
            </a:r>
            <a:endParaRPr sz="900">
              <a:latin typeface="Calibri"/>
              <a:cs typeface="Calibri"/>
            </a:endParaRPr>
          </a:p>
          <a:p>
            <a:pPr marL="136525">
              <a:lnSpc>
                <a:spcPct val="100000"/>
              </a:lnSpc>
              <a:spcBef>
                <a:spcPts val="815"/>
              </a:spcBef>
            </a:pP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5–6</a:t>
            </a:r>
            <a:r>
              <a:rPr sz="11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jours</a:t>
            </a:r>
            <a:endParaRPr sz="1100">
              <a:latin typeface="Calibri"/>
              <a:cs typeface="Calibri"/>
            </a:endParaRPr>
          </a:p>
          <a:p>
            <a:pPr marL="136525">
              <a:lnSpc>
                <a:spcPct val="100000"/>
              </a:lnSpc>
              <a:spcBef>
                <a:spcPts val="1105"/>
              </a:spcBef>
            </a:pPr>
            <a:r>
              <a:rPr sz="900" b="1" dirty="0">
                <a:solidFill>
                  <a:srgbClr val="2462EA"/>
                </a:solidFill>
                <a:latin typeface="Calibri"/>
                <a:cs typeface="Calibri"/>
              </a:rPr>
              <a:t>Après</a:t>
            </a:r>
            <a:r>
              <a:rPr sz="900" b="1" spc="-5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2462EA"/>
                </a:solidFill>
                <a:latin typeface="Yu Gothic"/>
                <a:cs typeface="Yu Gothic"/>
              </a:rPr>
              <a:t>✓</a:t>
            </a:r>
            <a:endParaRPr sz="900">
              <a:latin typeface="Yu Gothic"/>
              <a:cs typeface="Yu Gothic"/>
            </a:endParaRPr>
          </a:p>
          <a:p>
            <a:pPr marL="136525">
              <a:lnSpc>
                <a:spcPct val="100000"/>
              </a:lnSpc>
              <a:spcBef>
                <a:spcPts val="815"/>
              </a:spcBef>
            </a:pPr>
            <a:r>
              <a:rPr sz="1100" b="1" dirty="0">
                <a:solidFill>
                  <a:srgbClr val="2462EA"/>
                </a:solidFill>
                <a:latin typeface="Calibri"/>
                <a:cs typeface="Calibri"/>
              </a:rPr>
              <a:t>&lt;</a:t>
            </a:r>
            <a:r>
              <a:rPr sz="1100" b="1" spc="-2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462EA"/>
                </a:solidFill>
                <a:latin typeface="Calibri"/>
                <a:cs typeface="Calibri"/>
              </a:rPr>
              <a:t>1 </a:t>
            </a:r>
            <a:r>
              <a:rPr sz="1100" b="1" spc="-10" dirty="0">
                <a:solidFill>
                  <a:srgbClr val="2462EA"/>
                </a:solidFill>
                <a:latin typeface="Calibri"/>
                <a:cs typeface="Calibri"/>
              </a:rPr>
              <a:t>heure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310204" y="3063242"/>
            <a:ext cx="2697480" cy="1783080"/>
            <a:chOff x="3310204" y="3063242"/>
            <a:chExt cx="2697480" cy="1783080"/>
          </a:xfrm>
        </p:grpSpPr>
        <p:sp>
          <p:nvSpPr>
            <p:cNvPr id="62" name="object 62"/>
            <p:cNvSpPr/>
            <p:nvPr/>
          </p:nvSpPr>
          <p:spPr>
            <a:xfrm>
              <a:off x="3310204" y="3063242"/>
              <a:ext cx="2697480" cy="1783080"/>
            </a:xfrm>
            <a:custGeom>
              <a:avLst/>
              <a:gdLst/>
              <a:ahLst/>
              <a:cxnLst/>
              <a:rect l="l" t="t" r="r" b="b"/>
              <a:pathLst>
                <a:path w="2697479" h="1783079">
                  <a:moveTo>
                    <a:pt x="2697111" y="0"/>
                  </a:moveTo>
                  <a:lnTo>
                    <a:pt x="0" y="0"/>
                  </a:lnTo>
                  <a:lnTo>
                    <a:pt x="0" y="1782724"/>
                  </a:lnTo>
                  <a:lnTo>
                    <a:pt x="1348549" y="1782724"/>
                  </a:lnTo>
                  <a:lnTo>
                    <a:pt x="2697111" y="1782724"/>
                  </a:lnTo>
                  <a:lnTo>
                    <a:pt x="26971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447364" y="3437638"/>
              <a:ext cx="2423160" cy="13335"/>
            </a:xfrm>
            <a:custGeom>
              <a:avLst/>
              <a:gdLst/>
              <a:ahLst/>
              <a:cxnLst/>
              <a:rect l="l" t="t" r="r" b="b"/>
              <a:pathLst>
                <a:path w="2423160" h="13335">
                  <a:moveTo>
                    <a:pt x="2422791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1211389" y="13322"/>
                  </a:lnTo>
                  <a:lnTo>
                    <a:pt x="2422791" y="13322"/>
                  </a:lnTo>
                  <a:lnTo>
                    <a:pt x="2422791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447364" y="3437638"/>
              <a:ext cx="2423160" cy="13335"/>
            </a:xfrm>
            <a:custGeom>
              <a:avLst/>
              <a:gdLst/>
              <a:ahLst/>
              <a:cxnLst/>
              <a:rect l="l" t="t" r="r" b="b"/>
              <a:pathLst>
                <a:path w="2423160" h="13335">
                  <a:moveTo>
                    <a:pt x="1211389" y="13322"/>
                  </a:moveTo>
                  <a:lnTo>
                    <a:pt x="0" y="13322"/>
                  </a:lnTo>
                  <a:lnTo>
                    <a:pt x="0" y="0"/>
                  </a:lnTo>
                  <a:lnTo>
                    <a:pt x="2422791" y="0"/>
                  </a:lnTo>
                  <a:lnTo>
                    <a:pt x="2422791" y="13322"/>
                  </a:lnTo>
                  <a:lnTo>
                    <a:pt x="1211389" y="13322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3310204" y="3063242"/>
            <a:ext cx="2697480" cy="1783080"/>
          </a:xfrm>
          <a:prstGeom prst="rect">
            <a:avLst/>
          </a:prstGeom>
          <a:ln w="10079">
            <a:solidFill>
              <a:srgbClr val="CAD4E0"/>
            </a:solidFill>
          </a:ln>
        </p:spPr>
        <p:txBody>
          <a:bodyPr vert="horz" wrap="square" lIns="0" tIns="13525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1065"/>
              </a:spcBef>
            </a:pPr>
            <a:r>
              <a:rPr sz="1100" b="1" dirty="0">
                <a:solidFill>
                  <a:srgbClr val="0E1629"/>
                </a:solidFill>
                <a:latin typeface="Calibri"/>
                <a:cs typeface="Calibri"/>
              </a:rPr>
              <a:t>Sources</a:t>
            </a:r>
            <a:r>
              <a:rPr sz="1100" b="1" spc="-3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E1629"/>
                </a:solidFill>
                <a:latin typeface="Calibri"/>
                <a:cs typeface="Calibri"/>
              </a:rPr>
              <a:t>couvertes</a:t>
            </a:r>
            <a:endParaRPr sz="1100">
              <a:latin typeface="Calibri"/>
              <a:cs typeface="Calibri"/>
            </a:endParaRPr>
          </a:p>
          <a:p>
            <a:pPr marL="136525" marR="2015489">
              <a:lnSpc>
                <a:spcPct val="179600"/>
              </a:lnSpc>
              <a:spcBef>
                <a:spcPts val="605"/>
              </a:spcBef>
            </a:pPr>
            <a:r>
              <a:rPr sz="900" b="1" spc="-10" dirty="0">
                <a:solidFill>
                  <a:srgbClr val="63738A"/>
                </a:solidFill>
                <a:latin typeface="Calibri"/>
                <a:cs typeface="Calibri"/>
              </a:rPr>
              <a:t>Avant</a:t>
            </a:r>
            <a:r>
              <a:rPr sz="900" b="1" spc="50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Manuelle </a:t>
            </a:r>
            <a:r>
              <a:rPr sz="900" b="1" dirty="0">
                <a:solidFill>
                  <a:srgbClr val="7B39EC"/>
                </a:solidFill>
                <a:latin typeface="Calibri"/>
                <a:cs typeface="Calibri"/>
              </a:rPr>
              <a:t>Après</a:t>
            </a:r>
            <a:r>
              <a:rPr sz="900" b="1" spc="-5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7B39EC"/>
                </a:solidFill>
                <a:latin typeface="Yu Gothic"/>
                <a:cs typeface="Yu Gothic"/>
              </a:rPr>
              <a:t>✓</a:t>
            </a:r>
            <a:endParaRPr sz="900">
              <a:latin typeface="Yu Gothic"/>
              <a:cs typeface="Yu Gothic"/>
            </a:endParaRPr>
          </a:p>
          <a:p>
            <a:pPr marL="137160">
              <a:lnSpc>
                <a:spcPct val="100000"/>
              </a:lnSpc>
              <a:spcBef>
                <a:spcPts val="815"/>
              </a:spcBef>
            </a:pPr>
            <a:r>
              <a:rPr sz="1100" b="1" dirty="0">
                <a:solidFill>
                  <a:srgbClr val="7B39EC"/>
                </a:solidFill>
                <a:latin typeface="Calibri"/>
                <a:cs typeface="Calibri"/>
              </a:rPr>
              <a:t>50+</a:t>
            </a:r>
            <a:r>
              <a:rPr sz="1100" b="1" spc="-3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7B39EC"/>
                </a:solidFill>
                <a:latin typeface="Calibri"/>
                <a:cs typeface="Calibri"/>
              </a:rPr>
              <a:t>sources</a:t>
            </a:r>
            <a:r>
              <a:rPr sz="1100" b="1" spc="-1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7B39EC"/>
                </a:solidFill>
                <a:latin typeface="Calibri"/>
                <a:cs typeface="Calibri"/>
              </a:rPr>
              <a:t>automatiques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6163195" y="3063242"/>
            <a:ext cx="2697480" cy="1783080"/>
            <a:chOff x="6163195" y="3063242"/>
            <a:chExt cx="2697480" cy="1783080"/>
          </a:xfrm>
        </p:grpSpPr>
        <p:sp>
          <p:nvSpPr>
            <p:cNvPr id="67" name="object 67"/>
            <p:cNvSpPr/>
            <p:nvPr/>
          </p:nvSpPr>
          <p:spPr>
            <a:xfrm>
              <a:off x="6163195" y="3063242"/>
              <a:ext cx="2697480" cy="1783080"/>
            </a:xfrm>
            <a:custGeom>
              <a:avLst/>
              <a:gdLst/>
              <a:ahLst/>
              <a:cxnLst/>
              <a:rect l="l" t="t" r="r" b="b"/>
              <a:pathLst>
                <a:path w="2697479" h="1783079">
                  <a:moveTo>
                    <a:pt x="2697124" y="0"/>
                  </a:moveTo>
                  <a:lnTo>
                    <a:pt x="0" y="0"/>
                  </a:lnTo>
                  <a:lnTo>
                    <a:pt x="0" y="1782724"/>
                  </a:lnTo>
                  <a:lnTo>
                    <a:pt x="1348562" y="1782724"/>
                  </a:lnTo>
                  <a:lnTo>
                    <a:pt x="2697124" y="178272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300355" y="3437638"/>
              <a:ext cx="2423160" cy="13335"/>
            </a:xfrm>
            <a:custGeom>
              <a:avLst/>
              <a:gdLst/>
              <a:ahLst/>
              <a:cxnLst/>
              <a:rect l="l" t="t" r="r" b="b"/>
              <a:pathLst>
                <a:path w="2423159" h="13335">
                  <a:moveTo>
                    <a:pt x="2422804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1211402" y="13322"/>
                  </a:lnTo>
                  <a:lnTo>
                    <a:pt x="2422804" y="13322"/>
                  </a:lnTo>
                  <a:lnTo>
                    <a:pt x="242280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300355" y="3437638"/>
              <a:ext cx="2423160" cy="13335"/>
            </a:xfrm>
            <a:custGeom>
              <a:avLst/>
              <a:gdLst/>
              <a:ahLst/>
              <a:cxnLst/>
              <a:rect l="l" t="t" r="r" b="b"/>
              <a:pathLst>
                <a:path w="2423159" h="13335">
                  <a:moveTo>
                    <a:pt x="1211402" y="13322"/>
                  </a:moveTo>
                  <a:lnTo>
                    <a:pt x="0" y="13322"/>
                  </a:lnTo>
                  <a:lnTo>
                    <a:pt x="0" y="0"/>
                  </a:lnTo>
                  <a:lnTo>
                    <a:pt x="2422804" y="0"/>
                  </a:lnTo>
                  <a:lnTo>
                    <a:pt x="2422804" y="13322"/>
                  </a:lnTo>
                  <a:lnTo>
                    <a:pt x="1211402" y="13322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6163195" y="3063242"/>
            <a:ext cx="2697480" cy="1783080"/>
          </a:xfrm>
          <a:prstGeom prst="rect">
            <a:avLst/>
          </a:prstGeom>
          <a:ln w="10079">
            <a:solidFill>
              <a:srgbClr val="CAD4E0"/>
            </a:solidFill>
          </a:ln>
        </p:spPr>
        <p:txBody>
          <a:bodyPr vert="horz" wrap="square" lIns="0" tIns="13525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1065"/>
              </a:spcBef>
            </a:pPr>
            <a:r>
              <a:rPr sz="1100" b="1" dirty="0">
                <a:solidFill>
                  <a:srgbClr val="0E1629"/>
                </a:solidFill>
                <a:latin typeface="Calibri"/>
                <a:cs typeface="Calibri"/>
              </a:rPr>
              <a:t>Signaux</a:t>
            </a:r>
            <a:r>
              <a:rPr sz="1100" b="1" spc="-3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E1629"/>
                </a:solidFill>
                <a:latin typeface="Calibri"/>
                <a:cs typeface="Calibri"/>
              </a:rPr>
              <a:t>détectés</a:t>
            </a:r>
            <a:endParaRPr sz="1100">
              <a:latin typeface="Calibri"/>
              <a:cs typeface="Calibri"/>
            </a:endParaRPr>
          </a:p>
          <a:p>
            <a:pPr marL="136525" marR="2157730">
              <a:lnSpc>
                <a:spcPct val="179600"/>
              </a:lnSpc>
              <a:spcBef>
                <a:spcPts val="605"/>
              </a:spcBef>
            </a:pPr>
            <a:r>
              <a:rPr sz="900" b="1" spc="-10" dirty="0">
                <a:solidFill>
                  <a:srgbClr val="63738A"/>
                </a:solidFill>
                <a:latin typeface="Calibri"/>
                <a:cs typeface="Calibri"/>
              </a:rPr>
              <a:t>Avant</a:t>
            </a:r>
            <a:r>
              <a:rPr sz="900" b="1" spc="50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Réactif </a:t>
            </a:r>
            <a:r>
              <a:rPr sz="900" b="1" dirty="0">
                <a:solidFill>
                  <a:srgbClr val="0C9387"/>
                </a:solidFill>
                <a:latin typeface="Calibri"/>
                <a:cs typeface="Calibri"/>
              </a:rPr>
              <a:t>Après</a:t>
            </a:r>
            <a:r>
              <a:rPr sz="900" b="1" spc="-5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900" b="1" spc="-160" dirty="0">
                <a:solidFill>
                  <a:srgbClr val="0C9387"/>
                </a:solidFill>
                <a:latin typeface="Yu Gothic"/>
                <a:cs typeface="Yu Gothic"/>
              </a:rPr>
              <a:t>✓</a:t>
            </a:r>
            <a:endParaRPr sz="900">
              <a:latin typeface="Yu Gothic"/>
              <a:cs typeface="Yu Gothic"/>
            </a:endParaRPr>
          </a:p>
          <a:p>
            <a:pPr marL="137160">
              <a:lnSpc>
                <a:spcPct val="100000"/>
              </a:lnSpc>
              <a:spcBef>
                <a:spcPts val="815"/>
              </a:spcBef>
            </a:pPr>
            <a:r>
              <a:rPr sz="1100" b="1" spc="-10" dirty="0">
                <a:solidFill>
                  <a:srgbClr val="0C9387"/>
                </a:solidFill>
                <a:latin typeface="Calibri"/>
                <a:cs typeface="Calibri"/>
              </a:rPr>
              <a:t>Prédictif</a:t>
            </a:r>
            <a:r>
              <a:rPr sz="1100" b="1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C9387"/>
                </a:solidFill>
                <a:latin typeface="Calibri"/>
                <a:cs typeface="Calibri"/>
              </a:rPr>
              <a:t>&amp;</a:t>
            </a:r>
            <a:r>
              <a:rPr sz="1100" b="1" spc="-1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C9387"/>
                </a:solidFill>
                <a:latin typeface="Calibri"/>
                <a:cs typeface="Calibri"/>
              </a:rPr>
              <a:t>temps </a:t>
            </a:r>
            <a:r>
              <a:rPr sz="1100" b="1" spc="-20" dirty="0">
                <a:solidFill>
                  <a:srgbClr val="0C9387"/>
                </a:solidFill>
                <a:latin typeface="Calibri"/>
                <a:cs typeface="Calibri"/>
              </a:rPr>
              <a:t>réel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7F9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6844" y="255602"/>
            <a:ext cx="1828800" cy="237490"/>
          </a:xfrm>
          <a:custGeom>
            <a:avLst/>
            <a:gdLst/>
            <a:ahLst/>
            <a:cxnLst/>
            <a:rect l="l" t="t" r="r" b="b"/>
            <a:pathLst>
              <a:path w="1828800" h="237490">
                <a:moveTo>
                  <a:pt x="1828431" y="0"/>
                </a:moveTo>
                <a:lnTo>
                  <a:pt x="0" y="0"/>
                </a:lnTo>
                <a:lnTo>
                  <a:pt x="0" y="237235"/>
                </a:lnTo>
                <a:lnTo>
                  <a:pt x="914400" y="237235"/>
                </a:lnTo>
                <a:lnTo>
                  <a:pt x="1828431" y="237235"/>
                </a:lnTo>
                <a:lnTo>
                  <a:pt x="1828431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6844" y="255602"/>
            <a:ext cx="1828800" cy="237490"/>
          </a:xfrm>
          <a:prstGeom prst="rect">
            <a:avLst/>
          </a:prstGeom>
          <a:ln w="6479">
            <a:solidFill>
              <a:srgbClr val="2462EA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323215">
              <a:lnSpc>
                <a:spcPct val="100000"/>
              </a:lnSpc>
              <a:spcBef>
                <a:spcPts val="455"/>
              </a:spcBef>
            </a:pP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F</a:t>
            </a:r>
            <a:r>
              <a:rPr sz="800" b="1" spc="-4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O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N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C</a:t>
            </a:r>
            <a:r>
              <a:rPr sz="800" b="1" spc="-2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T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I</a:t>
            </a:r>
            <a:r>
              <a:rPr sz="800" b="1" spc="-3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O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N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N</a:t>
            </a:r>
            <a:r>
              <a:rPr sz="800" b="1" spc="-2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A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L</a:t>
            </a:r>
            <a:r>
              <a:rPr sz="800" b="1" spc="-2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I</a:t>
            </a:r>
            <a:r>
              <a:rPr sz="800" b="1" spc="-4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T</a:t>
            </a:r>
            <a:r>
              <a:rPr sz="800" b="1" spc="-2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É</a:t>
            </a:r>
            <a:r>
              <a:rPr sz="800" b="1" spc="28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0</a:t>
            </a:r>
            <a:r>
              <a:rPr sz="800" b="1" spc="-3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2462EA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144" y="584532"/>
            <a:ext cx="4817745" cy="75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solidFill>
                  <a:srgbClr val="0E1629"/>
                </a:solidFill>
                <a:latin typeface="Calibri"/>
                <a:cs typeface="Calibri"/>
              </a:rPr>
              <a:t>Centralisation</a:t>
            </a:r>
            <a:r>
              <a:rPr sz="2600" b="1" spc="-8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E1629"/>
                </a:solidFill>
                <a:latin typeface="Calibri"/>
                <a:cs typeface="Calibri"/>
              </a:rPr>
              <a:t>des</a:t>
            </a:r>
            <a:r>
              <a:rPr sz="2600" b="1" spc="-6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E1629"/>
                </a:solidFill>
                <a:latin typeface="Calibri"/>
                <a:cs typeface="Calibri"/>
              </a:rPr>
              <a:t>données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Toutes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les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sources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connectées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en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un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seul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entrepôt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structuré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et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sécurisé.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0900" y="1411022"/>
            <a:ext cx="3668395" cy="607060"/>
            <a:chOff x="450900" y="1411022"/>
            <a:chExt cx="3668395" cy="607060"/>
          </a:xfrm>
        </p:grpSpPr>
        <p:sp>
          <p:nvSpPr>
            <p:cNvPr id="7" name="object 7"/>
            <p:cNvSpPr/>
            <p:nvPr/>
          </p:nvSpPr>
          <p:spPr>
            <a:xfrm>
              <a:off x="456844" y="1417322"/>
              <a:ext cx="3657600" cy="594360"/>
            </a:xfrm>
            <a:custGeom>
              <a:avLst/>
              <a:gdLst/>
              <a:ahLst/>
              <a:cxnLst/>
              <a:rect l="l" t="t" r="r" b="b"/>
              <a:pathLst>
                <a:path w="3657600" h="594360">
                  <a:moveTo>
                    <a:pt x="3657231" y="0"/>
                  </a:moveTo>
                  <a:lnTo>
                    <a:pt x="0" y="0"/>
                  </a:lnTo>
                  <a:lnTo>
                    <a:pt x="0" y="594004"/>
                  </a:lnTo>
                  <a:lnTo>
                    <a:pt x="1828800" y="594004"/>
                  </a:lnTo>
                  <a:lnTo>
                    <a:pt x="3657231" y="594004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6844" y="1417322"/>
              <a:ext cx="3657600" cy="594360"/>
            </a:xfrm>
            <a:custGeom>
              <a:avLst/>
              <a:gdLst/>
              <a:ahLst/>
              <a:cxnLst/>
              <a:rect l="l" t="t" r="r" b="b"/>
              <a:pathLst>
                <a:path w="3657600" h="594360">
                  <a:moveTo>
                    <a:pt x="1828800" y="594004"/>
                  </a:moveTo>
                  <a:lnTo>
                    <a:pt x="0" y="594004"/>
                  </a:lnTo>
                  <a:lnTo>
                    <a:pt x="0" y="0"/>
                  </a:lnTo>
                  <a:lnTo>
                    <a:pt x="3657231" y="0"/>
                  </a:lnTo>
                  <a:lnTo>
                    <a:pt x="3657231" y="594004"/>
                  </a:lnTo>
                  <a:lnTo>
                    <a:pt x="1828800" y="594004"/>
                  </a:lnTo>
                  <a:close/>
                </a:path>
              </a:pathLst>
            </a:custGeom>
            <a:ln w="1007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199" y="1417322"/>
              <a:ext cx="45720" cy="594360"/>
            </a:xfrm>
            <a:custGeom>
              <a:avLst/>
              <a:gdLst/>
              <a:ahLst/>
              <a:cxnLst/>
              <a:rect l="l" t="t" r="r" b="b"/>
              <a:pathLst>
                <a:path w="45720" h="594360">
                  <a:moveTo>
                    <a:pt x="45364" y="0"/>
                  </a:moveTo>
                  <a:lnTo>
                    <a:pt x="0" y="0"/>
                  </a:lnTo>
                  <a:lnTo>
                    <a:pt x="0" y="594004"/>
                  </a:lnTo>
                  <a:lnTo>
                    <a:pt x="22682" y="594004"/>
                  </a:lnTo>
                  <a:lnTo>
                    <a:pt x="45364" y="594004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199" y="1417322"/>
              <a:ext cx="45720" cy="594360"/>
            </a:xfrm>
            <a:custGeom>
              <a:avLst/>
              <a:gdLst/>
              <a:ahLst/>
              <a:cxnLst/>
              <a:rect l="l" t="t" r="r" b="b"/>
              <a:pathLst>
                <a:path w="45720" h="594360">
                  <a:moveTo>
                    <a:pt x="22682" y="594004"/>
                  </a:moveTo>
                  <a:lnTo>
                    <a:pt x="0" y="594004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594004"/>
                  </a:lnTo>
                  <a:lnTo>
                    <a:pt x="22682" y="594004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94359" y="1524057"/>
            <a:ext cx="29781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100" spc="75" dirty="0">
                <a:latin typeface="MingLiU_HKSCS-ExtB"/>
                <a:cs typeface="MingLiU_HKSCS-ExtB"/>
              </a:rPr>
              <a:t>🔌</a:t>
            </a:r>
            <a:endParaRPr sz="2100">
              <a:latin typeface="MingLiU_HKSCS-ExtB"/>
              <a:cs typeface="MingLiU_HKSCS-ExtB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8560" y="1404951"/>
            <a:ext cx="2760980" cy="52705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r>
              <a:rPr sz="1150" b="1" dirty="0">
                <a:solidFill>
                  <a:srgbClr val="0E1629"/>
                </a:solidFill>
                <a:latin typeface="Calibri"/>
                <a:cs typeface="Calibri"/>
              </a:rPr>
              <a:t>APIs</a:t>
            </a:r>
            <a:r>
              <a:rPr sz="1150" b="1" spc="-4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0E1629"/>
                </a:solidFill>
                <a:latin typeface="Calibri"/>
                <a:cs typeface="Calibri"/>
              </a:rPr>
              <a:t>financières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Bloomberg,</a:t>
            </a:r>
            <a:r>
              <a:rPr sz="95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Reuters,</a:t>
            </a:r>
            <a:r>
              <a:rPr sz="95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Yahoo</a:t>
            </a:r>
            <a:r>
              <a:rPr sz="95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Finance,</a:t>
            </a:r>
            <a:r>
              <a:rPr sz="95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données</a:t>
            </a:r>
            <a:r>
              <a:rPr sz="950" dirty="0">
                <a:solidFill>
                  <a:srgbClr val="63738A"/>
                </a:solidFill>
                <a:latin typeface="Calibri"/>
                <a:cs typeface="Calibri"/>
              </a:rPr>
              <a:t> temps</a:t>
            </a:r>
            <a:r>
              <a:rPr sz="95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63738A"/>
                </a:solidFill>
                <a:latin typeface="Calibri"/>
                <a:cs typeface="Calibri"/>
              </a:rPr>
              <a:t>réel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0900" y="2096822"/>
            <a:ext cx="3668395" cy="607060"/>
            <a:chOff x="450900" y="2096822"/>
            <a:chExt cx="3668395" cy="607060"/>
          </a:xfrm>
        </p:grpSpPr>
        <p:sp>
          <p:nvSpPr>
            <p:cNvPr id="14" name="object 14"/>
            <p:cNvSpPr/>
            <p:nvPr/>
          </p:nvSpPr>
          <p:spPr>
            <a:xfrm>
              <a:off x="456844" y="2103122"/>
              <a:ext cx="3657600" cy="594360"/>
            </a:xfrm>
            <a:custGeom>
              <a:avLst/>
              <a:gdLst/>
              <a:ahLst/>
              <a:cxnLst/>
              <a:rect l="l" t="t" r="r" b="b"/>
              <a:pathLst>
                <a:path w="3657600" h="594360">
                  <a:moveTo>
                    <a:pt x="3657231" y="0"/>
                  </a:moveTo>
                  <a:lnTo>
                    <a:pt x="0" y="0"/>
                  </a:lnTo>
                  <a:lnTo>
                    <a:pt x="0" y="594004"/>
                  </a:lnTo>
                  <a:lnTo>
                    <a:pt x="1828800" y="594004"/>
                  </a:lnTo>
                  <a:lnTo>
                    <a:pt x="3657231" y="594004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ECE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6844" y="2103122"/>
              <a:ext cx="3657600" cy="594360"/>
            </a:xfrm>
            <a:custGeom>
              <a:avLst/>
              <a:gdLst/>
              <a:ahLst/>
              <a:cxnLst/>
              <a:rect l="l" t="t" r="r" b="b"/>
              <a:pathLst>
                <a:path w="3657600" h="594360">
                  <a:moveTo>
                    <a:pt x="1828800" y="594004"/>
                  </a:moveTo>
                  <a:lnTo>
                    <a:pt x="0" y="594004"/>
                  </a:lnTo>
                  <a:lnTo>
                    <a:pt x="0" y="0"/>
                  </a:lnTo>
                  <a:lnTo>
                    <a:pt x="3657231" y="0"/>
                  </a:lnTo>
                  <a:lnTo>
                    <a:pt x="3657231" y="594004"/>
                  </a:lnTo>
                  <a:lnTo>
                    <a:pt x="1828800" y="594004"/>
                  </a:lnTo>
                  <a:close/>
                </a:path>
              </a:pathLst>
            </a:custGeom>
            <a:ln w="1007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199" y="2103122"/>
              <a:ext cx="45720" cy="594360"/>
            </a:xfrm>
            <a:custGeom>
              <a:avLst/>
              <a:gdLst/>
              <a:ahLst/>
              <a:cxnLst/>
              <a:rect l="l" t="t" r="r" b="b"/>
              <a:pathLst>
                <a:path w="45720" h="594360">
                  <a:moveTo>
                    <a:pt x="45364" y="0"/>
                  </a:moveTo>
                  <a:lnTo>
                    <a:pt x="0" y="0"/>
                  </a:lnTo>
                  <a:lnTo>
                    <a:pt x="0" y="594004"/>
                  </a:lnTo>
                  <a:lnTo>
                    <a:pt x="22682" y="594004"/>
                  </a:lnTo>
                  <a:lnTo>
                    <a:pt x="45364" y="594004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199" y="2103122"/>
              <a:ext cx="45720" cy="594360"/>
            </a:xfrm>
            <a:custGeom>
              <a:avLst/>
              <a:gdLst/>
              <a:ahLst/>
              <a:cxnLst/>
              <a:rect l="l" t="t" r="r" b="b"/>
              <a:pathLst>
                <a:path w="45720" h="594360">
                  <a:moveTo>
                    <a:pt x="22682" y="594004"/>
                  </a:moveTo>
                  <a:lnTo>
                    <a:pt x="0" y="594004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594004"/>
                  </a:lnTo>
                  <a:lnTo>
                    <a:pt x="22682" y="594004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94359" y="2209857"/>
            <a:ext cx="29781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100" spc="75" dirty="0">
                <a:latin typeface="MingLiU_HKSCS-ExtB"/>
                <a:cs typeface="MingLiU_HKSCS-ExtB"/>
              </a:rPr>
              <a:t>📰</a:t>
            </a:r>
            <a:endParaRPr sz="2100">
              <a:latin typeface="MingLiU_HKSCS-ExtB"/>
              <a:cs typeface="MingLiU_HKSCS-ExtB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78560" y="2090752"/>
            <a:ext cx="2517140" cy="52705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r>
              <a:rPr sz="1150" b="1" dirty="0">
                <a:solidFill>
                  <a:srgbClr val="0E1629"/>
                </a:solidFill>
                <a:latin typeface="Calibri"/>
                <a:cs typeface="Calibri"/>
              </a:rPr>
              <a:t>Flux</a:t>
            </a:r>
            <a:r>
              <a:rPr sz="1150" b="1" spc="-2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0E1629"/>
                </a:solidFill>
                <a:latin typeface="Calibri"/>
                <a:cs typeface="Calibri"/>
              </a:rPr>
              <a:t>d'actualités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Presse</a:t>
            </a:r>
            <a:r>
              <a:rPr sz="950" spc="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internationale,</a:t>
            </a:r>
            <a:r>
              <a:rPr sz="950" spc="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communiqués</a:t>
            </a:r>
            <a:r>
              <a:rPr sz="950" spc="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sectoriels,</a:t>
            </a:r>
            <a:r>
              <a:rPr sz="950" spc="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63738A"/>
                </a:solidFill>
                <a:latin typeface="Calibri"/>
                <a:cs typeface="Calibri"/>
              </a:rPr>
              <a:t>RSS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0900" y="2782622"/>
            <a:ext cx="3668395" cy="607060"/>
            <a:chOff x="450900" y="2782622"/>
            <a:chExt cx="3668395" cy="607060"/>
          </a:xfrm>
        </p:grpSpPr>
        <p:sp>
          <p:nvSpPr>
            <p:cNvPr id="21" name="object 21"/>
            <p:cNvSpPr/>
            <p:nvPr/>
          </p:nvSpPr>
          <p:spPr>
            <a:xfrm>
              <a:off x="456844" y="2788922"/>
              <a:ext cx="3657600" cy="594360"/>
            </a:xfrm>
            <a:custGeom>
              <a:avLst/>
              <a:gdLst/>
              <a:ahLst/>
              <a:cxnLst/>
              <a:rect l="l" t="t" r="r" b="b"/>
              <a:pathLst>
                <a:path w="3657600" h="594360">
                  <a:moveTo>
                    <a:pt x="3657231" y="0"/>
                  </a:moveTo>
                  <a:lnTo>
                    <a:pt x="0" y="0"/>
                  </a:lnTo>
                  <a:lnTo>
                    <a:pt x="0" y="594004"/>
                  </a:lnTo>
                  <a:lnTo>
                    <a:pt x="1828800" y="594004"/>
                  </a:lnTo>
                  <a:lnTo>
                    <a:pt x="3657231" y="594004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6844" y="2788922"/>
              <a:ext cx="3657600" cy="594360"/>
            </a:xfrm>
            <a:custGeom>
              <a:avLst/>
              <a:gdLst/>
              <a:ahLst/>
              <a:cxnLst/>
              <a:rect l="l" t="t" r="r" b="b"/>
              <a:pathLst>
                <a:path w="3657600" h="594360">
                  <a:moveTo>
                    <a:pt x="1828800" y="594004"/>
                  </a:moveTo>
                  <a:lnTo>
                    <a:pt x="0" y="594004"/>
                  </a:lnTo>
                  <a:lnTo>
                    <a:pt x="0" y="0"/>
                  </a:lnTo>
                  <a:lnTo>
                    <a:pt x="3657231" y="0"/>
                  </a:lnTo>
                  <a:lnTo>
                    <a:pt x="3657231" y="594004"/>
                  </a:lnTo>
                  <a:lnTo>
                    <a:pt x="1828800" y="594004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199" y="2788922"/>
              <a:ext cx="45720" cy="594360"/>
            </a:xfrm>
            <a:custGeom>
              <a:avLst/>
              <a:gdLst/>
              <a:ahLst/>
              <a:cxnLst/>
              <a:rect l="l" t="t" r="r" b="b"/>
              <a:pathLst>
                <a:path w="45720" h="594360">
                  <a:moveTo>
                    <a:pt x="45364" y="0"/>
                  </a:moveTo>
                  <a:lnTo>
                    <a:pt x="0" y="0"/>
                  </a:lnTo>
                  <a:lnTo>
                    <a:pt x="0" y="594004"/>
                  </a:lnTo>
                  <a:lnTo>
                    <a:pt x="22682" y="594004"/>
                  </a:lnTo>
                  <a:lnTo>
                    <a:pt x="45364" y="594004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7199" y="2788922"/>
              <a:ext cx="45720" cy="594360"/>
            </a:xfrm>
            <a:custGeom>
              <a:avLst/>
              <a:gdLst/>
              <a:ahLst/>
              <a:cxnLst/>
              <a:rect l="l" t="t" r="r" b="b"/>
              <a:pathLst>
                <a:path w="45720" h="594360">
                  <a:moveTo>
                    <a:pt x="22682" y="594004"/>
                  </a:moveTo>
                  <a:lnTo>
                    <a:pt x="0" y="594004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594004"/>
                  </a:lnTo>
                  <a:lnTo>
                    <a:pt x="22682" y="594004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94359" y="2895657"/>
            <a:ext cx="29781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100" spc="75" dirty="0">
                <a:latin typeface="MingLiU_HKSCS-ExtB"/>
                <a:cs typeface="MingLiU_HKSCS-ExtB"/>
              </a:rPr>
              <a:t>📋</a:t>
            </a:r>
            <a:endParaRPr sz="2100">
              <a:latin typeface="MingLiU_HKSCS-ExtB"/>
              <a:cs typeface="MingLiU_HKSCS-ExtB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78560" y="2776552"/>
            <a:ext cx="2599690" cy="52705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r>
              <a:rPr sz="1150" b="1" dirty="0">
                <a:solidFill>
                  <a:srgbClr val="0E1629"/>
                </a:solidFill>
                <a:latin typeface="Calibri"/>
                <a:cs typeface="Calibri"/>
              </a:rPr>
              <a:t>Rapports</a:t>
            </a:r>
            <a:r>
              <a:rPr sz="1150" b="1" spc="-4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150" b="1" spc="-25" dirty="0">
                <a:solidFill>
                  <a:srgbClr val="0E1629"/>
                </a:solidFill>
                <a:latin typeface="Calibri"/>
                <a:cs typeface="Calibri"/>
              </a:rPr>
              <a:t>PDF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Extraction</a:t>
            </a:r>
            <a:r>
              <a:rPr sz="950" spc="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automatique</a:t>
            </a:r>
            <a:r>
              <a:rPr sz="950" spc="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3738A"/>
                </a:solidFill>
                <a:latin typeface="Calibri"/>
                <a:cs typeface="Calibri"/>
              </a:rPr>
              <a:t>des</a:t>
            </a:r>
            <a:r>
              <a:rPr sz="950" spc="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rapports</a:t>
            </a:r>
            <a:r>
              <a:rPr sz="950" spc="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annuels,</a:t>
            </a:r>
            <a:r>
              <a:rPr sz="950" spc="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études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50900" y="3468422"/>
            <a:ext cx="3668395" cy="607060"/>
            <a:chOff x="450900" y="3468422"/>
            <a:chExt cx="3668395" cy="607060"/>
          </a:xfrm>
        </p:grpSpPr>
        <p:sp>
          <p:nvSpPr>
            <p:cNvPr id="28" name="object 28"/>
            <p:cNvSpPr/>
            <p:nvPr/>
          </p:nvSpPr>
          <p:spPr>
            <a:xfrm>
              <a:off x="456844" y="3474721"/>
              <a:ext cx="3657600" cy="594360"/>
            </a:xfrm>
            <a:custGeom>
              <a:avLst/>
              <a:gdLst/>
              <a:ahLst/>
              <a:cxnLst/>
              <a:rect l="l" t="t" r="r" b="b"/>
              <a:pathLst>
                <a:path w="3657600" h="594360">
                  <a:moveTo>
                    <a:pt x="3657231" y="0"/>
                  </a:moveTo>
                  <a:lnTo>
                    <a:pt x="0" y="0"/>
                  </a:lnTo>
                  <a:lnTo>
                    <a:pt x="0" y="594004"/>
                  </a:lnTo>
                  <a:lnTo>
                    <a:pt x="1828800" y="594004"/>
                  </a:lnTo>
                  <a:lnTo>
                    <a:pt x="3657231" y="594004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6844" y="3474721"/>
              <a:ext cx="3657600" cy="594360"/>
            </a:xfrm>
            <a:custGeom>
              <a:avLst/>
              <a:gdLst/>
              <a:ahLst/>
              <a:cxnLst/>
              <a:rect l="l" t="t" r="r" b="b"/>
              <a:pathLst>
                <a:path w="3657600" h="594360">
                  <a:moveTo>
                    <a:pt x="1828800" y="594004"/>
                  </a:moveTo>
                  <a:lnTo>
                    <a:pt x="0" y="594004"/>
                  </a:lnTo>
                  <a:lnTo>
                    <a:pt x="0" y="0"/>
                  </a:lnTo>
                  <a:lnTo>
                    <a:pt x="3657231" y="0"/>
                  </a:lnTo>
                  <a:lnTo>
                    <a:pt x="3657231" y="594004"/>
                  </a:lnTo>
                  <a:lnTo>
                    <a:pt x="1828800" y="594004"/>
                  </a:lnTo>
                  <a:close/>
                </a:path>
              </a:pathLst>
            </a:custGeom>
            <a:ln w="1007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7199" y="3474721"/>
              <a:ext cx="45720" cy="594360"/>
            </a:xfrm>
            <a:custGeom>
              <a:avLst/>
              <a:gdLst/>
              <a:ahLst/>
              <a:cxnLst/>
              <a:rect l="l" t="t" r="r" b="b"/>
              <a:pathLst>
                <a:path w="45720" h="594360">
                  <a:moveTo>
                    <a:pt x="45364" y="0"/>
                  </a:moveTo>
                  <a:lnTo>
                    <a:pt x="0" y="0"/>
                  </a:lnTo>
                  <a:lnTo>
                    <a:pt x="0" y="594004"/>
                  </a:lnTo>
                  <a:lnTo>
                    <a:pt x="22682" y="594004"/>
                  </a:lnTo>
                  <a:lnTo>
                    <a:pt x="45364" y="594004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7199" y="3474721"/>
              <a:ext cx="45720" cy="594360"/>
            </a:xfrm>
            <a:custGeom>
              <a:avLst/>
              <a:gdLst/>
              <a:ahLst/>
              <a:cxnLst/>
              <a:rect l="l" t="t" r="r" b="b"/>
              <a:pathLst>
                <a:path w="45720" h="594360">
                  <a:moveTo>
                    <a:pt x="22682" y="594004"/>
                  </a:moveTo>
                  <a:lnTo>
                    <a:pt x="0" y="594004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594004"/>
                  </a:lnTo>
                  <a:lnTo>
                    <a:pt x="22682" y="594004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94359" y="3581457"/>
            <a:ext cx="29781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100" spc="75" dirty="0">
                <a:latin typeface="MingLiU_HKSCS-ExtB"/>
                <a:cs typeface="MingLiU_HKSCS-ExtB"/>
              </a:rPr>
              <a:t>📈</a:t>
            </a:r>
            <a:endParaRPr sz="2100">
              <a:latin typeface="MingLiU_HKSCS-ExtB"/>
              <a:cs typeface="MingLiU_HKSCS-ExtB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78560" y="3462351"/>
            <a:ext cx="2368550" cy="52705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r>
              <a:rPr sz="1150" b="1" dirty="0">
                <a:solidFill>
                  <a:srgbClr val="0E1629"/>
                </a:solidFill>
                <a:latin typeface="Calibri"/>
                <a:cs typeface="Calibri"/>
              </a:rPr>
              <a:t>Données</a:t>
            </a:r>
            <a:r>
              <a:rPr sz="1150" b="1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0E1629"/>
                </a:solidFill>
                <a:latin typeface="Calibri"/>
                <a:cs typeface="Calibri"/>
              </a:rPr>
              <a:t>de</a:t>
            </a:r>
            <a:r>
              <a:rPr sz="1150" b="1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0E1629"/>
                </a:solidFill>
                <a:latin typeface="Calibri"/>
                <a:cs typeface="Calibri"/>
              </a:rPr>
              <a:t>marché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Cours,</a:t>
            </a:r>
            <a:r>
              <a:rPr sz="95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3738A"/>
                </a:solidFill>
                <a:latin typeface="Calibri"/>
                <a:cs typeface="Calibri"/>
              </a:rPr>
              <a:t>indices,</a:t>
            </a:r>
            <a:r>
              <a:rPr sz="950" spc="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volumes,</a:t>
            </a:r>
            <a:r>
              <a:rPr sz="950" spc="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corrélations</a:t>
            </a:r>
            <a:r>
              <a:rPr sz="950" spc="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sectorielles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50900" y="4154222"/>
            <a:ext cx="3668395" cy="607060"/>
            <a:chOff x="450900" y="4154222"/>
            <a:chExt cx="3668395" cy="607060"/>
          </a:xfrm>
        </p:grpSpPr>
        <p:sp>
          <p:nvSpPr>
            <p:cNvPr id="35" name="object 35"/>
            <p:cNvSpPr/>
            <p:nvPr/>
          </p:nvSpPr>
          <p:spPr>
            <a:xfrm>
              <a:off x="456844" y="4160521"/>
              <a:ext cx="3657600" cy="594360"/>
            </a:xfrm>
            <a:custGeom>
              <a:avLst/>
              <a:gdLst/>
              <a:ahLst/>
              <a:cxnLst/>
              <a:rect l="l" t="t" r="r" b="b"/>
              <a:pathLst>
                <a:path w="3657600" h="594360">
                  <a:moveTo>
                    <a:pt x="3657231" y="0"/>
                  </a:moveTo>
                  <a:lnTo>
                    <a:pt x="0" y="0"/>
                  </a:lnTo>
                  <a:lnTo>
                    <a:pt x="0" y="594004"/>
                  </a:lnTo>
                  <a:lnTo>
                    <a:pt x="1828800" y="594004"/>
                  </a:lnTo>
                  <a:lnTo>
                    <a:pt x="3657231" y="594004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ECE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6844" y="4160521"/>
              <a:ext cx="3657600" cy="594360"/>
            </a:xfrm>
            <a:custGeom>
              <a:avLst/>
              <a:gdLst/>
              <a:ahLst/>
              <a:cxnLst/>
              <a:rect l="l" t="t" r="r" b="b"/>
              <a:pathLst>
                <a:path w="3657600" h="594360">
                  <a:moveTo>
                    <a:pt x="1828800" y="594004"/>
                  </a:moveTo>
                  <a:lnTo>
                    <a:pt x="0" y="594004"/>
                  </a:lnTo>
                  <a:lnTo>
                    <a:pt x="0" y="0"/>
                  </a:lnTo>
                  <a:lnTo>
                    <a:pt x="3657231" y="0"/>
                  </a:lnTo>
                  <a:lnTo>
                    <a:pt x="3657231" y="594004"/>
                  </a:lnTo>
                  <a:lnTo>
                    <a:pt x="1828800" y="594004"/>
                  </a:lnTo>
                  <a:close/>
                </a:path>
              </a:pathLst>
            </a:custGeom>
            <a:ln w="1007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7199" y="4160521"/>
              <a:ext cx="45720" cy="594360"/>
            </a:xfrm>
            <a:custGeom>
              <a:avLst/>
              <a:gdLst/>
              <a:ahLst/>
              <a:cxnLst/>
              <a:rect l="l" t="t" r="r" b="b"/>
              <a:pathLst>
                <a:path w="45720" h="594360">
                  <a:moveTo>
                    <a:pt x="45364" y="0"/>
                  </a:moveTo>
                  <a:lnTo>
                    <a:pt x="0" y="0"/>
                  </a:lnTo>
                  <a:lnTo>
                    <a:pt x="0" y="594004"/>
                  </a:lnTo>
                  <a:lnTo>
                    <a:pt x="22682" y="594004"/>
                  </a:lnTo>
                  <a:lnTo>
                    <a:pt x="45364" y="594004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7199" y="4160521"/>
              <a:ext cx="45720" cy="594360"/>
            </a:xfrm>
            <a:custGeom>
              <a:avLst/>
              <a:gdLst/>
              <a:ahLst/>
              <a:cxnLst/>
              <a:rect l="l" t="t" r="r" b="b"/>
              <a:pathLst>
                <a:path w="45720" h="594360">
                  <a:moveTo>
                    <a:pt x="22682" y="594004"/>
                  </a:moveTo>
                  <a:lnTo>
                    <a:pt x="0" y="594004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594004"/>
                  </a:lnTo>
                  <a:lnTo>
                    <a:pt x="22682" y="594004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94359" y="4267257"/>
            <a:ext cx="29781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100" spc="75" dirty="0">
                <a:latin typeface="MingLiU_HKSCS-ExtB"/>
                <a:cs typeface="MingLiU_HKSCS-ExtB"/>
              </a:rPr>
              <a:t>🗄</a:t>
            </a:r>
            <a:endParaRPr sz="2100">
              <a:latin typeface="MingLiU_HKSCS-ExtB"/>
              <a:cs typeface="MingLiU_HKSCS-ExtB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78560" y="4148151"/>
            <a:ext cx="2418715" cy="52705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r>
              <a:rPr sz="1150" b="1" dirty="0">
                <a:solidFill>
                  <a:srgbClr val="0E1629"/>
                </a:solidFill>
                <a:latin typeface="Calibri"/>
                <a:cs typeface="Calibri"/>
              </a:rPr>
              <a:t>Bases</a:t>
            </a:r>
            <a:r>
              <a:rPr sz="1150" b="1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0E1629"/>
                </a:solidFill>
                <a:latin typeface="Calibri"/>
                <a:cs typeface="Calibri"/>
              </a:rPr>
              <a:t>de</a:t>
            </a:r>
            <a:r>
              <a:rPr sz="1150" b="1" spc="-2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0E1629"/>
                </a:solidFill>
                <a:latin typeface="Calibri"/>
                <a:cs typeface="Calibri"/>
              </a:rPr>
              <a:t>données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r>
              <a:rPr sz="950" dirty="0">
                <a:solidFill>
                  <a:srgbClr val="63738A"/>
                </a:solidFill>
                <a:latin typeface="Calibri"/>
                <a:cs typeface="Calibri"/>
              </a:rPr>
              <a:t>EDGAR,</a:t>
            </a:r>
            <a:r>
              <a:rPr sz="95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3738A"/>
                </a:solidFill>
                <a:latin typeface="Calibri"/>
                <a:cs typeface="Calibri"/>
              </a:rPr>
              <a:t>CNSS,</a:t>
            </a:r>
            <a:r>
              <a:rPr sz="95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3738A"/>
                </a:solidFill>
                <a:latin typeface="Calibri"/>
                <a:cs typeface="Calibri"/>
              </a:rPr>
              <a:t>bases</a:t>
            </a:r>
            <a:r>
              <a:rPr sz="95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nationales</a:t>
            </a:r>
            <a:r>
              <a:rPr sz="95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3738A"/>
                </a:solidFill>
                <a:latin typeface="Calibri"/>
                <a:cs typeface="Calibri"/>
              </a:rPr>
              <a:t>et</a:t>
            </a:r>
            <a:r>
              <a:rPr sz="95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internationales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374984" y="2943265"/>
            <a:ext cx="3937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370" dirty="0">
                <a:solidFill>
                  <a:srgbClr val="2462EA"/>
                </a:solidFill>
                <a:latin typeface="Calibri"/>
                <a:cs typeface="Calibri"/>
              </a:rPr>
              <a:t>➔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022899" y="1346582"/>
            <a:ext cx="3668395" cy="3578860"/>
            <a:chOff x="5022899" y="1346582"/>
            <a:chExt cx="3668395" cy="3578860"/>
          </a:xfrm>
        </p:grpSpPr>
        <p:sp>
          <p:nvSpPr>
            <p:cNvPr id="43" name="object 43"/>
            <p:cNvSpPr/>
            <p:nvPr/>
          </p:nvSpPr>
          <p:spPr>
            <a:xfrm>
              <a:off x="5028844" y="1352882"/>
              <a:ext cx="3657600" cy="3566160"/>
            </a:xfrm>
            <a:custGeom>
              <a:avLst/>
              <a:gdLst/>
              <a:ahLst/>
              <a:cxnLst/>
              <a:rect l="l" t="t" r="r" b="b"/>
              <a:pathLst>
                <a:path w="3657600" h="3566160">
                  <a:moveTo>
                    <a:pt x="3657231" y="0"/>
                  </a:moveTo>
                  <a:lnTo>
                    <a:pt x="0" y="0"/>
                  </a:lnTo>
                  <a:lnTo>
                    <a:pt x="0" y="3565804"/>
                  </a:lnTo>
                  <a:lnTo>
                    <a:pt x="1828800" y="3565804"/>
                  </a:lnTo>
                  <a:lnTo>
                    <a:pt x="3657231" y="3565804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028844" y="1352882"/>
              <a:ext cx="3657600" cy="3566160"/>
            </a:xfrm>
            <a:custGeom>
              <a:avLst/>
              <a:gdLst/>
              <a:ahLst/>
              <a:cxnLst/>
              <a:rect l="l" t="t" r="r" b="b"/>
              <a:pathLst>
                <a:path w="3657600" h="3566160">
                  <a:moveTo>
                    <a:pt x="1828800" y="3565804"/>
                  </a:moveTo>
                  <a:lnTo>
                    <a:pt x="0" y="3565804"/>
                  </a:lnTo>
                  <a:lnTo>
                    <a:pt x="0" y="0"/>
                  </a:lnTo>
                  <a:lnTo>
                    <a:pt x="3657231" y="0"/>
                  </a:lnTo>
                  <a:lnTo>
                    <a:pt x="3657231" y="3565804"/>
                  </a:lnTo>
                  <a:lnTo>
                    <a:pt x="1828800" y="3565804"/>
                  </a:lnTo>
                  <a:close/>
                </a:path>
              </a:pathLst>
            </a:custGeom>
            <a:ln w="1007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029199" y="1352882"/>
              <a:ext cx="45720" cy="3566160"/>
            </a:xfrm>
            <a:custGeom>
              <a:avLst/>
              <a:gdLst/>
              <a:ahLst/>
              <a:cxnLst/>
              <a:rect l="l" t="t" r="r" b="b"/>
              <a:pathLst>
                <a:path w="45720" h="3566160">
                  <a:moveTo>
                    <a:pt x="22682" y="3565804"/>
                  </a:moveTo>
                  <a:lnTo>
                    <a:pt x="0" y="3565804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3565804"/>
                  </a:lnTo>
                  <a:lnTo>
                    <a:pt x="22682" y="3565804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166004" y="2678762"/>
              <a:ext cx="3383279" cy="13335"/>
            </a:xfrm>
            <a:custGeom>
              <a:avLst/>
              <a:gdLst/>
              <a:ahLst/>
              <a:cxnLst/>
              <a:rect l="l" t="t" r="r" b="b"/>
              <a:pathLst>
                <a:path w="3383279" h="13335">
                  <a:moveTo>
                    <a:pt x="3382911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1691639" y="13322"/>
                  </a:lnTo>
                  <a:lnTo>
                    <a:pt x="3382911" y="13322"/>
                  </a:lnTo>
                  <a:lnTo>
                    <a:pt x="3382911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166004" y="2678762"/>
              <a:ext cx="3383279" cy="13335"/>
            </a:xfrm>
            <a:custGeom>
              <a:avLst/>
              <a:gdLst/>
              <a:ahLst/>
              <a:cxnLst/>
              <a:rect l="l" t="t" r="r" b="b"/>
              <a:pathLst>
                <a:path w="3383279" h="13335">
                  <a:moveTo>
                    <a:pt x="1691639" y="13322"/>
                  </a:moveTo>
                  <a:lnTo>
                    <a:pt x="0" y="13322"/>
                  </a:lnTo>
                  <a:lnTo>
                    <a:pt x="0" y="0"/>
                  </a:lnTo>
                  <a:lnTo>
                    <a:pt x="3382911" y="0"/>
                  </a:lnTo>
                  <a:lnTo>
                    <a:pt x="3382911" y="13322"/>
                  </a:lnTo>
                  <a:lnTo>
                    <a:pt x="1691639" y="13322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60059" y="2773262"/>
              <a:ext cx="122403" cy="12240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0059" y="3102662"/>
              <a:ext cx="122403" cy="12240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0059" y="3431338"/>
              <a:ext cx="122403" cy="12240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60059" y="3761106"/>
              <a:ext cx="122403" cy="122391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60059" y="4090137"/>
              <a:ext cx="122403" cy="122403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5080864" y="1445266"/>
            <a:ext cx="3600450" cy="284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5"/>
              </a:spcBef>
            </a:pPr>
            <a:r>
              <a:rPr sz="3050" spc="120" dirty="0">
                <a:latin typeface="MingLiU_HKSCS-ExtB"/>
                <a:cs typeface="MingLiU_HKSCS-ExtB"/>
              </a:rPr>
              <a:t>🏛</a:t>
            </a:r>
            <a:endParaRPr sz="3050">
              <a:latin typeface="MingLiU_HKSCS-ExtB"/>
              <a:cs typeface="MingLiU_HKSCS-ExtB"/>
            </a:endParaRPr>
          </a:p>
          <a:p>
            <a:pPr marL="85090">
              <a:lnSpc>
                <a:spcPct val="100000"/>
              </a:lnSpc>
              <a:spcBef>
                <a:spcPts val="1445"/>
              </a:spcBef>
            </a:pPr>
            <a:r>
              <a:rPr sz="1500" b="1" spc="-10" dirty="0">
                <a:solidFill>
                  <a:srgbClr val="0E1629"/>
                </a:solidFill>
                <a:latin typeface="Calibri"/>
                <a:cs typeface="Calibri"/>
              </a:rPr>
              <a:t>Entrepôt</a:t>
            </a:r>
            <a:r>
              <a:rPr sz="1500" b="1" spc="-3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E1629"/>
                </a:solidFill>
                <a:latin typeface="Calibri"/>
                <a:cs typeface="Calibri"/>
              </a:rPr>
              <a:t>Central</a:t>
            </a:r>
            <a:endParaRPr sz="1500">
              <a:latin typeface="Calibri"/>
              <a:cs typeface="Calibri"/>
            </a:endParaRPr>
          </a:p>
          <a:p>
            <a:pPr marL="85090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462EA"/>
                </a:solidFill>
                <a:latin typeface="Calibri"/>
                <a:cs typeface="Calibri"/>
              </a:rPr>
              <a:t>Data</a:t>
            </a:r>
            <a:r>
              <a:rPr sz="11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462EA"/>
                </a:solidFill>
                <a:latin typeface="Calibri"/>
                <a:cs typeface="Calibri"/>
              </a:rPr>
              <a:t>Lake</a:t>
            </a:r>
            <a:r>
              <a:rPr sz="11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462EA"/>
                </a:solidFill>
                <a:latin typeface="Calibri"/>
                <a:cs typeface="Calibri"/>
              </a:rPr>
              <a:t>Unifié</a:t>
            </a:r>
            <a:endParaRPr sz="1100">
              <a:latin typeface="Calibri"/>
              <a:cs typeface="Calibri"/>
            </a:endParaRPr>
          </a:p>
          <a:p>
            <a:pPr marL="267970" marR="1758314">
              <a:lnSpc>
                <a:spcPct val="196400"/>
              </a:lnSpc>
              <a:spcBef>
                <a:spcPts val="285"/>
              </a:spcBef>
            </a:pP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Normalisation</a:t>
            </a:r>
            <a:r>
              <a:rPr sz="1100" spc="-4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automatique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Déduplication</a:t>
            </a:r>
            <a:r>
              <a:rPr sz="1100" spc="-6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intelligente Versioning</a:t>
            </a:r>
            <a:r>
              <a:rPr sz="1100" spc="-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des 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données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Sécurité</a:t>
            </a:r>
            <a:r>
              <a:rPr sz="110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&amp;</a:t>
            </a:r>
            <a:r>
              <a:rPr sz="110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chiffrement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Accès</a:t>
            </a:r>
            <a:r>
              <a:rPr sz="110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temps</a:t>
            </a:r>
            <a:r>
              <a:rPr sz="1100" spc="-20" dirty="0">
                <a:solidFill>
                  <a:srgbClr val="334054"/>
                </a:solidFill>
                <a:latin typeface="Calibri"/>
                <a:cs typeface="Calibri"/>
              </a:rPr>
              <a:t> réel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55602"/>
            <a:ext cx="1828800" cy="237490"/>
          </a:xfrm>
          <a:custGeom>
            <a:avLst/>
            <a:gdLst/>
            <a:ahLst/>
            <a:cxnLst/>
            <a:rect l="l" t="t" r="r" b="b"/>
            <a:pathLst>
              <a:path w="1828800" h="237490">
                <a:moveTo>
                  <a:pt x="1828431" y="0"/>
                </a:moveTo>
                <a:lnTo>
                  <a:pt x="0" y="0"/>
                </a:lnTo>
                <a:lnTo>
                  <a:pt x="0" y="237235"/>
                </a:lnTo>
                <a:lnTo>
                  <a:pt x="914400" y="237235"/>
                </a:lnTo>
                <a:lnTo>
                  <a:pt x="1828431" y="237235"/>
                </a:lnTo>
                <a:lnTo>
                  <a:pt x="1828431" y="0"/>
                </a:lnTo>
                <a:close/>
              </a:path>
            </a:pathLst>
          </a:custGeom>
          <a:solidFill>
            <a:srgbClr val="ECE8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6844" y="255602"/>
            <a:ext cx="1828800" cy="237490"/>
          </a:xfrm>
          <a:prstGeom prst="rect">
            <a:avLst/>
          </a:prstGeom>
          <a:ln w="6479">
            <a:solidFill>
              <a:srgbClr val="7B39E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323215">
              <a:lnSpc>
                <a:spcPct val="100000"/>
              </a:lnSpc>
              <a:spcBef>
                <a:spcPts val="455"/>
              </a:spcBef>
            </a:pP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F</a:t>
            </a:r>
            <a:r>
              <a:rPr sz="800" b="1" spc="-4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C</a:t>
            </a:r>
            <a:r>
              <a:rPr sz="800" b="1" spc="-2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I</a:t>
            </a:r>
            <a:r>
              <a:rPr sz="800" b="1" spc="-3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sz="800" b="1" spc="-2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A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L</a:t>
            </a:r>
            <a:r>
              <a:rPr sz="800" b="1" spc="-2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I</a:t>
            </a:r>
            <a:r>
              <a:rPr sz="800" b="1" spc="-4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sz="800" b="1" spc="-2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É</a:t>
            </a:r>
            <a:r>
              <a:rPr sz="800" b="1" spc="28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0</a:t>
            </a:r>
            <a:r>
              <a:rPr sz="800" b="1" spc="-3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7B39EC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Analyse</a:t>
            </a:r>
            <a:r>
              <a:rPr spc="-80" dirty="0"/>
              <a:t> </a:t>
            </a:r>
            <a:r>
              <a:rPr spc="-10" dirty="0"/>
              <a:t>sectorielle</a:t>
            </a:r>
            <a:r>
              <a:rPr spc="-75" dirty="0"/>
              <a:t> </a:t>
            </a:r>
            <a:r>
              <a:rPr dirty="0"/>
              <a:t>en</a:t>
            </a:r>
            <a:r>
              <a:rPr spc="-65" dirty="0"/>
              <a:t> </a:t>
            </a:r>
            <a:r>
              <a:rPr dirty="0"/>
              <a:t>temps</a:t>
            </a:r>
            <a:r>
              <a:rPr spc="-80" dirty="0"/>
              <a:t> </a:t>
            </a:r>
            <a:r>
              <a:rPr spc="-20" dirty="0"/>
              <a:t>réel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144" y="1113385"/>
            <a:ext cx="527748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Des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KPIs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dynamiques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qui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évoluent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avec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le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marché,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sans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intervention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manuelle.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0900" y="1410666"/>
            <a:ext cx="3211195" cy="1109980"/>
            <a:chOff x="450900" y="1410666"/>
            <a:chExt cx="3211195" cy="1109980"/>
          </a:xfrm>
        </p:grpSpPr>
        <p:sp>
          <p:nvSpPr>
            <p:cNvPr id="7" name="object 7"/>
            <p:cNvSpPr/>
            <p:nvPr/>
          </p:nvSpPr>
          <p:spPr>
            <a:xfrm>
              <a:off x="456844" y="1416966"/>
              <a:ext cx="3200400" cy="1097280"/>
            </a:xfrm>
            <a:custGeom>
              <a:avLst/>
              <a:gdLst/>
              <a:ahLst/>
              <a:cxnLst/>
              <a:rect l="l" t="t" r="r" b="b"/>
              <a:pathLst>
                <a:path w="3200400" h="1097280">
                  <a:moveTo>
                    <a:pt x="3200031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1600200" y="1096911"/>
                  </a:lnTo>
                  <a:lnTo>
                    <a:pt x="3200031" y="1096911"/>
                  </a:lnTo>
                  <a:lnTo>
                    <a:pt x="3200031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6844" y="1416966"/>
              <a:ext cx="3200400" cy="1097280"/>
            </a:xfrm>
            <a:custGeom>
              <a:avLst/>
              <a:gdLst/>
              <a:ahLst/>
              <a:cxnLst/>
              <a:rect l="l" t="t" r="r" b="b"/>
              <a:pathLst>
                <a:path w="3200400" h="1097280">
                  <a:moveTo>
                    <a:pt x="1600200" y="1096911"/>
                  </a:moveTo>
                  <a:lnTo>
                    <a:pt x="0" y="1096911"/>
                  </a:lnTo>
                  <a:lnTo>
                    <a:pt x="0" y="0"/>
                  </a:lnTo>
                  <a:lnTo>
                    <a:pt x="3200031" y="0"/>
                  </a:lnTo>
                  <a:lnTo>
                    <a:pt x="3200031" y="1096911"/>
                  </a:lnTo>
                  <a:lnTo>
                    <a:pt x="1600200" y="1096911"/>
                  </a:lnTo>
                  <a:close/>
                </a:path>
              </a:pathLst>
            </a:custGeom>
            <a:ln w="1007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199" y="1416966"/>
              <a:ext cx="45720" cy="1097280"/>
            </a:xfrm>
            <a:custGeom>
              <a:avLst/>
              <a:gdLst/>
              <a:ahLst/>
              <a:cxnLst/>
              <a:rect l="l" t="t" r="r" b="b"/>
              <a:pathLst>
                <a:path w="45720" h="1097280">
                  <a:moveTo>
                    <a:pt x="45364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22682" y="1096911"/>
                  </a:lnTo>
                  <a:lnTo>
                    <a:pt x="45364" y="1096911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199" y="1416966"/>
              <a:ext cx="45720" cy="1097280"/>
            </a:xfrm>
            <a:custGeom>
              <a:avLst/>
              <a:gdLst/>
              <a:ahLst/>
              <a:cxnLst/>
              <a:rect l="l" t="t" r="r" b="b"/>
              <a:pathLst>
                <a:path w="45720" h="1097280">
                  <a:moveTo>
                    <a:pt x="22682" y="1096911"/>
                  </a:moveTo>
                  <a:lnTo>
                    <a:pt x="0" y="1096911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096911"/>
                  </a:lnTo>
                  <a:lnTo>
                    <a:pt x="22682" y="1096911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8864" y="1506659"/>
            <a:ext cx="3143250" cy="88265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Croissance</a:t>
            </a:r>
            <a:r>
              <a:rPr sz="1100" spc="-4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Sectorielle</a:t>
            </a:r>
            <a:endParaRPr sz="1100">
              <a:latin typeface="Calibri"/>
              <a:cs typeface="Calibri"/>
            </a:endParaRPr>
          </a:p>
          <a:p>
            <a:pPr marL="112395">
              <a:lnSpc>
                <a:spcPct val="100000"/>
              </a:lnSpc>
              <a:spcBef>
                <a:spcPts val="450"/>
              </a:spcBef>
            </a:pPr>
            <a:r>
              <a:rPr sz="2600" b="1" spc="-10" dirty="0">
                <a:solidFill>
                  <a:srgbClr val="2462EA"/>
                </a:solidFill>
                <a:latin typeface="Calibri"/>
                <a:cs typeface="Calibri"/>
              </a:rPr>
              <a:t>+12,4%</a:t>
            </a:r>
            <a:endParaRPr sz="2600">
              <a:latin typeface="Calibri"/>
              <a:cs typeface="Calibri"/>
            </a:endParaRPr>
          </a:p>
          <a:p>
            <a:pPr marL="112395">
              <a:lnSpc>
                <a:spcPct val="100000"/>
              </a:lnSpc>
              <a:spcBef>
                <a:spcPts val="530"/>
              </a:spcBef>
            </a:pPr>
            <a:r>
              <a:rPr sz="950" dirty="0">
                <a:solidFill>
                  <a:srgbClr val="63738A"/>
                </a:solidFill>
                <a:latin typeface="Calibri"/>
                <a:cs typeface="Calibri"/>
              </a:rPr>
              <a:t>vs.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trimestre</a:t>
            </a:r>
            <a:r>
              <a:rPr sz="95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précédent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0900" y="2645106"/>
            <a:ext cx="3211195" cy="1109980"/>
            <a:chOff x="450900" y="2645106"/>
            <a:chExt cx="3211195" cy="1109980"/>
          </a:xfrm>
        </p:grpSpPr>
        <p:sp>
          <p:nvSpPr>
            <p:cNvPr id="13" name="object 13"/>
            <p:cNvSpPr/>
            <p:nvPr/>
          </p:nvSpPr>
          <p:spPr>
            <a:xfrm>
              <a:off x="456844" y="2651406"/>
              <a:ext cx="3200400" cy="1097280"/>
            </a:xfrm>
            <a:custGeom>
              <a:avLst/>
              <a:gdLst/>
              <a:ahLst/>
              <a:cxnLst/>
              <a:rect l="l" t="t" r="r" b="b"/>
              <a:pathLst>
                <a:path w="3200400" h="1097279">
                  <a:moveTo>
                    <a:pt x="3200031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1600200" y="1096911"/>
                  </a:lnTo>
                  <a:lnTo>
                    <a:pt x="3200031" y="1096911"/>
                  </a:lnTo>
                  <a:lnTo>
                    <a:pt x="3200031" y="0"/>
                  </a:lnTo>
                  <a:close/>
                </a:path>
              </a:pathLst>
            </a:custGeom>
            <a:solidFill>
              <a:srgbClr val="ECE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6844" y="2651406"/>
              <a:ext cx="3200400" cy="1097280"/>
            </a:xfrm>
            <a:custGeom>
              <a:avLst/>
              <a:gdLst/>
              <a:ahLst/>
              <a:cxnLst/>
              <a:rect l="l" t="t" r="r" b="b"/>
              <a:pathLst>
                <a:path w="3200400" h="1097279">
                  <a:moveTo>
                    <a:pt x="1600200" y="1096911"/>
                  </a:moveTo>
                  <a:lnTo>
                    <a:pt x="0" y="1096911"/>
                  </a:lnTo>
                  <a:lnTo>
                    <a:pt x="0" y="0"/>
                  </a:lnTo>
                  <a:lnTo>
                    <a:pt x="3200031" y="0"/>
                  </a:lnTo>
                  <a:lnTo>
                    <a:pt x="3200031" y="1096911"/>
                  </a:lnTo>
                  <a:lnTo>
                    <a:pt x="1600200" y="1096911"/>
                  </a:lnTo>
                  <a:close/>
                </a:path>
              </a:pathLst>
            </a:custGeom>
            <a:ln w="1007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199" y="2651406"/>
              <a:ext cx="45720" cy="1097280"/>
            </a:xfrm>
            <a:custGeom>
              <a:avLst/>
              <a:gdLst/>
              <a:ahLst/>
              <a:cxnLst/>
              <a:rect l="l" t="t" r="r" b="b"/>
              <a:pathLst>
                <a:path w="45720" h="1097279">
                  <a:moveTo>
                    <a:pt x="45364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22682" y="1096911"/>
                  </a:lnTo>
                  <a:lnTo>
                    <a:pt x="45364" y="1096911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199" y="2651406"/>
              <a:ext cx="45720" cy="1097280"/>
            </a:xfrm>
            <a:custGeom>
              <a:avLst/>
              <a:gdLst/>
              <a:ahLst/>
              <a:cxnLst/>
              <a:rect l="l" t="t" r="r" b="b"/>
              <a:pathLst>
                <a:path w="45720" h="1097279">
                  <a:moveTo>
                    <a:pt x="22682" y="1096911"/>
                  </a:moveTo>
                  <a:lnTo>
                    <a:pt x="0" y="1096911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096911"/>
                  </a:lnTo>
                  <a:lnTo>
                    <a:pt x="22682" y="1096911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50900" y="3879546"/>
            <a:ext cx="3211195" cy="1109980"/>
            <a:chOff x="450900" y="3879546"/>
            <a:chExt cx="3211195" cy="1109980"/>
          </a:xfrm>
        </p:grpSpPr>
        <p:sp>
          <p:nvSpPr>
            <p:cNvPr id="18" name="object 18"/>
            <p:cNvSpPr/>
            <p:nvPr/>
          </p:nvSpPr>
          <p:spPr>
            <a:xfrm>
              <a:off x="456844" y="3885846"/>
              <a:ext cx="3200400" cy="1097280"/>
            </a:xfrm>
            <a:custGeom>
              <a:avLst/>
              <a:gdLst/>
              <a:ahLst/>
              <a:cxnLst/>
              <a:rect l="l" t="t" r="r" b="b"/>
              <a:pathLst>
                <a:path w="3200400" h="1097279">
                  <a:moveTo>
                    <a:pt x="3200031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1600200" y="1096911"/>
                  </a:lnTo>
                  <a:lnTo>
                    <a:pt x="3200031" y="1096911"/>
                  </a:lnTo>
                  <a:lnTo>
                    <a:pt x="3200031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6844" y="3885846"/>
              <a:ext cx="3200400" cy="1097280"/>
            </a:xfrm>
            <a:custGeom>
              <a:avLst/>
              <a:gdLst/>
              <a:ahLst/>
              <a:cxnLst/>
              <a:rect l="l" t="t" r="r" b="b"/>
              <a:pathLst>
                <a:path w="3200400" h="1097279">
                  <a:moveTo>
                    <a:pt x="1600200" y="1096911"/>
                  </a:moveTo>
                  <a:lnTo>
                    <a:pt x="0" y="1096911"/>
                  </a:lnTo>
                  <a:lnTo>
                    <a:pt x="0" y="0"/>
                  </a:lnTo>
                  <a:lnTo>
                    <a:pt x="3200031" y="0"/>
                  </a:lnTo>
                  <a:lnTo>
                    <a:pt x="3200031" y="1096911"/>
                  </a:lnTo>
                  <a:lnTo>
                    <a:pt x="1600200" y="1096911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199" y="3885846"/>
              <a:ext cx="45720" cy="1097280"/>
            </a:xfrm>
            <a:custGeom>
              <a:avLst/>
              <a:gdLst/>
              <a:ahLst/>
              <a:cxnLst/>
              <a:rect l="l" t="t" r="r" b="b"/>
              <a:pathLst>
                <a:path w="45720" h="1097279">
                  <a:moveTo>
                    <a:pt x="45364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22682" y="1096911"/>
                  </a:lnTo>
                  <a:lnTo>
                    <a:pt x="45364" y="1096911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199" y="3885846"/>
              <a:ext cx="45720" cy="1097280"/>
            </a:xfrm>
            <a:custGeom>
              <a:avLst/>
              <a:gdLst/>
              <a:ahLst/>
              <a:cxnLst/>
              <a:rect l="l" t="t" r="r" b="b"/>
              <a:pathLst>
                <a:path w="45720" h="1097279">
                  <a:moveTo>
                    <a:pt x="22682" y="1096911"/>
                  </a:moveTo>
                  <a:lnTo>
                    <a:pt x="0" y="1096911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096911"/>
                  </a:lnTo>
                  <a:lnTo>
                    <a:pt x="22682" y="1096911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08864" y="2741098"/>
            <a:ext cx="3143250" cy="211709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285"/>
              </a:spcBef>
            </a:pP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Investissements</a:t>
            </a:r>
            <a:r>
              <a:rPr sz="1100" spc="7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entrants</a:t>
            </a:r>
            <a:endParaRPr sz="1100">
              <a:latin typeface="Calibri"/>
              <a:cs typeface="Calibri"/>
            </a:endParaRPr>
          </a:p>
          <a:p>
            <a:pPr marL="112395">
              <a:lnSpc>
                <a:spcPct val="100000"/>
              </a:lnSpc>
              <a:spcBef>
                <a:spcPts val="450"/>
              </a:spcBef>
            </a:pPr>
            <a:r>
              <a:rPr sz="2600" b="1" dirty="0">
                <a:solidFill>
                  <a:srgbClr val="7B39EC"/>
                </a:solidFill>
                <a:latin typeface="Calibri"/>
                <a:cs typeface="Calibri"/>
              </a:rPr>
              <a:t>2,8</a:t>
            </a:r>
            <a:r>
              <a:rPr sz="2600" b="1" spc="-5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7B39EC"/>
                </a:solidFill>
                <a:latin typeface="Calibri"/>
                <a:cs typeface="Calibri"/>
              </a:rPr>
              <a:t>Mrd</a:t>
            </a:r>
            <a:r>
              <a:rPr sz="2600" b="1" spc="-4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2600" b="1" spc="-50" dirty="0">
                <a:solidFill>
                  <a:srgbClr val="7B39EC"/>
                </a:solidFill>
                <a:latin typeface="Calibri"/>
                <a:cs typeface="Calibri"/>
              </a:rPr>
              <a:t>$</a:t>
            </a:r>
            <a:endParaRPr sz="2600">
              <a:latin typeface="Calibri"/>
              <a:cs typeface="Calibri"/>
            </a:endParaRPr>
          </a:p>
          <a:p>
            <a:pPr marL="112395">
              <a:lnSpc>
                <a:spcPct val="100000"/>
              </a:lnSpc>
              <a:spcBef>
                <a:spcPts val="530"/>
              </a:spcBef>
            </a:pP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secteur</a:t>
            </a:r>
            <a:r>
              <a:rPr sz="950" spc="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technologie</a:t>
            </a:r>
            <a:r>
              <a:rPr sz="950" spc="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63738A"/>
                </a:solidFill>
                <a:latin typeface="Calibri"/>
                <a:cs typeface="Calibri"/>
              </a:rPr>
              <a:t>MAR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950">
              <a:latin typeface="Calibri"/>
              <a:cs typeface="Calibri"/>
            </a:endParaRPr>
          </a:p>
          <a:p>
            <a:pPr marL="112395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Indice</a:t>
            </a:r>
            <a:r>
              <a:rPr sz="11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38A"/>
                </a:solidFill>
                <a:latin typeface="Calibri"/>
                <a:cs typeface="Calibri"/>
              </a:rPr>
              <a:t>de</a:t>
            </a:r>
            <a:r>
              <a:rPr sz="11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38A"/>
                </a:solidFill>
                <a:latin typeface="Calibri"/>
                <a:cs typeface="Calibri"/>
              </a:rPr>
              <a:t>risque</a:t>
            </a:r>
            <a:endParaRPr sz="1100">
              <a:latin typeface="Calibri"/>
              <a:cs typeface="Calibri"/>
            </a:endParaRPr>
          </a:p>
          <a:p>
            <a:pPr marL="112395">
              <a:lnSpc>
                <a:spcPct val="100000"/>
              </a:lnSpc>
              <a:spcBef>
                <a:spcPts val="445"/>
              </a:spcBef>
            </a:pPr>
            <a:r>
              <a:rPr sz="2600" b="1" dirty="0">
                <a:solidFill>
                  <a:srgbClr val="0C9387"/>
                </a:solidFill>
                <a:latin typeface="Calibri"/>
                <a:cs typeface="Calibri"/>
              </a:rPr>
              <a:t>3,2</a:t>
            </a:r>
            <a:r>
              <a:rPr sz="2600" b="1" spc="-1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C9387"/>
                </a:solidFill>
                <a:latin typeface="Calibri"/>
                <a:cs typeface="Calibri"/>
              </a:rPr>
              <a:t>/</a:t>
            </a:r>
            <a:r>
              <a:rPr sz="2600" b="1" spc="-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2600" b="1" spc="-35" dirty="0">
                <a:solidFill>
                  <a:srgbClr val="0C9387"/>
                </a:solidFill>
                <a:latin typeface="Calibri"/>
                <a:cs typeface="Calibri"/>
              </a:rPr>
              <a:t>10</a:t>
            </a:r>
            <a:endParaRPr sz="2600">
              <a:latin typeface="Calibri"/>
              <a:cs typeface="Calibri"/>
            </a:endParaRPr>
          </a:p>
          <a:p>
            <a:pPr marL="112395">
              <a:lnSpc>
                <a:spcPct val="100000"/>
              </a:lnSpc>
              <a:spcBef>
                <a:spcPts val="530"/>
              </a:spcBef>
            </a:pPr>
            <a:r>
              <a:rPr sz="950" dirty="0">
                <a:solidFill>
                  <a:srgbClr val="63738A"/>
                </a:solidFill>
                <a:latin typeface="Calibri"/>
                <a:cs typeface="Calibri"/>
              </a:rPr>
              <a:t>Score</a:t>
            </a:r>
            <a:r>
              <a:rPr sz="95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63738A"/>
                </a:solidFill>
                <a:latin typeface="Calibri"/>
                <a:cs typeface="Calibri"/>
              </a:rPr>
              <a:t>de</a:t>
            </a:r>
            <a:r>
              <a:rPr sz="95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63738A"/>
                </a:solidFill>
                <a:latin typeface="Calibri"/>
                <a:cs typeface="Calibri"/>
              </a:rPr>
              <a:t>stabilité globale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38993" y="1373367"/>
            <a:ext cx="4856480" cy="3667760"/>
            <a:chOff x="3838993" y="1373367"/>
            <a:chExt cx="4856480" cy="3667760"/>
          </a:xfrm>
        </p:grpSpPr>
        <p:sp>
          <p:nvSpPr>
            <p:cNvPr id="24" name="object 24"/>
            <p:cNvSpPr/>
            <p:nvPr/>
          </p:nvSpPr>
          <p:spPr>
            <a:xfrm>
              <a:off x="3844073" y="1378447"/>
              <a:ext cx="4846320" cy="3657600"/>
            </a:xfrm>
            <a:custGeom>
              <a:avLst/>
              <a:gdLst/>
              <a:ahLst/>
              <a:cxnLst/>
              <a:rect l="l" t="t" r="r" b="b"/>
              <a:pathLst>
                <a:path w="4846320" h="3657600">
                  <a:moveTo>
                    <a:pt x="4845964" y="0"/>
                  </a:moveTo>
                  <a:lnTo>
                    <a:pt x="0" y="0"/>
                  </a:lnTo>
                  <a:lnTo>
                    <a:pt x="0" y="3657231"/>
                  </a:lnTo>
                  <a:lnTo>
                    <a:pt x="2423160" y="3657231"/>
                  </a:lnTo>
                  <a:lnTo>
                    <a:pt x="4845964" y="3657231"/>
                  </a:lnTo>
                  <a:lnTo>
                    <a:pt x="48459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44073" y="1378447"/>
              <a:ext cx="4846320" cy="3657600"/>
            </a:xfrm>
            <a:custGeom>
              <a:avLst/>
              <a:gdLst/>
              <a:ahLst/>
              <a:cxnLst/>
              <a:rect l="l" t="t" r="r" b="b"/>
              <a:pathLst>
                <a:path w="4846320" h="3657600">
                  <a:moveTo>
                    <a:pt x="2423160" y="3657231"/>
                  </a:moveTo>
                  <a:lnTo>
                    <a:pt x="0" y="3657231"/>
                  </a:lnTo>
                  <a:lnTo>
                    <a:pt x="0" y="0"/>
                  </a:lnTo>
                  <a:lnTo>
                    <a:pt x="4845964" y="0"/>
                  </a:lnTo>
                  <a:lnTo>
                    <a:pt x="4845964" y="3657231"/>
                  </a:lnTo>
                  <a:lnTo>
                    <a:pt x="2423160" y="3657231"/>
                  </a:lnTo>
                  <a:close/>
                </a:path>
              </a:pathLst>
            </a:custGeom>
            <a:ln w="1007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004640" y="1494271"/>
            <a:ext cx="22752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E1629"/>
                </a:solidFill>
                <a:latin typeface="Calibri"/>
                <a:cs typeface="Calibri"/>
              </a:rPr>
              <a:t>Évolution</a:t>
            </a:r>
            <a:r>
              <a:rPr sz="1100" b="1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E1629"/>
                </a:solidFill>
                <a:latin typeface="Calibri"/>
                <a:cs typeface="Calibri"/>
              </a:rPr>
              <a:t>sectorielle</a:t>
            </a:r>
            <a:r>
              <a:rPr sz="1100" b="1" spc="-2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E1629"/>
                </a:solidFill>
                <a:latin typeface="Calibri"/>
                <a:cs typeface="Calibri"/>
              </a:rPr>
              <a:t>—</a:t>
            </a:r>
            <a:r>
              <a:rPr sz="1100" b="1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E1629"/>
                </a:solidFill>
                <a:latin typeface="Calibri"/>
                <a:cs typeface="Calibri"/>
              </a:rPr>
              <a:t>6</a:t>
            </a:r>
            <a:r>
              <a:rPr sz="1100" b="1" spc="-2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E1629"/>
                </a:solidFill>
                <a:latin typeface="Calibri"/>
                <a:cs typeface="Calibri"/>
              </a:rPr>
              <a:t>derniers</a:t>
            </a:r>
            <a:r>
              <a:rPr sz="1100" b="1" spc="-2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0E1629"/>
                </a:solidFill>
                <a:latin typeface="Calibri"/>
                <a:cs typeface="Calibri"/>
              </a:rPr>
              <a:t>mois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062779" y="2663457"/>
            <a:ext cx="4109085" cy="2115820"/>
            <a:chOff x="4062779" y="2663457"/>
            <a:chExt cx="4109085" cy="2115820"/>
          </a:xfrm>
        </p:grpSpPr>
        <p:sp>
          <p:nvSpPr>
            <p:cNvPr id="28" name="object 28"/>
            <p:cNvSpPr/>
            <p:nvPr/>
          </p:nvSpPr>
          <p:spPr>
            <a:xfrm>
              <a:off x="4069079" y="3675597"/>
              <a:ext cx="530225" cy="1097280"/>
            </a:xfrm>
            <a:custGeom>
              <a:avLst/>
              <a:gdLst/>
              <a:ahLst/>
              <a:cxnLst/>
              <a:rect l="l" t="t" r="r" b="b"/>
              <a:pathLst>
                <a:path w="530225" h="1097279">
                  <a:moveTo>
                    <a:pt x="529920" y="0"/>
                  </a:moveTo>
                  <a:lnTo>
                    <a:pt x="0" y="0"/>
                  </a:lnTo>
                  <a:lnTo>
                    <a:pt x="0" y="1096924"/>
                  </a:lnTo>
                  <a:lnTo>
                    <a:pt x="264960" y="1096924"/>
                  </a:lnTo>
                  <a:lnTo>
                    <a:pt x="529920" y="1096924"/>
                  </a:lnTo>
                  <a:lnTo>
                    <a:pt x="529920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69079" y="3675597"/>
              <a:ext cx="530225" cy="1097280"/>
            </a:xfrm>
            <a:custGeom>
              <a:avLst/>
              <a:gdLst/>
              <a:ahLst/>
              <a:cxnLst/>
              <a:rect l="l" t="t" r="r" b="b"/>
              <a:pathLst>
                <a:path w="530225" h="1097279">
                  <a:moveTo>
                    <a:pt x="264960" y="1096924"/>
                  </a:moveTo>
                  <a:lnTo>
                    <a:pt x="0" y="1096924"/>
                  </a:lnTo>
                  <a:lnTo>
                    <a:pt x="0" y="0"/>
                  </a:lnTo>
                  <a:lnTo>
                    <a:pt x="529920" y="0"/>
                  </a:lnTo>
                  <a:lnTo>
                    <a:pt x="529920" y="1096924"/>
                  </a:lnTo>
                  <a:lnTo>
                    <a:pt x="264960" y="1096924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82235" y="3401277"/>
              <a:ext cx="530225" cy="1371600"/>
            </a:xfrm>
            <a:custGeom>
              <a:avLst/>
              <a:gdLst/>
              <a:ahLst/>
              <a:cxnLst/>
              <a:rect l="l" t="t" r="r" b="b"/>
              <a:pathLst>
                <a:path w="530225" h="1371600">
                  <a:moveTo>
                    <a:pt x="529920" y="0"/>
                  </a:moveTo>
                  <a:lnTo>
                    <a:pt x="0" y="0"/>
                  </a:lnTo>
                  <a:lnTo>
                    <a:pt x="0" y="1371244"/>
                  </a:lnTo>
                  <a:lnTo>
                    <a:pt x="264960" y="1371244"/>
                  </a:lnTo>
                  <a:lnTo>
                    <a:pt x="529920" y="1371244"/>
                  </a:lnTo>
                  <a:lnTo>
                    <a:pt x="529920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82235" y="3401277"/>
              <a:ext cx="530225" cy="1371600"/>
            </a:xfrm>
            <a:custGeom>
              <a:avLst/>
              <a:gdLst/>
              <a:ahLst/>
              <a:cxnLst/>
              <a:rect l="l" t="t" r="r" b="b"/>
              <a:pathLst>
                <a:path w="530225" h="1371600">
                  <a:moveTo>
                    <a:pt x="264960" y="1371244"/>
                  </a:moveTo>
                  <a:lnTo>
                    <a:pt x="0" y="1371244"/>
                  </a:lnTo>
                  <a:lnTo>
                    <a:pt x="0" y="0"/>
                  </a:lnTo>
                  <a:lnTo>
                    <a:pt x="529920" y="0"/>
                  </a:lnTo>
                  <a:lnTo>
                    <a:pt x="529920" y="1371244"/>
                  </a:lnTo>
                  <a:lnTo>
                    <a:pt x="264960" y="1371244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495404" y="3767037"/>
              <a:ext cx="530225" cy="1005840"/>
            </a:xfrm>
            <a:custGeom>
              <a:avLst/>
              <a:gdLst/>
              <a:ahLst/>
              <a:cxnLst/>
              <a:rect l="l" t="t" r="r" b="b"/>
              <a:pathLst>
                <a:path w="530225" h="1005839">
                  <a:moveTo>
                    <a:pt x="529920" y="0"/>
                  </a:moveTo>
                  <a:lnTo>
                    <a:pt x="0" y="0"/>
                  </a:lnTo>
                  <a:lnTo>
                    <a:pt x="0" y="1005484"/>
                  </a:lnTo>
                  <a:lnTo>
                    <a:pt x="264960" y="1005484"/>
                  </a:lnTo>
                  <a:lnTo>
                    <a:pt x="529920" y="1005484"/>
                  </a:lnTo>
                  <a:lnTo>
                    <a:pt x="52992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95404" y="3767037"/>
              <a:ext cx="530225" cy="1005840"/>
            </a:xfrm>
            <a:custGeom>
              <a:avLst/>
              <a:gdLst/>
              <a:ahLst/>
              <a:cxnLst/>
              <a:rect l="l" t="t" r="r" b="b"/>
              <a:pathLst>
                <a:path w="530225" h="1005839">
                  <a:moveTo>
                    <a:pt x="264960" y="1005484"/>
                  </a:moveTo>
                  <a:lnTo>
                    <a:pt x="0" y="1005484"/>
                  </a:lnTo>
                  <a:lnTo>
                    <a:pt x="0" y="0"/>
                  </a:lnTo>
                  <a:lnTo>
                    <a:pt x="529920" y="0"/>
                  </a:lnTo>
                  <a:lnTo>
                    <a:pt x="529920" y="1005484"/>
                  </a:lnTo>
                  <a:lnTo>
                    <a:pt x="264960" y="1005484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208915" y="2944077"/>
              <a:ext cx="530225" cy="1828800"/>
            </a:xfrm>
            <a:custGeom>
              <a:avLst/>
              <a:gdLst/>
              <a:ahLst/>
              <a:cxnLst/>
              <a:rect l="l" t="t" r="r" b="b"/>
              <a:pathLst>
                <a:path w="530225" h="1828800">
                  <a:moveTo>
                    <a:pt x="529920" y="0"/>
                  </a:moveTo>
                  <a:lnTo>
                    <a:pt x="0" y="0"/>
                  </a:lnTo>
                  <a:lnTo>
                    <a:pt x="0" y="1828444"/>
                  </a:lnTo>
                  <a:lnTo>
                    <a:pt x="264960" y="1828444"/>
                  </a:lnTo>
                  <a:lnTo>
                    <a:pt x="529920" y="1828444"/>
                  </a:lnTo>
                  <a:lnTo>
                    <a:pt x="529920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08915" y="2944077"/>
              <a:ext cx="530225" cy="1828800"/>
            </a:xfrm>
            <a:custGeom>
              <a:avLst/>
              <a:gdLst/>
              <a:ahLst/>
              <a:cxnLst/>
              <a:rect l="l" t="t" r="r" b="b"/>
              <a:pathLst>
                <a:path w="530225" h="1828800">
                  <a:moveTo>
                    <a:pt x="264960" y="1828444"/>
                  </a:moveTo>
                  <a:lnTo>
                    <a:pt x="0" y="1828444"/>
                  </a:lnTo>
                  <a:lnTo>
                    <a:pt x="0" y="0"/>
                  </a:lnTo>
                  <a:lnTo>
                    <a:pt x="529920" y="0"/>
                  </a:lnTo>
                  <a:lnTo>
                    <a:pt x="529920" y="1828444"/>
                  </a:lnTo>
                  <a:lnTo>
                    <a:pt x="264960" y="1828444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22084" y="3309837"/>
              <a:ext cx="530225" cy="1463040"/>
            </a:xfrm>
            <a:custGeom>
              <a:avLst/>
              <a:gdLst/>
              <a:ahLst/>
              <a:cxnLst/>
              <a:rect l="l" t="t" r="r" b="b"/>
              <a:pathLst>
                <a:path w="530225" h="1463039">
                  <a:moveTo>
                    <a:pt x="529920" y="0"/>
                  </a:moveTo>
                  <a:lnTo>
                    <a:pt x="0" y="0"/>
                  </a:lnTo>
                  <a:lnTo>
                    <a:pt x="0" y="1462684"/>
                  </a:lnTo>
                  <a:lnTo>
                    <a:pt x="264960" y="1462684"/>
                  </a:lnTo>
                  <a:lnTo>
                    <a:pt x="529920" y="1462684"/>
                  </a:lnTo>
                  <a:lnTo>
                    <a:pt x="52992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22084" y="3309837"/>
              <a:ext cx="530225" cy="1463040"/>
            </a:xfrm>
            <a:custGeom>
              <a:avLst/>
              <a:gdLst/>
              <a:ahLst/>
              <a:cxnLst/>
              <a:rect l="l" t="t" r="r" b="b"/>
              <a:pathLst>
                <a:path w="530225" h="1463039">
                  <a:moveTo>
                    <a:pt x="264960" y="1462684"/>
                  </a:moveTo>
                  <a:lnTo>
                    <a:pt x="0" y="1462684"/>
                  </a:lnTo>
                  <a:lnTo>
                    <a:pt x="0" y="0"/>
                  </a:lnTo>
                  <a:lnTo>
                    <a:pt x="529920" y="0"/>
                  </a:lnTo>
                  <a:lnTo>
                    <a:pt x="529920" y="1462684"/>
                  </a:lnTo>
                  <a:lnTo>
                    <a:pt x="264960" y="1462684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635239" y="2669757"/>
              <a:ext cx="530225" cy="2103120"/>
            </a:xfrm>
            <a:custGeom>
              <a:avLst/>
              <a:gdLst/>
              <a:ahLst/>
              <a:cxnLst/>
              <a:rect l="l" t="t" r="r" b="b"/>
              <a:pathLst>
                <a:path w="530225" h="2103120">
                  <a:moveTo>
                    <a:pt x="529920" y="0"/>
                  </a:moveTo>
                  <a:lnTo>
                    <a:pt x="0" y="0"/>
                  </a:lnTo>
                  <a:lnTo>
                    <a:pt x="0" y="2102764"/>
                  </a:lnTo>
                  <a:lnTo>
                    <a:pt x="264960" y="2102764"/>
                  </a:lnTo>
                  <a:lnTo>
                    <a:pt x="529920" y="2102764"/>
                  </a:lnTo>
                  <a:lnTo>
                    <a:pt x="529920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635239" y="2669757"/>
              <a:ext cx="530225" cy="2103120"/>
            </a:xfrm>
            <a:custGeom>
              <a:avLst/>
              <a:gdLst/>
              <a:ahLst/>
              <a:cxnLst/>
              <a:rect l="l" t="t" r="r" b="b"/>
              <a:pathLst>
                <a:path w="530225" h="2103120">
                  <a:moveTo>
                    <a:pt x="264960" y="2102764"/>
                  </a:moveTo>
                  <a:lnTo>
                    <a:pt x="0" y="2102764"/>
                  </a:lnTo>
                  <a:lnTo>
                    <a:pt x="0" y="0"/>
                  </a:lnTo>
                  <a:lnTo>
                    <a:pt x="529920" y="0"/>
                  </a:lnTo>
                  <a:lnTo>
                    <a:pt x="529920" y="2102764"/>
                  </a:lnTo>
                  <a:lnTo>
                    <a:pt x="264960" y="2102764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7935" y="4327742"/>
              <a:ext cx="104039" cy="10403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270324" y="4196882"/>
              <a:ext cx="713105" cy="13335"/>
            </a:xfrm>
            <a:custGeom>
              <a:avLst/>
              <a:gdLst/>
              <a:ahLst/>
              <a:cxnLst/>
              <a:rect l="l" t="t" r="r" b="b"/>
              <a:pathLst>
                <a:path w="713104" h="13335">
                  <a:moveTo>
                    <a:pt x="712800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356400" y="13322"/>
                  </a:lnTo>
                  <a:lnTo>
                    <a:pt x="712800" y="13322"/>
                  </a:lnTo>
                  <a:lnTo>
                    <a:pt x="71280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270324" y="4196882"/>
              <a:ext cx="713105" cy="13335"/>
            </a:xfrm>
            <a:custGeom>
              <a:avLst/>
              <a:gdLst/>
              <a:ahLst/>
              <a:cxnLst/>
              <a:rect l="l" t="t" r="r" b="b"/>
              <a:pathLst>
                <a:path w="713104" h="13335">
                  <a:moveTo>
                    <a:pt x="356400" y="13322"/>
                  </a:moveTo>
                  <a:lnTo>
                    <a:pt x="0" y="13322"/>
                  </a:lnTo>
                  <a:lnTo>
                    <a:pt x="0" y="0"/>
                  </a:lnTo>
                  <a:lnTo>
                    <a:pt x="712800" y="0"/>
                  </a:lnTo>
                  <a:lnTo>
                    <a:pt x="712800" y="13322"/>
                  </a:lnTo>
                  <a:lnTo>
                    <a:pt x="356400" y="13322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1104" y="4053422"/>
              <a:ext cx="104039" cy="10403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983479" y="4288322"/>
              <a:ext cx="713105" cy="13335"/>
            </a:xfrm>
            <a:custGeom>
              <a:avLst/>
              <a:gdLst/>
              <a:ahLst/>
              <a:cxnLst/>
              <a:rect l="l" t="t" r="r" b="b"/>
              <a:pathLst>
                <a:path w="713104" h="13335">
                  <a:moveTo>
                    <a:pt x="712800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356400" y="13322"/>
                  </a:lnTo>
                  <a:lnTo>
                    <a:pt x="712800" y="13322"/>
                  </a:lnTo>
                  <a:lnTo>
                    <a:pt x="71280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983479" y="4288322"/>
              <a:ext cx="713105" cy="13335"/>
            </a:xfrm>
            <a:custGeom>
              <a:avLst/>
              <a:gdLst/>
              <a:ahLst/>
              <a:cxnLst/>
              <a:rect l="l" t="t" r="r" b="b"/>
              <a:pathLst>
                <a:path w="713104" h="13335">
                  <a:moveTo>
                    <a:pt x="356400" y="13322"/>
                  </a:moveTo>
                  <a:lnTo>
                    <a:pt x="0" y="13322"/>
                  </a:lnTo>
                  <a:lnTo>
                    <a:pt x="0" y="0"/>
                  </a:lnTo>
                  <a:lnTo>
                    <a:pt x="712800" y="0"/>
                  </a:lnTo>
                  <a:lnTo>
                    <a:pt x="712800" y="13322"/>
                  </a:lnTo>
                  <a:lnTo>
                    <a:pt x="356400" y="13322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44260" y="4510622"/>
              <a:ext cx="104039" cy="10403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696635" y="4059722"/>
              <a:ext cx="713105" cy="13335"/>
            </a:xfrm>
            <a:custGeom>
              <a:avLst/>
              <a:gdLst/>
              <a:ahLst/>
              <a:cxnLst/>
              <a:rect l="l" t="t" r="r" b="b"/>
              <a:pathLst>
                <a:path w="713104" h="13335">
                  <a:moveTo>
                    <a:pt x="712800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356400" y="13322"/>
                  </a:lnTo>
                  <a:lnTo>
                    <a:pt x="712800" y="13322"/>
                  </a:lnTo>
                  <a:lnTo>
                    <a:pt x="71280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696635" y="4059722"/>
              <a:ext cx="713105" cy="13335"/>
            </a:xfrm>
            <a:custGeom>
              <a:avLst/>
              <a:gdLst/>
              <a:ahLst/>
              <a:cxnLst/>
              <a:rect l="l" t="t" r="r" b="b"/>
              <a:pathLst>
                <a:path w="713104" h="13335">
                  <a:moveTo>
                    <a:pt x="356400" y="13322"/>
                  </a:moveTo>
                  <a:lnTo>
                    <a:pt x="0" y="13322"/>
                  </a:lnTo>
                  <a:lnTo>
                    <a:pt x="0" y="0"/>
                  </a:lnTo>
                  <a:lnTo>
                    <a:pt x="712800" y="0"/>
                  </a:lnTo>
                  <a:lnTo>
                    <a:pt x="712800" y="13322"/>
                  </a:lnTo>
                  <a:lnTo>
                    <a:pt x="356400" y="13322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7415" y="3596222"/>
              <a:ext cx="104039" cy="10403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409804" y="3785402"/>
              <a:ext cx="713105" cy="13335"/>
            </a:xfrm>
            <a:custGeom>
              <a:avLst/>
              <a:gdLst/>
              <a:ahLst/>
              <a:cxnLst/>
              <a:rect l="l" t="t" r="r" b="b"/>
              <a:pathLst>
                <a:path w="713104" h="13335">
                  <a:moveTo>
                    <a:pt x="712800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356400" y="13322"/>
                  </a:lnTo>
                  <a:lnTo>
                    <a:pt x="712800" y="13322"/>
                  </a:lnTo>
                  <a:lnTo>
                    <a:pt x="71280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409804" y="3785402"/>
              <a:ext cx="713105" cy="13335"/>
            </a:xfrm>
            <a:custGeom>
              <a:avLst/>
              <a:gdLst/>
              <a:ahLst/>
              <a:cxnLst/>
              <a:rect l="l" t="t" r="r" b="b"/>
              <a:pathLst>
                <a:path w="713104" h="13335">
                  <a:moveTo>
                    <a:pt x="356400" y="13322"/>
                  </a:moveTo>
                  <a:lnTo>
                    <a:pt x="0" y="13322"/>
                  </a:lnTo>
                  <a:lnTo>
                    <a:pt x="0" y="0"/>
                  </a:lnTo>
                  <a:lnTo>
                    <a:pt x="712800" y="0"/>
                  </a:lnTo>
                  <a:lnTo>
                    <a:pt x="712800" y="13322"/>
                  </a:lnTo>
                  <a:lnTo>
                    <a:pt x="356400" y="13322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70940" y="3961982"/>
              <a:ext cx="104039" cy="10403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123315" y="3648242"/>
              <a:ext cx="713105" cy="13335"/>
            </a:xfrm>
            <a:custGeom>
              <a:avLst/>
              <a:gdLst/>
              <a:ahLst/>
              <a:cxnLst/>
              <a:rect l="l" t="t" r="r" b="b"/>
              <a:pathLst>
                <a:path w="713104" h="13335">
                  <a:moveTo>
                    <a:pt x="712800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356400" y="13322"/>
                  </a:lnTo>
                  <a:lnTo>
                    <a:pt x="712800" y="13322"/>
                  </a:lnTo>
                  <a:lnTo>
                    <a:pt x="71280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123315" y="3648242"/>
              <a:ext cx="713105" cy="13335"/>
            </a:xfrm>
            <a:custGeom>
              <a:avLst/>
              <a:gdLst/>
              <a:ahLst/>
              <a:cxnLst/>
              <a:rect l="l" t="t" r="r" b="b"/>
              <a:pathLst>
                <a:path w="713104" h="13335">
                  <a:moveTo>
                    <a:pt x="356400" y="13322"/>
                  </a:moveTo>
                  <a:lnTo>
                    <a:pt x="0" y="13322"/>
                  </a:lnTo>
                  <a:lnTo>
                    <a:pt x="0" y="0"/>
                  </a:lnTo>
                  <a:lnTo>
                    <a:pt x="712800" y="0"/>
                  </a:lnTo>
                  <a:lnTo>
                    <a:pt x="712800" y="13322"/>
                  </a:lnTo>
                  <a:lnTo>
                    <a:pt x="356400" y="13322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4095" y="3321902"/>
              <a:ext cx="104039" cy="104039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4244759" y="4845852"/>
            <a:ext cx="19113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63738A"/>
                </a:solidFill>
                <a:latin typeface="Calibri"/>
                <a:cs typeface="Calibri"/>
              </a:rPr>
              <a:t>Janv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958638" y="4845852"/>
            <a:ext cx="18986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63738A"/>
                </a:solidFill>
                <a:latin typeface="Calibri"/>
                <a:cs typeface="Calibri"/>
              </a:rPr>
              <a:t>Févr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655957" y="4845852"/>
            <a:ext cx="2216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63738A"/>
                </a:solidFill>
                <a:latin typeface="Calibri"/>
                <a:cs typeface="Calibri"/>
              </a:rPr>
              <a:t>Mars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404393" y="4845852"/>
            <a:ext cx="150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63738A"/>
                </a:solidFill>
                <a:latin typeface="Calibri"/>
                <a:cs typeface="Calibri"/>
              </a:rPr>
              <a:t>Avr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107834" y="4845852"/>
            <a:ext cx="17208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63738A"/>
                </a:solidFill>
                <a:latin typeface="Calibri"/>
                <a:cs typeface="Calibri"/>
              </a:rPr>
              <a:t>Mai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818475" y="4845852"/>
            <a:ext cx="17462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63738A"/>
                </a:solidFill>
                <a:latin typeface="Calibri"/>
                <a:cs typeface="Calibri"/>
              </a:rPr>
              <a:t>Juin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331037" y="1336090"/>
            <a:ext cx="578485" cy="40513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8595" indent="-132080">
              <a:lnSpc>
                <a:spcPct val="100000"/>
              </a:lnSpc>
              <a:spcBef>
                <a:spcPts val="509"/>
              </a:spcBef>
              <a:buFont typeface="Arial"/>
              <a:buChar char="■"/>
              <a:tabLst>
                <a:tab pos="188595" algn="l"/>
              </a:tabLst>
            </a:pPr>
            <a:r>
              <a:rPr sz="900" i="1" spc="-10" dirty="0">
                <a:solidFill>
                  <a:srgbClr val="2462EA"/>
                </a:solidFill>
                <a:latin typeface="Calibri"/>
                <a:cs typeface="Calibri"/>
              </a:rPr>
              <a:t>Valeur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r>
              <a:rPr sz="900" i="1" dirty="0">
                <a:solidFill>
                  <a:srgbClr val="7B39EC"/>
                </a:solidFill>
                <a:latin typeface="Calibri"/>
                <a:cs typeface="Calibri"/>
              </a:rPr>
              <a:t>—</a:t>
            </a:r>
            <a:r>
              <a:rPr sz="900" i="1" spc="-1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900" i="1" spc="-10" dirty="0">
                <a:solidFill>
                  <a:srgbClr val="7B39EC"/>
                </a:solidFill>
                <a:latin typeface="Calibri"/>
                <a:cs typeface="Calibri"/>
              </a:rPr>
              <a:t>Tendance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55602"/>
            <a:ext cx="1828800" cy="237490"/>
          </a:xfrm>
          <a:custGeom>
            <a:avLst/>
            <a:gdLst/>
            <a:ahLst/>
            <a:cxnLst/>
            <a:rect l="l" t="t" r="r" b="b"/>
            <a:pathLst>
              <a:path w="1828800" h="237490">
                <a:moveTo>
                  <a:pt x="1828431" y="0"/>
                </a:moveTo>
                <a:lnTo>
                  <a:pt x="0" y="0"/>
                </a:lnTo>
                <a:lnTo>
                  <a:pt x="0" y="237235"/>
                </a:lnTo>
                <a:lnTo>
                  <a:pt x="914400" y="237235"/>
                </a:lnTo>
                <a:lnTo>
                  <a:pt x="1828431" y="237235"/>
                </a:lnTo>
                <a:lnTo>
                  <a:pt x="1828431" y="0"/>
                </a:lnTo>
                <a:close/>
              </a:path>
            </a:pathLst>
          </a:custGeom>
          <a:solidFill>
            <a:srgbClr val="CC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6844" y="255602"/>
            <a:ext cx="1828800" cy="237490"/>
          </a:xfrm>
          <a:prstGeom prst="rect">
            <a:avLst/>
          </a:prstGeom>
          <a:ln w="6479">
            <a:solidFill>
              <a:srgbClr val="0C9387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323215">
              <a:lnSpc>
                <a:spcPct val="100000"/>
              </a:lnSpc>
              <a:spcBef>
                <a:spcPts val="455"/>
              </a:spcBef>
            </a:pP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F</a:t>
            </a:r>
            <a:r>
              <a:rPr sz="800" b="1" spc="-4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O</a:t>
            </a:r>
            <a:r>
              <a:rPr sz="80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N</a:t>
            </a:r>
            <a:r>
              <a:rPr sz="80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C</a:t>
            </a:r>
            <a:r>
              <a:rPr sz="800" b="1" spc="-2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T</a:t>
            </a:r>
            <a:r>
              <a:rPr sz="80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I</a:t>
            </a:r>
            <a:r>
              <a:rPr sz="80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O</a:t>
            </a:r>
            <a:r>
              <a:rPr sz="80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N</a:t>
            </a:r>
            <a:r>
              <a:rPr sz="80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N</a:t>
            </a:r>
            <a:r>
              <a:rPr sz="800" b="1" spc="-2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A</a:t>
            </a:r>
            <a:r>
              <a:rPr sz="80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L</a:t>
            </a:r>
            <a:r>
              <a:rPr sz="800" b="1" spc="-2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I</a:t>
            </a:r>
            <a:r>
              <a:rPr sz="800" b="1" spc="-4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T</a:t>
            </a:r>
            <a:r>
              <a:rPr sz="800" b="1" spc="-2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É</a:t>
            </a:r>
            <a:r>
              <a:rPr sz="800" b="1" spc="28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0</a:t>
            </a:r>
            <a:r>
              <a:rPr sz="80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0C9387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Benchmark</a:t>
            </a:r>
            <a:r>
              <a:rPr spc="-95" dirty="0"/>
              <a:t> </a:t>
            </a:r>
            <a:r>
              <a:rPr dirty="0"/>
              <a:t>national</a:t>
            </a:r>
            <a:r>
              <a:rPr spc="-95" dirty="0"/>
              <a:t> </a:t>
            </a:r>
            <a:r>
              <a:rPr dirty="0"/>
              <a:t>et</a:t>
            </a:r>
            <a:r>
              <a:rPr spc="-90" dirty="0"/>
              <a:t> </a:t>
            </a:r>
            <a:r>
              <a:rPr spc="-10" dirty="0"/>
              <a:t>international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144" y="1113385"/>
            <a:ext cx="509651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Positionnez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chaque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secteur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par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rapport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aux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meilleures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pratiques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mondiales.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1076" y="1389966"/>
            <a:ext cx="8732520" cy="2724150"/>
            <a:chOff x="181076" y="1389966"/>
            <a:chExt cx="8732520" cy="2724150"/>
          </a:xfrm>
        </p:grpSpPr>
        <p:sp>
          <p:nvSpPr>
            <p:cNvPr id="7" name="object 7"/>
            <p:cNvSpPr/>
            <p:nvPr/>
          </p:nvSpPr>
          <p:spPr>
            <a:xfrm>
              <a:off x="181076" y="1389966"/>
              <a:ext cx="8732520" cy="347345"/>
            </a:xfrm>
            <a:custGeom>
              <a:avLst/>
              <a:gdLst/>
              <a:ahLst/>
              <a:cxnLst/>
              <a:rect l="l" t="t" r="r" b="b"/>
              <a:pathLst>
                <a:path w="8732520" h="347344">
                  <a:moveTo>
                    <a:pt x="2377084" y="0"/>
                  </a:moveTo>
                  <a:lnTo>
                    <a:pt x="0" y="0"/>
                  </a:lnTo>
                  <a:lnTo>
                    <a:pt x="0" y="347040"/>
                  </a:lnTo>
                  <a:lnTo>
                    <a:pt x="1188720" y="347040"/>
                  </a:lnTo>
                  <a:lnTo>
                    <a:pt x="2377084" y="347040"/>
                  </a:lnTo>
                  <a:lnTo>
                    <a:pt x="2377084" y="0"/>
                  </a:lnTo>
                  <a:close/>
                </a:path>
                <a:path w="8732520" h="347344">
                  <a:moveTo>
                    <a:pt x="3703320" y="0"/>
                  </a:moveTo>
                  <a:lnTo>
                    <a:pt x="2377808" y="0"/>
                  </a:lnTo>
                  <a:lnTo>
                    <a:pt x="2377808" y="347040"/>
                  </a:lnTo>
                  <a:lnTo>
                    <a:pt x="3040557" y="347040"/>
                  </a:lnTo>
                  <a:lnTo>
                    <a:pt x="3703320" y="347040"/>
                  </a:lnTo>
                  <a:lnTo>
                    <a:pt x="3703320" y="0"/>
                  </a:lnTo>
                  <a:close/>
                </a:path>
                <a:path w="8732520" h="347344">
                  <a:moveTo>
                    <a:pt x="5029200" y="0"/>
                  </a:moveTo>
                  <a:lnTo>
                    <a:pt x="3703688" y="0"/>
                  </a:lnTo>
                  <a:lnTo>
                    <a:pt x="3703688" y="347040"/>
                  </a:lnTo>
                  <a:lnTo>
                    <a:pt x="4366438" y="347040"/>
                  </a:lnTo>
                  <a:lnTo>
                    <a:pt x="5029200" y="347040"/>
                  </a:lnTo>
                  <a:lnTo>
                    <a:pt x="5029200" y="0"/>
                  </a:lnTo>
                  <a:close/>
                </a:path>
                <a:path w="8732520" h="347344">
                  <a:moveTo>
                    <a:pt x="6355080" y="0"/>
                  </a:moveTo>
                  <a:lnTo>
                    <a:pt x="5029568" y="0"/>
                  </a:lnTo>
                  <a:lnTo>
                    <a:pt x="5029568" y="347040"/>
                  </a:lnTo>
                  <a:lnTo>
                    <a:pt x="5692318" y="347040"/>
                  </a:lnTo>
                  <a:lnTo>
                    <a:pt x="6355080" y="347040"/>
                  </a:lnTo>
                  <a:lnTo>
                    <a:pt x="6355080" y="0"/>
                  </a:lnTo>
                  <a:close/>
                </a:path>
                <a:path w="8732520" h="347344">
                  <a:moveTo>
                    <a:pt x="7680960" y="0"/>
                  </a:moveTo>
                  <a:lnTo>
                    <a:pt x="6355448" y="0"/>
                  </a:lnTo>
                  <a:lnTo>
                    <a:pt x="6355448" y="347040"/>
                  </a:lnTo>
                  <a:lnTo>
                    <a:pt x="7018198" y="347040"/>
                  </a:lnTo>
                  <a:lnTo>
                    <a:pt x="7680960" y="347040"/>
                  </a:lnTo>
                  <a:lnTo>
                    <a:pt x="7680960" y="0"/>
                  </a:lnTo>
                  <a:close/>
                </a:path>
                <a:path w="8732520" h="347344">
                  <a:moveTo>
                    <a:pt x="8732520" y="0"/>
                  </a:moveTo>
                  <a:lnTo>
                    <a:pt x="7681328" y="0"/>
                  </a:lnTo>
                  <a:lnTo>
                    <a:pt x="7681328" y="347040"/>
                  </a:lnTo>
                  <a:lnTo>
                    <a:pt x="8206918" y="347040"/>
                  </a:lnTo>
                  <a:lnTo>
                    <a:pt x="8732520" y="347040"/>
                  </a:lnTo>
                  <a:lnTo>
                    <a:pt x="8732520" y="0"/>
                  </a:lnTo>
                  <a:close/>
                </a:path>
              </a:pathLst>
            </a:custGeom>
            <a:solidFill>
              <a:srgbClr val="0E1E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1076" y="1755357"/>
              <a:ext cx="8732520" cy="457200"/>
            </a:xfrm>
            <a:custGeom>
              <a:avLst/>
              <a:gdLst/>
              <a:ahLst/>
              <a:cxnLst/>
              <a:rect l="l" t="t" r="r" b="b"/>
              <a:pathLst>
                <a:path w="8732520" h="457200">
                  <a:moveTo>
                    <a:pt x="237708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1188720" y="456844"/>
                  </a:lnTo>
                  <a:lnTo>
                    <a:pt x="2377084" y="456844"/>
                  </a:lnTo>
                  <a:lnTo>
                    <a:pt x="2377084" y="0"/>
                  </a:lnTo>
                  <a:close/>
                </a:path>
                <a:path w="8732520" h="457200">
                  <a:moveTo>
                    <a:pt x="3703320" y="0"/>
                  </a:moveTo>
                  <a:lnTo>
                    <a:pt x="2377808" y="0"/>
                  </a:lnTo>
                  <a:lnTo>
                    <a:pt x="2377808" y="456844"/>
                  </a:lnTo>
                  <a:lnTo>
                    <a:pt x="3040557" y="456844"/>
                  </a:lnTo>
                  <a:lnTo>
                    <a:pt x="3703320" y="456844"/>
                  </a:lnTo>
                  <a:lnTo>
                    <a:pt x="3703320" y="0"/>
                  </a:lnTo>
                  <a:close/>
                </a:path>
                <a:path w="8732520" h="457200">
                  <a:moveTo>
                    <a:pt x="5029200" y="0"/>
                  </a:moveTo>
                  <a:lnTo>
                    <a:pt x="3703688" y="0"/>
                  </a:lnTo>
                  <a:lnTo>
                    <a:pt x="3703688" y="456844"/>
                  </a:lnTo>
                  <a:lnTo>
                    <a:pt x="4366438" y="456844"/>
                  </a:lnTo>
                  <a:lnTo>
                    <a:pt x="5029200" y="456844"/>
                  </a:lnTo>
                  <a:lnTo>
                    <a:pt x="5029200" y="0"/>
                  </a:lnTo>
                  <a:close/>
                </a:path>
                <a:path w="8732520" h="457200">
                  <a:moveTo>
                    <a:pt x="6355080" y="0"/>
                  </a:moveTo>
                  <a:lnTo>
                    <a:pt x="5029568" y="0"/>
                  </a:lnTo>
                  <a:lnTo>
                    <a:pt x="5029568" y="456844"/>
                  </a:lnTo>
                  <a:lnTo>
                    <a:pt x="5692318" y="456844"/>
                  </a:lnTo>
                  <a:lnTo>
                    <a:pt x="6355080" y="456844"/>
                  </a:lnTo>
                  <a:lnTo>
                    <a:pt x="6355080" y="0"/>
                  </a:lnTo>
                  <a:close/>
                </a:path>
                <a:path w="8732520" h="457200">
                  <a:moveTo>
                    <a:pt x="7680960" y="0"/>
                  </a:moveTo>
                  <a:lnTo>
                    <a:pt x="6355448" y="0"/>
                  </a:lnTo>
                  <a:lnTo>
                    <a:pt x="6355448" y="456844"/>
                  </a:lnTo>
                  <a:lnTo>
                    <a:pt x="7018198" y="456844"/>
                  </a:lnTo>
                  <a:lnTo>
                    <a:pt x="7680960" y="456844"/>
                  </a:lnTo>
                  <a:lnTo>
                    <a:pt x="7680960" y="0"/>
                  </a:lnTo>
                  <a:close/>
                </a:path>
                <a:path w="8732520" h="457200">
                  <a:moveTo>
                    <a:pt x="8732520" y="0"/>
                  </a:moveTo>
                  <a:lnTo>
                    <a:pt x="7681328" y="0"/>
                  </a:lnTo>
                  <a:lnTo>
                    <a:pt x="7681328" y="456844"/>
                  </a:lnTo>
                  <a:lnTo>
                    <a:pt x="8206918" y="456844"/>
                  </a:lnTo>
                  <a:lnTo>
                    <a:pt x="8732520" y="456844"/>
                  </a:lnTo>
                  <a:lnTo>
                    <a:pt x="8732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1076" y="2230921"/>
              <a:ext cx="8732520" cy="457200"/>
            </a:xfrm>
            <a:custGeom>
              <a:avLst/>
              <a:gdLst/>
              <a:ahLst/>
              <a:cxnLst/>
              <a:rect l="l" t="t" r="r" b="b"/>
              <a:pathLst>
                <a:path w="8732520" h="457200">
                  <a:moveTo>
                    <a:pt x="237708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1188720" y="456844"/>
                  </a:lnTo>
                  <a:lnTo>
                    <a:pt x="2377084" y="456844"/>
                  </a:lnTo>
                  <a:lnTo>
                    <a:pt x="2377084" y="0"/>
                  </a:lnTo>
                  <a:close/>
                </a:path>
                <a:path w="8732520" h="457200">
                  <a:moveTo>
                    <a:pt x="3703320" y="0"/>
                  </a:moveTo>
                  <a:lnTo>
                    <a:pt x="2377808" y="0"/>
                  </a:lnTo>
                  <a:lnTo>
                    <a:pt x="2377808" y="456844"/>
                  </a:lnTo>
                  <a:lnTo>
                    <a:pt x="3040557" y="456844"/>
                  </a:lnTo>
                  <a:lnTo>
                    <a:pt x="3703320" y="456844"/>
                  </a:lnTo>
                  <a:lnTo>
                    <a:pt x="3703320" y="0"/>
                  </a:lnTo>
                  <a:close/>
                </a:path>
                <a:path w="8732520" h="457200">
                  <a:moveTo>
                    <a:pt x="5029200" y="0"/>
                  </a:moveTo>
                  <a:lnTo>
                    <a:pt x="3703688" y="0"/>
                  </a:lnTo>
                  <a:lnTo>
                    <a:pt x="3703688" y="456844"/>
                  </a:lnTo>
                  <a:lnTo>
                    <a:pt x="4366438" y="456844"/>
                  </a:lnTo>
                  <a:lnTo>
                    <a:pt x="5029200" y="456844"/>
                  </a:lnTo>
                  <a:lnTo>
                    <a:pt x="5029200" y="0"/>
                  </a:lnTo>
                  <a:close/>
                </a:path>
                <a:path w="8732520" h="457200">
                  <a:moveTo>
                    <a:pt x="6355080" y="0"/>
                  </a:moveTo>
                  <a:lnTo>
                    <a:pt x="5029568" y="0"/>
                  </a:lnTo>
                  <a:lnTo>
                    <a:pt x="5029568" y="456844"/>
                  </a:lnTo>
                  <a:lnTo>
                    <a:pt x="5692318" y="456844"/>
                  </a:lnTo>
                  <a:lnTo>
                    <a:pt x="6355080" y="456844"/>
                  </a:lnTo>
                  <a:lnTo>
                    <a:pt x="6355080" y="0"/>
                  </a:lnTo>
                  <a:close/>
                </a:path>
                <a:path w="8732520" h="457200">
                  <a:moveTo>
                    <a:pt x="7680960" y="0"/>
                  </a:moveTo>
                  <a:lnTo>
                    <a:pt x="6355448" y="0"/>
                  </a:lnTo>
                  <a:lnTo>
                    <a:pt x="6355448" y="456844"/>
                  </a:lnTo>
                  <a:lnTo>
                    <a:pt x="7018198" y="456844"/>
                  </a:lnTo>
                  <a:lnTo>
                    <a:pt x="7680960" y="456844"/>
                  </a:lnTo>
                  <a:lnTo>
                    <a:pt x="7680960" y="0"/>
                  </a:lnTo>
                  <a:close/>
                </a:path>
                <a:path w="8732520" h="457200">
                  <a:moveTo>
                    <a:pt x="8732520" y="0"/>
                  </a:moveTo>
                  <a:lnTo>
                    <a:pt x="7681328" y="0"/>
                  </a:lnTo>
                  <a:lnTo>
                    <a:pt x="7681328" y="456844"/>
                  </a:lnTo>
                  <a:lnTo>
                    <a:pt x="8206918" y="456844"/>
                  </a:lnTo>
                  <a:lnTo>
                    <a:pt x="8732520" y="456844"/>
                  </a:lnTo>
                  <a:lnTo>
                    <a:pt x="8732520" y="0"/>
                  </a:lnTo>
                  <a:close/>
                </a:path>
              </a:pathLst>
            </a:custGeom>
            <a:solidFill>
              <a:srgbClr val="F0F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1076" y="2706117"/>
              <a:ext cx="8732520" cy="457200"/>
            </a:xfrm>
            <a:custGeom>
              <a:avLst/>
              <a:gdLst/>
              <a:ahLst/>
              <a:cxnLst/>
              <a:rect l="l" t="t" r="r" b="b"/>
              <a:pathLst>
                <a:path w="8732520" h="457200">
                  <a:moveTo>
                    <a:pt x="237708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1188720" y="456844"/>
                  </a:lnTo>
                  <a:lnTo>
                    <a:pt x="2377084" y="456844"/>
                  </a:lnTo>
                  <a:lnTo>
                    <a:pt x="2377084" y="0"/>
                  </a:lnTo>
                  <a:close/>
                </a:path>
                <a:path w="8732520" h="457200">
                  <a:moveTo>
                    <a:pt x="3703320" y="0"/>
                  </a:moveTo>
                  <a:lnTo>
                    <a:pt x="2377808" y="0"/>
                  </a:lnTo>
                  <a:lnTo>
                    <a:pt x="2377808" y="456844"/>
                  </a:lnTo>
                  <a:lnTo>
                    <a:pt x="3040557" y="456844"/>
                  </a:lnTo>
                  <a:lnTo>
                    <a:pt x="3703320" y="456844"/>
                  </a:lnTo>
                  <a:lnTo>
                    <a:pt x="3703320" y="0"/>
                  </a:lnTo>
                  <a:close/>
                </a:path>
                <a:path w="8732520" h="457200">
                  <a:moveTo>
                    <a:pt x="5029200" y="0"/>
                  </a:moveTo>
                  <a:lnTo>
                    <a:pt x="3703688" y="0"/>
                  </a:lnTo>
                  <a:lnTo>
                    <a:pt x="3703688" y="456844"/>
                  </a:lnTo>
                  <a:lnTo>
                    <a:pt x="4366438" y="456844"/>
                  </a:lnTo>
                  <a:lnTo>
                    <a:pt x="5029200" y="456844"/>
                  </a:lnTo>
                  <a:lnTo>
                    <a:pt x="5029200" y="0"/>
                  </a:lnTo>
                  <a:close/>
                </a:path>
                <a:path w="8732520" h="457200">
                  <a:moveTo>
                    <a:pt x="6355080" y="0"/>
                  </a:moveTo>
                  <a:lnTo>
                    <a:pt x="5029568" y="0"/>
                  </a:lnTo>
                  <a:lnTo>
                    <a:pt x="5029568" y="456844"/>
                  </a:lnTo>
                  <a:lnTo>
                    <a:pt x="5692318" y="456844"/>
                  </a:lnTo>
                  <a:lnTo>
                    <a:pt x="6355080" y="456844"/>
                  </a:lnTo>
                  <a:lnTo>
                    <a:pt x="6355080" y="0"/>
                  </a:lnTo>
                  <a:close/>
                </a:path>
                <a:path w="8732520" h="457200">
                  <a:moveTo>
                    <a:pt x="7680960" y="0"/>
                  </a:moveTo>
                  <a:lnTo>
                    <a:pt x="6355448" y="0"/>
                  </a:lnTo>
                  <a:lnTo>
                    <a:pt x="6355448" y="456844"/>
                  </a:lnTo>
                  <a:lnTo>
                    <a:pt x="7018198" y="456844"/>
                  </a:lnTo>
                  <a:lnTo>
                    <a:pt x="7680960" y="456844"/>
                  </a:lnTo>
                  <a:lnTo>
                    <a:pt x="7680960" y="0"/>
                  </a:lnTo>
                  <a:close/>
                </a:path>
                <a:path w="8732520" h="457200">
                  <a:moveTo>
                    <a:pt x="8732520" y="0"/>
                  </a:moveTo>
                  <a:lnTo>
                    <a:pt x="7681328" y="0"/>
                  </a:lnTo>
                  <a:lnTo>
                    <a:pt x="7681328" y="456844"/>
                  </a:lnTo>
                  <a:lnTo>
                    <a:pt x="8206918" y="456844"/>
                  </a:lnTo>
                  <a:lnTo>
                    <a:pt x="8732520" y="456844"/>
                  </a:lnTo>
                  <a:lnTo>
                    <a:pt x="8732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1076" y="3181682"/>
              <a:ext cx="8732520" cy="457200"/>
            </a:xfrm>
            <a:custGeom>
              <a:avLst/>
              <a:gdLst/>
              <a:ahLst/>
              <a:cxnLst/>
              <a:rect l="l" t="t" r="r" b="b"/>
              <a:pathLst>
                <a:path w="8732520" h="457200">
                  <a:moveTo>
                    <a:pt x="237708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1188720" y="456844"/>
                  </a:lnTo>
                  <a:lnTo>
                    <a:pt x="2377084" y="456844"/>
                  </a:lnTo>
                  <a:lnTo>
                    <a:pt x="2377084" y="0"/>
                  </a:lnTo>
                  <a:close/>
                </a:path>
                <a:path w="8732520" h="457200">
                  <a:moveTo>
                    <a:pt x="3703320" y="0"/>
                  </a:moveTo>
                  <a:lnTo>
                    <a:pt x="2377808" y="0"/>
                  </a:lnTo>
                  <a:lnTo>
                    <a:pt x="2377808" y="456844"/>
                  </a:lnTo>
                  <a:lnTo>
                    <a:pt x="3040557" y="456844"/>
                  </a:lnTo>
                  <a:lnTo>
                    <a:pt x="3703320" y="456844"/>
                  </a:lnTo>
                  <a:lnTo>
                    <a:pt x="3703320" y="0"/>
                  </a:lnTo>
                  <a:close/>
                </a:path>
                <a:path w="8732520" h="457200">
                  <a:moveTo>
                    <a:pt x="5029200" y="0"/>
                  </a:moveTo>
                  <a:lnTo>
                    <a:pt x="3703688" y="0"/>
                  </a:lnTo>
                  <a:lnTo>
                    <a:pt x="3703688" y="456844"/>
                  </a:lnTo>
                  <a:lnTo>
                    <a:pt x="4366438" y="456844"/>
                  </a:lnTo>
                  <a:lnTo>
                    <a:pt x="5029200" y="456844"/>
                  </a:lnTo>
                  <a:lnTo>
                    <a:pt x="5029200" y="0"/>
                  </a:lnTo>
                  <a:close/>
                </a:path>
                <a:path w="8732520" h="457200">
                  <a:moveTo>
                    <a:pt x="6355080" y="0"/>
                  </a:moveTo>
                  <a:lnTo>
                    <a:pt x="5029568" y="0"/>
                  </a:lnTo>
                  <a:lnTo>
                    <a:pt x="5029568" y="456844"/>
                  </a:lnTo>
                  <a:lnTo>
                    <a:pt x="5692318" y="456844"/>
                  </a:lnTo>
                  <a:lnTo>
                    <a:pt x="6355080" y="456844"/>
                  </a:lnTo>
                  <a:lnTo>
                    <a:pt x="6355080" y="0"/>
                  </a:lnTo>
                  <a:close/>
                </a:path>
                <a:path w="8732520" h="457200">
                  <a:moveTo>
                    <a:pt x="7680960" y="0"/>
                  </a:moveTo>
                  <a:lnTo>
                    <a:pt x="6355448" y="0"/>
                  </a:lnTo>
                  <a:lnTo>
                    <a:pt x="6355448" y="456844"/>
                  </a:lnTo>
                  <a:lnTo>
                    <a:pt x="7018198" y="456844"/>
                  </a:lnTo>
                  <a:lnTo>
                    <a:pt x="7680960" y="456844"/>
                  </a:lnTo>
                  <a:lnTo>
                    <a:pt x="7680960" y="0"/>
                  </a:lnTo>
                  <a:close/>
                </a:path>
                <a:path w="8732520" h="457200">
                  <a:moveTo>
                    <a:pt x="8732520" y="0"/>
                  </a:moveTo>
                  <a:lnTo>
                    <a:pt x="7681328" y="0"/>
                  </a:lnTo>
                  <a:lnTo>
                    <a:pt x="7681328" y="456844"/>
                  </a:lnTo>
                  <a:lnTo>
                    <a:pt x="8206918" y="456844"/>
                  </a:lnTo>
                  <a:lnTo>
                    <a:pt x="8732520" y="456844"/>
                  </a:lnTo>
                  <a:lnTo>
                    <a:pt x="8732520" y="0"/>
                  </a:lnTo>
                  <a:close/>
                </a:path>
              </a:pathLst>
            </a:custGeom>
            <a:solidFill>
              <a:srgbClr val="F0F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1076" y="3657246"/>
              <a:ext cx="8732520" cy="457200"/>
            </a:xfrm>
            <a:custGeom>
              <a:avLst/>
              <a:gdLst/>
              <a:ahLst/>
              <a:cxnLst/>
              <a:rect l="l" t="t" r="r" b="b"/>
              <a:pathLst>
                <a:path w="8732520" h="457200">
                  <a:moveTo>
                    <a:pt x="2377084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1188720" y="456831"/>
                  </a:lnTo>
                  <a:lnTo>
                    <a:pt x="2377084" y="456831"/>
                  </a:lnTo>
                  <a:lnTo>
                    <a:pt x="2377084" y="0"/>
                  </a:lnTo>
                  <a:close/>
                </a:path>
                <a:path w="8732520" h="457200">
                  <a:moveTo>
                    <a:pt x="3703320" y="0"/>
                  </a:moveTo>
                  <a:lnTo>
                    <a:pt x="2377808" y="0"/>
                  </a:lnTo>
                  <a:lnTo>
                    <a:pt x="2377808" y="456831"/>
                  </a:lnTo>
                  <a:lnTo>
                    <a:pt x="3040557" y="456831"/>
                  </a:lnTo>
                  <a:lnTo>
                    <a:pt x="3703320" y="456831"/>
                  </a:lnTo>
                  <a:lnTo>
                    <a:pt x="3703320" y="0"/>
                  </a:lnTo>
                  <a:close/>
                </a:path>
                <a:path w="8732520" h="457200">
                  <a:moveTo>
                    <a:pt x="5029200" y="0"/>
                  </a:moveTo>
                  <a:lnTo>
                    <a:pt x="3703688" y="0"/>
                  </a:lnTo>
                  <a:lnTo>
                    <a:pt x="3703688" y="456831"/>
                  </a:lnTo>
                  <a:lnTo>
                    <a:pt x="4366438" y="456831"/>
                  </a:lnTo>
                  <a:lnTo>
                    <a:pt x="5029200" y="456831"/>
                  </a:lnTo>
                  <a:lnTo>
                    <a:pt x="5029200" y="0"/>
                  </a:lnTo>
                  <a:close/>
                </a:path>
                <a:path w="8732520" h="457200">
                  <a:moveTo>
                    <a:pt x="6355080" y="0"/>
                  </a:moveTo>
                  <a:lnTo>
                    <a:pt x="5029568" y="0"/>
                  </a:lnTo>
                  <a:lnTo>
                    <a:pt x="5029568" y="456831"/>
                  </a:lnTo>
                  <a:lnTo>
                    <a:pt x="5692318" y="456831"/>
                  </a:lnTo>
                  <a:lnTo>
                    <a:pt x="6355080" y="456831"/>
                  </a:lnTo>
                  <a:lnTo>
                    <a:pt x="6355080" y="0"/>
                  </a:lnTo>
                  <a:close/>
                </a:path>
                <a:path w="8732520" h="457200">
                  <a:moveTo>
                    <a:pt x="7680960" y="0"/>
                  </a:moveTo>
                  <a:lnTo>
                    <a:pt x="6355448" y="0"/>
                  </a:lnTo>
                  <a:lnTo>
                    <a:pt x="6355448" y="456831"/>
                  </a:lnTo>
                  <a:lnTo>
                    <a:pt x="7018198" y="456831"/>
                  </a:lnTo>
                  <a:lnTo>
                    <a:pt x="7680960" y="456831"/>
                  </a:lnTo>
                  <a:lnTo>
                    <a:pt x="7680960" y="0"/>
                  </a:lnTo>
                  <a:close/>
                </a:path>
                <a:path w="8732520" h="457200">
                  <a:moveTo>
                    <a:pt x="8732520" y="0"/>
                  </a:moveTo>
                  <a:lnTo>
                    <a:pt x="7681328" y="0"/>
                  </a:lnTo>
                  <a:lnTo>
                    <a:pt x="7681328" y="456831"/>
                  </a:lnTo>
                  <a:lnTo>
                    <a:pt x="8206918" y="456831"/>
                  </a:lnTo>
                  <a:lnTo>
                    <a:pt x="8732520" y="456831"/>
                  </a:lnTo>
                  <a:lnTo>
                    <a:pt x="8732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74776" y="1383666"/>
          <a:ext cx="8732516" cy="2722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Secteur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0E1E3C"/>
                      </a:solidFill>
                      <a:prstDash val="solid"/>
                    </a:lnL>
                    <a:lnR w="19050">
                      <a:solidFill>
                        <a:srgbClr val="0E1E3C"/>
                      </a:solidFill>
                      <a:prstDash val="solid"/>
                    </a:lnR>
                    <a:lnT w="12700">
                      <a:solidFill>
                        <a:srgbClr val="0E1E3C"/>
                      </a:solidFill>
                      <a:prstDash val="solid"/>
                    </a:lnT>
                    <a:lnB w="12700">
                      <a:solidFill>
                        <a:srgbClr val="0E1E3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MAR</a:t>
                      </a:r>
                      <a:r>
                        <a:rPr sz="105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19050">
                      <a:solidFill>
                        <a:srgbClr val="0E1E3C"/>
                      </a:solidFill>
                      <a:prstDash val="solid"/>
                    </a:lnL>
                    <a:lnR w="19050">
                      <a:solidFill>
                        <a:srgbClr val="0E1E3C"/>
                      </a:solidFill>
                      <a:prstDash val="solid"/>
                    </a:lnR>
                    <a:lnT w="12700">
                      <a:solidFill>
                        <a:srgbClr val="0E1E3C"/>
                      </a:solidFill>
                      <a:prstDash val="solid"/>
                    </a:lnT>
                    <a:lnB w="12700">
                      <a:solidFill>
                        <a:srgbClr val="0E1E3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MAR</a:t>
                      </a:r>
                      <a:r>
                        <a:rPr sz="105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19050">
                      <a:solidFill>
                        <a:srgbClr val="0E1E3C"/>
                      </a:solidFill>
                      <a:prstDash val="solid"/>
                    </a:lnL>
                    <a:lnR w="19050">
                      <a:solidFill>
                        <a:srgbClr val="0E1E3C"/>
                      </a:solidFill>
                      <a:prstDash val="solid"/>
                    </a:lnR>
                    <a:lnT w="12700">
                      <a:solidFill>
                        <a:srgbClr val="0E1E3C"/>
                      </a:solidFill>
                      <a:prstDash val="solid"/>
                    </a:lnT>
                    <a:lnB w="12700">
                      <a:solidFill>
                        <a:srgbClr val="0E1E3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4980" algn="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France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19050">
                      <a:solidFill>
                        <a:srgbClr val="0E1E3C"/>
                      </a:solidFill>
                      <a:prstDash val="solid"/>
                    </a:lnL>
                    <a:lnR w="19050">
                      <a:solidFill>
                        <a:srgbClr val="0E1E3C"/>
                      </a:solidFill>
                      <a:prstDash val="solid"/>
                    </a:lnR>
                    <a:lnT w="12700">
                      <a:solidFill>
                        <a:srgbClr val="0E1E3C"/>
                      </a:solidFill>
                      <a:prstDash val="solid"/>
                    </a:lnT>
                    <a:lnB w="12700">
                      <a:solidFill>
                        <a:srgbClr val="0E1E3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EAU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19050">
                      <a:solidFill>
                        <a:srgbClr val="0E1E3C"/>
                      </a:solidFill>
                      <a:prstDash val="solid"/>
                    </a:lnL>
                    <a:lnR w="19050">
                      <a:solidFill>
                        <a:srgbClr val="0E1E3C"/>
                      </a:solidFill>
                      <a:prstDash val="solid"/>
                    </a:lnR>
                    <a:lnT w="12700">
                      <a:solidFill>
                        <a:srgbClr val="0E1E3C"/>
                      </a:solidFill>
                      <a:prstDash val="solid"/>
                    </a:lnT>
                    <a:lnB w="12700">
                      <a:solidFill>
                        <a:srgbClr val="0E1E3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Tendance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19050">
                      <a:solidFill>
                        <a:srgbClr val="0E1E3C"/>
                      </a:solidFill>
                      <a:prstDash val="solid"/>
                    </a:lnL>
                    <a:lnR w="12700">
                      <a:solidFill>
                        <a:srgbClr val="0E1E3C"/>
                      </a:solidFill>
                      <a:prstDash val="solid"/>
                    </a:lnR>
                    <a:lnT w="12700">
                      <a:solidFill>
                        <a:srgbClr val="0E1E3C"/>
                      </a:solidFill>
                      <a:prstDash val="solid"/>
                    </a:lnT>
                    <a:lnB w="12700">
                      <a:solidFill>
                        <a:srgbClr val="0E1E3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884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50" b="1" spc="-10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Technologie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5113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12700">
                      <a:solidFill>
                        <a:srgbClr val="0E1E3C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+18,2%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5113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12700">
                      <a:solidFill>
                        <a:srgbClr val="0E1E3C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+14,1%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5113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12700">
                      <a:solidFill>
                        <a:srgbClr val="0E1E3C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0" algn="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+22,5%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5113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12700">
                      <a:solidFill>
                        <a:srgbClr val="0E1E3C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0" algn="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+28,3%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5113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12700">
                      <a:solidFill>
                        <a:srgbClr val="0E1E3C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600" spc="-50" dirty="0">
                          <a:solidFill>
                            <a:srgbClr val="0C9387"/>
                          </a:solidFill>
                          <a:latin typeface="Calibri"/>
                          <a:cs typeface="Calibri"/>
                        </a:rPr>
                        <a:t>↑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6839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12700">
                      <a:solidFill>
                        <a:srgbClr val="0E1E3C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b="1" spc="-10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Santé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+11,4%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+9,8%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0"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+15,2%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0"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+19,1%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600" spc="-50" dirty="0">
                          <a:solidFill>
                            <a:srgbClr val="0C9387"/>
                          </a:solidFill>
                          <a:latin typeface="Calibri"/>
                          <a:cs typeface="Calibri"/>
                        </a:rPr>
                        <a:t>↑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57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b="1" spc="-10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Finance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+8,6%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+7,2%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4345"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+6,4%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0"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+12,8%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600" spc="59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*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57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b="1" spc="-10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Immobilier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150" spc="-2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2,1%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+3,5%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4345"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+4,8%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4345"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+8,2%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600" spc="-50" dirty="0">
                          <a:solidFill>
                            <a:srgbClr val="EE4343"/>
                          </a:solidFill>
                          <a:latin typeface="Calibri"/>
                          <a:cs typeface="Calibri"/>
                        </a:rPr>
                        <a:t>↓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57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b="1" spc="-10" dirty="0">
                          <a:solidFill>
                            <a:srgbClr val="0E1629"/>
                          </a:solidFill>
                          <a:latin typeface="Calibri"/>
                          <a:cs typeface="Calibri"/>
                        </a:rPr>
                        <a:t>Agriculture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+6,3%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+5,8%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4345"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+2,1%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4345" algn="r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50" spc="-1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+4,5%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600" spc="590" dirty="0">
                          <a:solidFill>
                            <a:srgbClr val="63738A"/>
                          </a:solidFill>
                          <a:latin typeface="Calibri"/>
                          <a:cs typeface="Calibri"/>
                        </a:rPr>
                        <a:t>*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557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450900" y="4245662"/>
            <a:ext cx="8286750" cy="698500"/>
            <a:chOff x="450900" y="4245662"/>
            <a:chExt cx="8286750" cy="698500"/>
          </a:xfrm>
        </p:grpSpPr>
        <p:sp>
          <p:nvSpPr>
            <p:cNvPr id="15" name="object 15"/>
            <p:cNvSpPr/>
            <p:nvPr/>
          </p:nvSpPr>
          <p:spPr>
            <a:xfrm>
              <a:off x="457199" y="4251962"/>
              <a:ext cx="8275320" cy="685800"/>
            </a:xfrm>
            <a:custGeom>
              <a:avLst/>
              <a:gdLst/>
              <a:ahLst/>
              <a:cxnLst/>
              <a:rect l="l" t="t" r="r" b="b"/>
              <a:pathLst>
                <a:path w="8275320" h="685800">
                  <a:moveTo>
                    <a:pt x="8274964" y="0"/>
                  </a:moveTo>
                  <a:lnTo>
                    <a:pt x="0" y="0"/>
                  </a:lnTo>
                  <a:lnTo>
                    <a:pt x="0" y="685444"/>
                  </a:lnTo>
                  <a:lnTo>
                    <a:pt x="4137482" y="685444"/>
                  </a:lnTo>
                  <a:lnTo>
                    <a:pt x="8274964" y="685444"/>
                  </a:lnTo>
                  <a:lnTo>
                    <a:pt x="8274964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7199" y="4251962"/>
              <a:ext cx="8275320" cy="685800"/>
            </a:xfrm>
            <a:custGeom>
              <a:avLst/>
              <a:gdLst/>
              <a:ahLst/>
              <a:cxnLst/>
              <a:rect l="l" t="t" r="r" b="b"/>
              <a:pathLst>
                <a:path w="8275320" h="685800">
                  <a:moveTo>
                    <a:pt x="4137482" y="685444"/>
                  </a:moveTo>
                  <a:lnTo>
                    <a:pt x="0" y="685444"/>
                  </a:lnTo>
                  <a:lnTo>
                    <a:pt x="0" y="0"/>
                  </a:lnTo>
                  <a:lnTo>
                    <a:pt x="8274964" y="0"/>
                  </a:lnTo>
                  <a:lnTo>
                    <a:pt x="8274964" y="685444"/>
                  </a:lnTo>
                  <a:lnTo>
                    <a:pt x="4137482" y="685444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199" y="4251962"/>
              <a:ext cx="45720" cy="685800"/>
            </a:xfrm>
            <a:custGeom>
              <a:avLst/>
              <a:gdLst/>
              <a:ahLst/>
              <a:cxnLst/>
              <a:rect l="l" t="t" r="r" b="b"/>
              <a:pathLst>
                <a:path w="45720" h="685800">
                  <a:moveTo>
                    <a:pt x="45364" y="0"/>
                  </a:moveTo>
                  <a:lnTo>
                    <a:pt x="0" y="0"/>
                  </a:lnTo>
                  <a:lnTo>
                    <a:pt x="0" y="685444"/>
                  </a:lnTo>
                  <a:lnTo>
                    <a:pt x="22682" y="685444"/>
                  </a:lnTo>
                  <a:lnTo>
                    <a:pt x="45364" y="685444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7199" y="4251962"/>
              <a:ext cx="45720" cy="685800"/>
            </a:xfrm>
            <a:custGeom>
              <a:avLst/>
              <a:gdLst/>
              <a:ahLst/>
              <a:cxnLst/>
              <a:rect l="l" t="t" r="r" b="b"/>
              <a:pathLst>
                <a:path w="45720" h="685800">
                  <a:moveTo>
                    <a:pt x="22682" y="685444"/>
                  </a:moveTo>
                  <a:lnTo>
                    <a:pt x="0" y="685444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685444"/>
                  </a:lnTo>
                  <a:lnTo>
                    <a:pt x="22682" y="685444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94004" y="4318679"/>
            <a:ext cx="57975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150" spc="90" dirty="0">
                <a:solidFill>
                  <a:srgbClr val="0C9387"/>
                </a:solidFill>
                <a:latin typeface="MingLiU_HKSCS-ExtB"/>
                <a:cs typeface="MingLiU_HKSCS-ExtB"/>
              </a:rPr>
              <a:t>💡</a:t>
            </a:r>
            <a:r>
              <a:rPr sz="1150" spc="-140" dirty="0">
                <a:solidFill>
                  <a:srgbClr val="0C9387"/>
                </a:solidFill>
                <a:latin typeface="MingLiU_HKSCS-ExtB"/>
                <a:cs typeface="MingLiU_HKSCS-ExtB"/>
              </a:rPr>
              <a:t> </a:t>
            </a:r>
            <a:r>
              <a:rPr sz="1000" b="1" spc="-10" dirty="0">
                <a:solidFill>
                  <a:srgbClr val="0C9387"/>
                </a:solidFill>
                <a:latin typeface="Calibri"/>
                <a:cs typeface="Calibri"/>
              </a:rPr>
              <a:t>Insight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45564" y="4377509"/>
            <a:ext cx="6644640" cy="42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4900"/>
              </a:lnSpc>
              <a:spcBef>
                <a:spcPts val="100"/>
              </a:spcBef>
            </a:pPr>
            <a:r>
              <a:rPr sz="1050" dirty="0">
                <a:solidFill>
                  <a:srgbClr val="0E1629"/>
                </a:solidFill>
                <a:latin typeface="Calibri"/>
                <a:cs typeface="Calibri"/>
              </a:rPr>
              <a:t>Le</a:t>
            </a:r>
            <a:r>
              <a:rPr sz="1050" spc="-2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629"/>
                </a:solidFill>
                <a:latin typeface="Calibri"/>
                <a:cs typeface="Calibri"/>
              </a:rPr>
              <a:t>secteur</a:t>
            </a:r>
            <a:r>
              <a:rPr sz="1050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629"/>
                </a:solidFill>
                <a:latin typeface="Calibri"/>
                <a:cs typeface="Calibri"/>
              </a:rPr>
              <a:t>technologique</a:t>
            </a:r>
            <a:r>
              <a:rPr sz="1050" spc="-2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629"/>
                </a:solidFill>
                <a:latin typeface="Calibri"/>
                <a:cs typeface="Calibri"/>
              </a:rPr>
              <a:t>marocain</a:t>
            </a:r>
            <a:r>
              <a:rPr sz="1050" spc="-2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629"/>
                </a:solidFill>
                <a:latin typeface="Calibri"/>
                <a:cs typeface="Calibri"/>
              </a:rPr>
              <a:t>affiche</a:t>
            </a:r>
            <a:r>
              <a:rPr sz="1050" spc="-2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629"/>
                </a:solidFill>
                <a:latin typeface="Calibri"/>
                <a:cs typeface="Calibri"/>
              </a:rPr>
              <a:t>une</a:t>
            </a:r>
            <a:r>
              <a:rPr sz="1050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629"/>
                </a:solidFill>
                <a:latin typeface="Calibri"/>
                <a:cs typeface="Calibri"/>
              </a:rPr>
              <a:t>croissance</a:t>
            </a:r>
            <a:r>
              <a:rPr sz="1050" spc="-2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629"/>
                </a:solidFill>
                <a:latin typeface="Calibri"/>
                <a:cs typeface="Calibri"/>
              </a:rPr>
              <a:t>de</a:t>
            </a:r>
            <a:r>
              <a:rPr sz="1050" spc="-2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629"/>
                </a:solidFill>
                <a:latin typeface="Calibri"/>
                <a:cs typeface="Calibri"/>
              </a:rPr>
              <a:t>+18,2%, dépassant</a:t>
            </a:r>
            <a:r>
              <a:rPr sz="1050" spc="-2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629"/>
                </a:solidFill>
                <a:latin typeface="Calibri"/>
                <a:cs typeface="Calibri"/>
              </a:rPr>
              <a:t>la</a:t>
            </a:r>
            <a:r>
              <a:rPr sz="1050" spc="-10" dirty="0">
                <a:solidFill>
                  <a:srgbClr val="0E1629"/>
                </a:solidFill>
                <a:latin typeface="Calibri"/>
                <a:cs typeface="Calibri"/>
              </a:rPr>
              <a:t> France</a:t>
            </a:r>
            <a:r>
              <a:rPr sz="1050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629"/>
                </a:solidFill>
                <a:latin typeface="Calibri"/>
                <a:cs typeface="Calibri"/>
              </a:rPr>
              <a:t>mais</a:t>
            </a:r>
            <a:r>
              <a:rPr sz="1050" spc="-2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629"/>
                </a:solidFill>
                <a:latin typeface="Calibri"/>
                <a:cs typeface="Calibri"/>
              </a:rPr>
              <a:t>en</a:t>
            </a:r>
            <a:r>
              <a:rPr sz="1050" spc="-2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629"/>
                </a:solidFill>
                <a:latin typeface="Calibri"/>
                <a:cs typeface="Calibri"/>
              </a:rPr>
              <a:t>retrait</a:t>
            </a:r>
            <a:r>
              <a:rPr sz="1050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629"/>
                </a:solidFill>
                <a:latin typeface="Calibri"/>
                <a:cs typeface="Calibri"/>
              </a:rPr>
              <a:t>de</a:t>
            </a:r>
            <a:r>
              <a:rPr sz="1050" spc="-2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629"/>
                </a:solidFill>
                <a:latin typeface="Calibri"/>
                <a:cs typeface="Calibri"/>
              </a:rPr>
              <a:t>10</a:t>
            </a:r>
            <a:r>
              <a:rPr sz="1050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629"/>
                </a:solidFill>
                <a:latin typeface="Calibri"/>
                <a:cs typeface="Calibri"/>
              </a:rPr>
              <a:t>points</a:t>
            </a:r>
            <a:r>
              <a:rPr sz="1050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629"/>
                </a:solidFill>
                <a:latin typeface="Calibri"/>
                <a:cs typeface="Calibri"/>
              </a:rPr>
              <a:t>vs</a:t>
            </a:r>
            <a:r>
              <a:rPr sz="1050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0E1629"/>
                </a:solidFill>
                <a:latin typeface="Calibri"/>
                <a:cs typeface="Calibri"/>
              </a:rPr>
              <a:t>les </a:t>
            </a:r>
            <a:r>
              <a:rPr sz="1050" spc="-10" dirty="0">
                <a:solidFill>
                  <a:srgbClr val="0E1629"/>
                </a:solidFill>
                <a:latin typeface="Calibri"/>
                <a:cs typeface="Calibri"/>
              </a:rPr>
              <a:t>EAU</a:t>
            </a:r>
            <a:r>
              <a:rPr sz="1050" spc="-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629"/>
                </a:solidFill>
                <a:latin typeface="Calibri"/>
                <a:cs typeface="Calibri"/>
              </a:rPr>
              <a:t>—</a:t>
            </a:r>
            <a:r>
              <a:rPr sz="1050" spc="-2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629"/>
                </a:solidFill>
                <a:latin typeface="Calibri"/>
                <a:cs typeface="Calibri"/>
              </a:rPr>
              <a:t>opportunité</a:t>
            </a:r>
            <a:r>
              <a:rPr sz="1050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629"/>
                </a:solidFill>
                <a:latin typeface="Calibri"/>
                <a:cs typeface="Calibri"/>
              </a:rPr>
              <a:t>identifiée</a:t>
            </a:r>
            <a:r>
              <a:rPr sz="1050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629"/>
                </a:solidFill>
                <a:latin typeface="Calibri"/>
                <a:cs typeface="Calibri"/>
              </a:rPr>
              <a:t>pour</a:t>
            </a:r>
            <a:r>
              <a:rPr sz="1050" spc="-10" dirty="0">
                <a:solidFill>
                  <a:srgbClr val="0E1629"/>
                </a:solidFill>
                <a:latin typeface="Calibri"/>
                <a:cs typeface="Calibri"/>
              </a:rPr>
              <a:t> l'investissement </a:t>
            </a:r>
            <a:r>
              <a:rPr sz="1050" dirty="0">
                <a:solidFill>
                  <a:srgbClr val="0E1629"/>
                </a:solidFill>
                <a:latin typeface="Calibri"/>
                <a:cs typeface="Calibri"/>
              </a:rPr>
              <a:t>dans</a:t>
            </a:r>
            <a:r>
              <a:rPr sz="1050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629"/>
                </a:solidFill>
                <a:latin typeface="Calibri"/>
                <a:cs typeface="Calibri"/>
              </a:rPr>
              <a:t>les</a:t>
            </a:r>
            <a:r>
              <a:rPr sz="1050" spc="-2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0E1629"/>
                </a:solidFill>
                <a:latin typeface="Calibri"/>
                <a:cs typeface="Calibri"/>
              </a:rPr>
              <a:t>fintech</a:t>
            </a:r>
            <a:r>
              <a:rPr sz="1050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0E1629"/>
                </a:solidFill>
                <a:latin typeface="Calibri"/>
                <a:cs typeface="Calibri"/>
              </a:rPr>
              <a:t>et</a:t>
            </a:r>
            <a:r>
              <a:rPr sz="1050" spc="-10" dirty="0">
                <a:solidFill>
                  <a:srgbClr val="0E1629"/>
                </a:solidFill>
                <a:latin typeface="Calibri"/>
                <a:cs typeface="Calibri"/>
              </a:rPr>
              <a:t> edtech.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55602"/>
            <a:ext cx="1828800" cy="237490"/>
          </a:xfrm>
          <a:custGeom>
            <a:avLst/>
            <a:gdLst/>
            <a:ahLst/>
            <a:cxnLst/>
            <a:rect l="l" t="t" r="r" b="b"/>
            <a:pathLst>
              <a:path w="1828800" h="237490">
                <a:moveTo>
                  <a:pt x="1828431" y="0"/>
                </a:moveTo>
                <a:lnTo>
                  <a:pt x="0" y="0"/>
                </a:lnTo>
                <a:lnTo>
                  <a:pt x="0" y="237235"/>
                </a:lnTo>
                <a:lnTo>
                  <a:pt x="914400" y="237235"/>
                </a:lnTo>
                <a:lnTo>
                  <a:pt x="1828431" y="237235"/>
                </a:lnTo>
                <a:lnTo>
                  <a:pt x="1828431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6844" y="255602"/>
            <a:ext cx="1828800" cy="237490"/>
          </a:xfrm>
          <a:prstGeom prst="rect">
            <a:avLst/>
          </a:prstGeom>
          <a:ln w="6479">
            <a:solidFill>
              <a:srgbClr val="2462EA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323215">
              <a:lnSpc>
                <a:spcPct val="100000"/>
              </a:lnSpc>
              <a:spcBef>
                <a:spcPts val="455"/>
              </a:spcBef>
            </a:pP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F</a:t>
            </a:r>
            <a:r>
              <a:rPr sz="800" b="1" spc="-4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O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N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C</a:t>
            </a:r>
            <a:r>
              <a:rPr sz="800" b="1" spc="-2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T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I</a:t>
            </a:r>
            <a:r>
              <a:rPr sz="800" b="1" spc="-3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O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N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N</a:t>
            </a:r>
            <a:r>
              <a:rPr sz="800" b="1" spc="-2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A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L</a:t>
            </a:r>
            <a:r>
              <a:rPr sz="800" b="1" spc="-2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I</a:t>
            </a:r>
            <a:r>
              <a:rPr sz="800" b="1" spc="-4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T</a:t>
            </a:r>
            <a:r>
              <a:rPr sz="800" b="1" spc="-2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É</a:t>
            </a:r>
            <a:r>
              <a:rPr sz="800" b="1" spc="28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0</a:t>
            </a:r>
            <a:r>
              <a:rPr sz="800" b="1" spc="-3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2462EA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Génération</a:t>
            </a:r>
            <a:r>
              <a:rPr spc="-80" dirty="0"/>
              <a:t> </a:t>
            </a:r>
            <a:r>
              <a:rPr spc="-10" dirty="0"/>
              <a:t>automatique</a:t>
            </a:r>
            <a:r>
              <a:rPr spc="-65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spc="-10" dirty="0"/>
              <a:t>rapports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144" y="1113385"/>
            <a:ext cx="542036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Des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documents prêts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à</a:t>
            </a:r>
            <a:r>
              <a:rPr sz="1300" spc="-20" dirty="0">
                <a:solidFill>
                  <a:srgbClr val="63738A"/>
                </a:solidFill>
                <a:latin typeface="Calibri"/>
                <a:cs typeface="Calibri"/>
              </a:rPr>
              <a:t> soumettre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aux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comités</a:t>
            </a:r>
            <a:r>
              <a:rPr sz="13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—</a:t>
            </a:r>
            <a:r>
              <a:rPr sz="13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générés</a:t>
            </a:r>
            <a:r>
              <a:rPr sz="13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en</a:t>
            </a:r>
            <a:r>
              <a:rPr sz="13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quelques</a:t>
            </a:r>
            <a:r>
              <a:rPr sz="13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secondes.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0494" y="1365252"/>
            <a:ext cx="3853179" cy="3624579"/>
            <a:chOff x="450494" y="1365252"/>
            <a:chExt cx="3853179" cy="3624579"/>
          </a:xfrm>
        </p:grpSpPr>
        <p:sp>
          <p:nvSpPr>
            <p:cNvPr id="7" name="object 7"/>
            <p:cNvSpPr/>
            <p:nvPr/>
          </p:nvSpPr>
          <p:spPr>
            <a:xfrm>
              <a:off x="456844" y="1371602"/>
              <a:ext cx="3840479" cy="3611879"/>
            </a:xfrm>
            <a:custGeom>
              <a:avLst/>
              <a:gdLst/>
              <a:ahLst/>
              <a:cxnLst/>
              <a:rect l="l" t="t" r="r" b="b"/>
              <a:pathLst>
                <a:path w="3840479" h="3611879">
                  <a:moveTo>
                    <a:pt x="3840111" y="0"/>
                  </a:moveTo>
                  <a:lnTo>
                    <a:pt x="0" y="0"/>
                  </a:lnTo>
                  <a:lnTo>
                    <a:pt x="0" y="3611524"/>
                  </a:lnTo>
                  <a:lnTo>
                    <a:pt x="1920239" y="3611524"/>
                  </a:lnTo>
                  <a:lnTo>
                    <a:pt x="3840111" y="3611524"/>
                  </a:lnTo>
                  <a:lnTo>
                    <a:pt x="3840111" y="0"/>
                  </a:lnTo>
                  <a:close/>
                </a:path>
              </a:pathLst>
            </a:custGeom>
            <a:solidFill>
              <a:srgbClr val="0E1E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6844" y="1371602"/>
              <a:ext cx="3840479" cy="3611879"/>
            </a:xfrm>
            <a:custGeom>
              <a:avLst/>
              <a:gdLst/>
              <a:ahLst/>
              <a:cxnLst/>
              <a:rect l="l" t="t" r="r" b="b"/>
              <a:pathLst>
                <a:path w="3840479" h="3611879">
                  <a:moveTo>
                    <a:pt x="1920239" y="3611524"/>
                  </a:moveTo>
                  <a:lnTo>
                    <a:pt x="0" y="3611524"/>
                  </a:lnTo>
                  <a:lnTo>
                    <a:pt x="0" y="0"/>
                  </a:lnTo>
                  <a:lnTo>
                    <a:pt x="3840111" y="0"/>
                  </a:lnTo>
                  <a:lnTo>
                    <a:pt x="3840111" y="3611524"/>
                  </a:lnTo>
                  <a:lnTo>
                    <a:pt x="1920239" y="3611524"/>
                  </a:lnTo>
                  <a:close/>
                </a:path>
              </a:pathLst>
            </a:custGeom>
            <a:ln w="12599">
              <a:solidFill>
                <a:srgbClr val="92C4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6844" y="1371246"/>
              <a:ext cx="3840479" cy="457200"/>
            </a:xfrm>
            <a:custGeom>
              <a:avLst/>
              <a:gdLst/>
              <a:ahLst/>
              <a:cxnLst/>
              <a:rect l="l" t="t" r="r" b="b"/>
              <a:pathLst>
                <a:path w="3840479" h="457200">
                  <a:moveTo>
                    <a:pt x="3840111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1920239" y="456831"/>
                  </a:lnTo>
                  <a:lnTo>
                    <a:pt x="3840111" y="456831"/>
                  </a:lnTo>
                  <a:lnTo>
                    <a:pt x="3840111" y="0"/>
                  </a:lnTo>
                  <a:close/>
                </a:path>
              </a:pathLst>
            </a:custGeom>
            <a:solidFill>
              <a:srgbClr val="1D3F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56844" y="1371424"/>
            <a:ext cx="3840479" cy="457200"/>
          </a:xfrm>
          <a:prstGeom prst="rect">
            <a:avLst/>
          </a:prstGeom>
          <a:ln w="12599">
            <a:solidFill>
              <a:srgbClr val="1D3FAE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045"/>
              </a:spcBef>
            </a:pPr>
            <a:r>
              <a:rPr sz="1150" spc="90" dirty="0">
                <a:solidFill>
                  <a:srgbClr val="FFFFFF"/>
                </a:solidFill>
                <a:latin typeface="MingLiU_HKSCS-ExtB"/>
                <a:cs typeface="MingLiU_HKSCS-ExtB"/>
              </a:rPr>
              <a:t>📄</a:t>
            </a:r>
            <a:r>
              <a:rPr sz="1150" spc="-140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Rapport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Sectoriel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Santé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MAR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9724" y="1974966"/>
            <a:ext cx="3474720" cy="347345"/>
          </a:xfrm>
          <a:custGeom>
            <a:avLst/>
            <a:gdLst/>
            <a:ahLst/>
            <a:cxnLst/>
            <a:rect l="l" t="t" r="r" b="b"/>
            <a:pathLst>
              <a:path w="3474720" h="347344">
                <a:moveTo>
                  <a:pt x="3474351" y="0"/>
                </a:moveTo>
                <a:lnTo>
                  <a:pt x="0" y="0"/>
                </a:lnTo>
                <a:lnTo>
                  <a:pt x="0" y="347040"/>
                </a:lnTo>
                <a:lnTo>
                  <a:pt x="1737360" y="347040"/>
                </a:lnTo>
                <a:lnTo>
                  <a:pt x="3474351" y="347040"/>
                </a:lnTo>
                <a:lnTo>
                  <a:pt x="3474351" y="0"/>
                </a:lnTo>
                <a:close/>
              </a:path>
            </a:pathLst>
          </a:custGeom>
          <a:solidFill>
            <a:srgbClr val="0C1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39724" y="1974966"/>
            <a:ext cx="3474720" cy="347345"/>
          </a:xfrm>
          <a:prstGeom prst="rect">
            <a:avLst/>
          </a:prstGeom>
          <a:ln w="12599">
            <a:solidFill>
              <a:srgbClr val="101C2F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795"/>
              </a:spcBef>
            </a:pPr>
            <a:r>
              <a:rPr sz="950" spc="-10" dirty="0">
                <a:solidFill>
                  <a:srgbClr val="92C4FC"/>
                </a:solidFill>
                <a:latin typeface="Calibri"/>
                <a:cs typeface="Calibri"/>
              </a:rPr>
              <a:t>Synthèse exécutive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 · · ·</a:t>
            </a:r>
            <a:r>
              <a:rPr sz="950" spc="-1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-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-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 · ·</a:t>
            </a:r>
            <a:r>
              <a:rPr sz="950" spc="-1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 ·</a:t>
            </a:r>
            <a:r>
              <a:rPr sz="950" spc="-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92C4FC"/>
                </a:solidFill>
                <a:latin typeface="Calibri"/>
                <a:cs typeface="Calibri"/>
              </a:rPr>
              <a:t>02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9724" y="2450517"/>
            <a:ext cx="3474720" cy="347345"/>
          </a:xfrm>
          <a:custGeom>
            <a:avLst/>
            <a:gdLst/>
            <a:ahLst/>
            <a:cxnLst/>
            <a:rect l="l" t="t" r="r" b="b"/>
            <a:pathLst>
              <a:path w="3474720" h="347344">
                <a:moveTo>
                  <a:pt x="3474351" y="0"/>
                </a:moveTo>
                <a:lnTo>
                  <a:pt x="0" y="0"/>
                </a:lnTo>
                <a:lnTo>
                  <a:pt x="0" y="347040"/>
                </a:lnTo>
                <a:lnTo>
                  <a:pt x="1737360" y="347040"/>
                </a:lnTo>
                <a:lnTo>
                  <a:pt x="3474351" y="347040"/>
                </a:lnTo>
                <a:lnTo>
                  <a:pt x="3474351" y="0"/>
                </a:lnTo>
                <a:close/>
              </a:path>
            </a:pathLst>
          </a:custGeom>
          <a:solidFill>
            <a:srgbClr val="101C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39724" y="2450517"/>
            <a:ext cx="3474720" cy="347345"/>
          </a:xfrm>
          <a:prstGeom prst="rect">
            <a:avLst/>
          </a:prstGeom>
          <a:ln w="12599">
            <a:solidFill>
              <a:srgbClr val="101C2F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795"/>
              </a:spcBef>
            </a:pP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Analyse</a:t>
            </a:r>
            <a:r>
              <a:rPr sz="950" spc="-10" dirty="0">
                <a:solidFill>
                  <a:srgbClr val="92C4FC"/>
                </a:solidFill>
                <a:latin typeface="Calibri"/>
                <a:cs typeface="Calibri"/>
              </a:rPr>
              <a:t> sectorielle</a:t>
            </a:r>
            <a:r>
              <a:rPr sz="950" spc="-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-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 ·</a:t>
            </a:r>
            <a:r>
              <a:rPr sz="950" spc="-1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-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 ·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-1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 </a:t>
            </a:r>
            <a:r>
              <a:rPr sz="950" spc="-25" dirty="0">
                <a:solidFill>
                  <a:srgbClr val="92C4FC"/>
                </a:solidFill>
                <a:latin typeface="Calibri"/>
                <a:cs typeface="Calibri"/>
              </a:rPr>
              <a:t>05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39724" y="2926082"/>
            <a:ext cx="3474720" cy="347345"/>
          </a:xfrm>
          <a:custGeom>
            <a:avLst/>
            <a:gdLst/>
            <a:ahLst/>
            <a:cxnLst/>
            <a:rect l="l" t="t" r="r" b="b"/>
            <a:pathLst>
              <a:path w="3474720" h="347345">
                <a:moveTo>
                  <a:pt x="3474351" y="0"/>
                </a:moveTo>
                <a:lnTo>
                  <a:pt x="0" y="0"/>
                </a:lnTo>
                <a:lnTo>
                  <a:pt x="0" y="347040"/>
                </a:lnTo>
                <a:lnTo>
                  <a:pt x="1737360" y="347040"/>
                </a:lnTo>
                <a:lnTo>
                  <a:pt x="3474351" y="347040"/>
                </a:lnTo>
                <a:lnTo>
                  <a:pt x="3474351" y="0"/>
                </a:lnTo>
                <a:close/>
              </a:path>
            </a:pathLst>
          </a:custGeom>
          <a:solidFill>
            <a:srgbClr val="0C1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9724" y="2926082"/>
            <a:ext cx="3474720" cy="347345"/>
          </a:xfrm>
          <a:prstGeom prst="rect">
            <a:avLst/>
          </a:prstGeom>
          <a:ln w="12599">
            <a:solidFill>
              <a:srgbClr val="101C2F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795"/>
              </a:spcBef>
            </a:pPr>
            <a:r>
              <a:rPr sz="950" spc="-10" dirty="0">
                <a:solidFill>
                  <a:srgbClr val="92C4FC"/>
                </a:solidFill>
                <a:latin typeface="Calibri"/>
                <a:cs typeface="Calibri"/>
              </a:rPr>
              <a:t>Benchmark</a:t>
            </a:r>
            <a:r>
              <a:rPr sz="950" spc="-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92C4FC"/>
                </a:solidFill>
                <a:latin typeface="Calibri"/>
                <a:cs typeface="Calibri"/>
              </a:rPr>
              <a:t>international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10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10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-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10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10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92C4FC"/>
                </a:solidFill>
                <a:latin typeface="Calibri"/>
                <a:cs typeface="Calibri"/>
              </a:rPr>
              <a:t>12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9724" y="3401646"/>
            <a:ext cx="3474720" cy="347345"/>
          </a:xfrm>
          <a:custGeom>
            <a:avLst/>
            <a:gdLst/>
            <a:ahLst/>
            <a:cxnLst/>
            <a:rect l="l" t="t" r="r" b="b"/>
            <a:pathLst>
              <a:path w="3474720" h="347345">
                <a:moveTo>
                  <a:pt x="3474351" y="0"/>
                </a:moveTo>
                <a:lnTo>
                  <a:pt x="0" y="0"/>
                </a:lnTo>
                <a:lnTo>
                  <a:pt x="0" y="347040"/>
                </a:lnTo>
                <a:lnTo>
                  <a:pt x="1737360" y="347040"/>
                </a:lnTo>
                <a:lnTo>
                  <a:pt x="3474351" y="347040"/>
                </a:lnTo>
                <a:lnTo>
                  <a:pt x="3474351" y="0"/>
                </a:lnTo>
                <a:close/>
              </a:path>
            </a:pathLst>
          </a:custGeom>
          <a:solidFill>
            <a:srgbClr val="101C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9724" y="3401646"/>
            <a:ext cx="3474720" cy="347345"/>
          </a:xfrm>
          <a:prstGeom prst="rect">
            <a:avLst/>
          </a:prstGeom>
          <a:ln w="12599">
            <a:solidFill>
              <a:srgbClr val="101C2F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795"/>
              </a:spcBef>
            </a:pPr>
            <a:r>
              <a:rPr sz="950" spc="-10" dirty="0">
                <a:solidFill>
                  <a:srgbClr val="92C4FC"/>
                </a:solidFill>
                <a:latin typeface="Calibri"/>
                <a:cs typeface="Calibri"/>
              </a:rPr>
              <a:t>Risques identifiés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 ·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-10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 ·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-10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 </a:t>
            </a:r>
            <a:r>
              <a:rPr sz="950" spc="-35" dirty="0">
                <a:solidFill>
                  <a:srgbClr val="92C4FC"/>
                </a:solidFill>
                <a:latin typeface="Calibri"/>
                <a:cs typeface="Calibri"/>
              </a:rPr>
              <a:t>18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39724" y="3877197"/>
            <a:ext cx="3474720" cy="347345"/>
          </a:xfrm>
          <a:custGeom>
            <a:avLst/>
            <a:gdLst/>
            <a:ahLst/>
            <a:cxnLst/>
            <a:rect l="l" t="t" r="r" b="b"/>
            <a:pathLst>
              <a:path w="3474720" h="347345">
                <a:moveTo>
                  <a:pt x="3474351" y="0"/>
                </a:moveTo>
                <a:lnTo>
                  <a:pt x="0" y="0"/>
                </a:lnTo>
                <a:lnTo>
                  <a:pt x="0" y="347040"/>
                </a:lnTo>
                <a:lnTo>
                  <a:pt x="1737360" y="347040"/>
                </a:lnTo>
                <a:lnTo>
                  <a:pt x="3474351" y="347040"/>
                </a:lnTo>
                <a:lnTo>
                  <a:pt x="3474351" y="0"/>
                </a:lnTo>
                <a:close/>
              </a:path>
            </a:pathLst>
          </a:custGeom>
          <a:solidFill>
            <a:srgbClr val="0C1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39724" y="3877197"/>
            <a:ext cx="3474720" cy="347345"/>
          </a:xfrm>
          <a:prstGeom prst="rect">
            <a:avLst/>
          </a:prstGeom>
          <a:ln w="12599">
            <a:solidFill>
              <a:srgbClr val="101C2F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795"/>
              </a:spcBef>
            </a:pPr>
            <a:r>
              <a:rPr sz="950" spc="-10" dirty="0">
                <a:solidFill>
                  <a:srgbClr val="92C4FC"/>
                </a:solidFill>
                <a:latin typeface="Calibri"/>
                <a:cs typeface="Calibri"/>
              </a:rPr>
              <a:t>Opportunités d'investissement</a:t>
            </a:r>
            <a:r>
              <a:rPr sz="950" spc="-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10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10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-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92C4FC"/>
                </a:solidFill>
                <a:latin typeface="Calibri"/>
                <a:cs typeface="Calibri"/>
              </a:rPr>
              <a:t>24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39724" y="4352406"/>
            <a:ext cx="3474720" cy="347345"/>
          </a:xfrm>
          <a:custGeom>
            <a:avLst/>
            <a:gdLst/>
            <a:ahLst/>
            <a:cxnLst/>
            <a:rect l="l" t="t" r="r" b="b"/>
            <a:pathLst>
              <a:path w="3474720" h="347345">
                <a:moveTo>
                  <a:pt x="3474351" y="0"/>
                </a:moveTo>
                <a:lnTo>
                  <a:pt x="0" y="0"/>
                </a:lnTo>
                <a:lnTo>
                  <a:pt x="0" y="347040"/>
                </a:lnTo>
                <a:lnTo>
                  <a:pt x="1737360" y="347040"/>
                </a:lnTo>
                <a:lnTo>
                  <a:pt x="3474351" y="347040"/>
                </a:lnTo>
                <a:lnTo>
                  <a:pt x="3474351" y="0"/>
                </a:lnTo>
                <a:close/>
              </a:path>
            </a:pathLst>
          </a:custGeom>
          <a:solidFill>
            <a:srgbClr val="101C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30542" y="4352406"/>
            <a:ext cx="3483610" cy="347345"/>
          </a:xfrm>
          <a:prstGeom prst="rect">
            <a:avLst/>
          </a:prstGeom>
          <a:ln w="12599">
            <a:solidFill>
              <a:srgbClr val="101C2F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795"/>
              </a:spcBef>
            </a:pPr>
            <a:r>
              <a:rPr sz="950" spc="-10" dirty="0">
                <a:solidFill>
                  <a:srgbClr val="92C4FC"/>
                </a:solidFill>
                <a:latin typeface="Calibri"/>
                <a:cs typeface="Calibri"/>
              </a:rPr>
              <a:t>Prévisions</a:t>
            </a:r>
            <a:r>
              <a:rPr sz="950" spc="-1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12</a:t>
            </a:r>
            <a:r>
              <a:rPr sz="950" spc="-1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mois</a:t>
            </a:r>
            <a:r>
              <a:rPr sz="950" spc="-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 · ·</a:t>
            </a:r>
            <a:r>
              <a:rPr sz="950" spc="-1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 ·</a:t>
            </a:r>
            <a:r>
              <a:rPr sz="950" spc="-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</a:t>
            </a:r>
            <a:r>
              <a:rPr sz="950" spc="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 · ·</a:t>
            </a:r>
            <a:r>
              <a:rPr sz="950" spc="-15" dirty="0">
                <a:solidFill>
                  <a:srgbClr val="92C4FC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92C4FC"/>
                </a:solidFill>
                <a:latin typeface="Calibri"/>
                <a:cs typeface="Calibri"/>
              </a:rPr>
              <a:t>· </a:t>
            </a:r>
            <a:r>
              <a:rPr sz="950" spc="-25" dirty="0">
                <a:solidFill>
                  <a:srgbClr val="92C4FC"/>
                </a:solidFill>
                <a:latin typeface="Calibri"/>
                <a:cs typeface="Calibri"/>
              </a:rPr>
              <a:t>28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21360" y="4681806"/>
            <a:ext cx="1097280" cy="228600"/>
          </a:xfrm>
          <a:custGeom>
            <a:avLst/>
            <a:gdLst/>
            <a:ahLst/>
            <a:cxnLst/>
            <a:rect l="l" t="t" r="r" b="b"/>
            <a:pathLst>
              <a:path w="1097280" h="228600">
                <a:moveTo>
                  <a:pt x="1096924" y="0"/>
                </a:moveTo>
                <a:lnTo>
                  <a:pt x="0" y="0"/>
                </a:lnTo>
                <a:lnTo>
                  <a:pt x="0" y="228231"/>
                </a:lnTo>
                <a:lnTo>
                  <a:pt x="548640" y="228231"/>
                </a:lnTo>
                <a:lnTo>
                  <a:pt x="1096924" y="228231"/>
                </a:lnTo>
                <a:lnTo>
                  <a:pt x="1096924" y="0"/>
                </a:lnTo>
                <a:close/>
              </a:path>
            </a:pathLst>
          </a:custGeom>
          <a:solidFill>
            <a:srgbClr val="2462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30542" y="4699446"/>
            <a:ext cx="1087755" cy="210820"/>
          </a:xfrm>
          <a:prstGeom prst="rect">
            <a:avLst/>
          </a:prstGeom>
          <a:ln w="12599">
            <a:solidFill>
              <a:srgbClr val="2462EA"/>
            </a:solidFill>
          </a:ln>
        </p:spPr>
        <p:txBody>
          <a:bodyPr vert="horz" wrap="square" lIns="0" tIns="27939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219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Exporter</a:t>
            </a:r>
            <a:r>
              <a:rPr sz="9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Calibri"/>
                <a:cs typeface="Calibri"/>
              </a:rPr>
              <a:t>PDF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65699" y="1365302"/>
            <a:ext cx="4125595" cy="817244"/>
            <a:chOff x="4565699" y="1365302"/>
            <a:chExt cx="4125595" cy="817244"/>
          </a:xfrm>
        </p:grpSpPr>
        <p:sp>
          <p:nvSpPr>
            <p:cNvPr id="26" name="object 26"/>
            <p:cNvSpPr/>
            <p:nvPr/>
          </p:nvSpPr>
          <p:spPr>
            <a:xfrm>
              <a:off x="4571644" y="1371602"/>
              <a:ext cx="4114800" cy="804545"/>
            </a:xfrm>
            <a:custGeom>
              <a:avLst/>
              <a:gdLst/>
              <a:ahLst/>
              <a:cxnLst/>
              <a:rect l="l" t="t" r="r" b="b"/>
              <a:pathLst>
                <a:path w="4114800" h="804544">
                  <a:moveTo>
                    <a:pt x="4114431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057400" y="804240"/>
                  </a:lnTo>
                  <a:lnTo>
                    <a:pt x="4114431" y="804240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71644" y="1371602"/>
              <a:ext cx="4114800" cy="804545"/>
            </a:xfrm>
            <a:custGeom>
              <a:avLst/>
              <a:gdLst/>
              <a:ahLst/>
              <a:cxnLst/>
              <a:rect l="l" t="t" r="r" b="b"/>
              <a:pathLst>
                <a:path w="4114800" h="804544">
                  <a:moveTo>
                    <a:pt x="2057400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4114431" y="0"/>
                  </a:lnTo>
                  <a:lnTo>
                    <a:pt x="4114431" y="804240"/>
                  </a:lnTo>
                  <a:lnTo>
                    <a:pt x="2057400" y="804240"/>
                  </a:lnTo>
                  <a:close/>
                </a:path>
              </a:pathLst>
            </a:custGeom>
            <a:ln w="1007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1999" y="1371602"/>
              <a:ext cx="45720" cy="804545"/>
            </a:xfrm>
            <a:custGeom>
              <a:avLst/>
              <a:gdLst/>
              <a:ahLst/>
              <a:cxnLst/>
              <a:rect l="l" t="t" r="r" b="b"/>
              <a:pathLst>
                <a:path w="45720" h="804544">
                  <a:moveTo>
                    <a:pt x="45364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2682" y="804240"/>
                  </a:lnTo>
                  <a:lnTo>
                    <a:pt x="45364" y="804240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1999" y="1371602"/>
              <a:ext cx="45720" cy="804545"/>
            </a:xfrm>
            <a:custGeom>
              <a:avLst/>
              <a:gdLst/>
              <a:ahLst/>
              <a:cxnLst/>
              <a:rect l="l" t="t" r="r" b="b"/>
              <a:pathLst>
                <a:path w="45720" h="804544">
                  <a:moveTo>
                    <a:pt x="22682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804240"/>
                  </a:lnTo>
                  <a:lnTo>
                    <a:pt x="22682" y="804240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598264" y="1486702"/>
            <a:ext cx="4108450" cy="647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4995">
              <a:lnSpc>
                <a:spcPts val="1175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E1629"/>
                </a:solidFill>
                <a:latin typeface="Calibri"/>
                <a:cs typeface="Calibri"/>
              </a:rPr>
              <a:t>Rédaction</a:t>
            </a:r>
            <a:r>
              <a:rPr sz="1200" b="1" spc="-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629"/>
                </a:solidFill>
                <a:latin typeface="Calibri"/>
                <a:cs typeface="Calibri"/>
              </a:rPr>
              <a:t>IA </a:t>
            </a:r>
            <a:r>
              <a:rPr sz="1200" b="1" spc="-10" dirty="0">
                <a:solidFill>
                  <a:srgbClr val="0E1629"/>
                </a:solidFill>
                <a:latin typeface="Calibri"/>
                <a:cs typeface="Calibri"/>
              </a:rPr>
              <a:t>automatisée</a:t>
            </a:r>
            <a:endParaRPr sz="1200">
              <a:latin typeface="Calibri"/>
              <a:cs typeface="Calibri"/>
            </a:endParaRPr>
          </a:p>
          <a:p>
            <a:pPr marL="110489">
              <a:lnSpc>
                <a:spcPts val="2540"/>
              </a:lnSpc>
            </a:pPr>
            <a:r>
              <a:rPr sz="3525" spc="209" baseline="11820" dirty="0">
                <a:latin typeface="MingLiU_HKSCS-ExtB"/>
                <a:cs typeface="MingLiU_HKSCS-ExtB"/>
              </a:rPr>
              <a:t>🤖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L'IA</a:t>
            </a:r>
            <a:r>
              <a:rPr sz="10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rédige</a:t>
            </a:r>
            <a:r>
              <a:rPr sz="10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les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 synthèses, conclusions</a:t>
            </a:r>
            <a:r>
              <a:rPr sz="1000" spc="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et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recommandations</a:t>
            </a:r>
            <a:r>
              <a:rPr sz="10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63738A"/>
                </a:solidFill>
                <a:latin typeface="Calibri"/>
                <a:cs typeface="Calibri"/>
              </a:rPr>
              <a:t>en</a:t>
            </a:r>
            <a:endParaRPr sz="1000">
              <a:latin typeface="Calibri"/>
              <a:cs typeface="Calibri"/>
            </a:endParaRPr>
          </a:p>
          <a:p>
            <a:pPr marL="594995">
              <a:lnSpc>
                <a:spcPts val="1185"/>
              </a:lnSpc>
            </a:pP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langage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naturel</a:t>
            </a:r>
            <a:r>
              <a:rPr sz="1000" spc="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professionnel.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565699" y="2279702"/>
            <a:ext cx="4125595" cy="817244"/>
            <a:chOff x="4565699" y="2279702"/>
            <a:chExt cx="4125595" cy="817244"/>
          </a:xfrm>
        </p:grpSpPr>
        <p:sp>
          <p:nvSpPr>
            <p:cNvPr id="32" name="object 32"/>
            <p:cNvSpPr/>
            <p:nvPr/>
          </p:nvSpPr>
          <p:spPr>
            <a:xfrm>
              <a:off x="4571644" y="2286002"/>
              <a:ext cx="4114800" cy="804545"/>
            </a:xfrm>
            <a:custGeom>
              <a:avLst/>
              <a:gdLst/>
              <a:ahLst/>
              <a:cxnLst/>
              <a:rect l="l" t="t" r="r" b="b"/>
              <a:pathLst>
                <a:path w="4114800" h="804544">
                  <a:moveTo>
                    <a:pt x="4114431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057400" y="804240"/>
                  </a:lnTo>
                  <a:lnTo>
                    <a:pt x="4114431" y="804240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71644" y="2286002"/>
              <a:ext cx="4114800" cy="804545"/>
            </a:xfrm>
            <a:custGeom>
              <a:avLst/>
              <a:gdLst/>
              <a:ahLst/>
              <a:cxnLst/>
              <a:rect l="l" t="t" r="r" b="b"/>
              <a:pathLst>
                <a:path w="4114800" h="804544">
                  <a:moveTo>
                    <a:pt x="2057400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4114431" y="0"/>
                  </a:lnTo>
                  <a:lnTo>
                    <a:pt x="4114431" y="804240"/>
                  </a:lnTo>
                  <a:lnTo>
                    <a:pt x="2057400" y="804240"/>
                  </a:lnTo>
                  <a:close/>
                </a:path>
              </a:pathLst>
            </a:custGeom>
            <a:ln w="1007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71999" y="2286002"/>
              <a:ext cx="45720" cy="804545"/>
            </a:xfrm>
            <a:custGeom>
              <a:avLst/>
              <a:gdLst/>
              <a:ahLst/>
              <a:cxnLst/>
              <a:rect l="l" t="t" r="r" b="b"/>
              <a:pathLst>
                <a:path w="45720" h="804544">
                  <a:moveTo>
                    <a:pt x="45364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2682" y="804240"/>
                  </a:lnTo>
                  <a:lnTo>
                    <a:pt x="45364" y="804240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1999" y="2286002"/>
              <a:ext cx="45720" cy="804545"/>
            </a:xfrm>
            <a:custGeom>
              <a:avLst/>
              <a:gdLst/>
              <a:ahLst/>
              <a:cxnLst/>
              <a:rect l="l" t="t" r="r" b="b"/>
              <a:pathLst>
                <a:path w="45720" h="804544">
                  <a:moveTo>
                    <a:pt x="22682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804240"/>
                  </a:lnTo>
                  <a:lnTo>
                    <a:pt x="22682" y="804240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598264" y="2401102"/>
            <a:ext cx="4108450" cy="647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4995">
              <a:lnSpc>
                <a:spcPts val="1175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E1629"/>
                </a:solidFill>
                <a:latin typeface="Calibri"/>
                <a:cs typeface="Calibri"/>
              </a:rPr>
              <a:t>Graphiques</a:t>
            </a:r>
            <a:r>
              <a:rPr sz="1200" b="1" spc="-2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629"/>
                </a:solidFill>
                <a:latin typeface="Calibri"/>
                <a:cs typeface="Calibri"/>
              </a:rPr>
              <a:t>dynamiques</a:t>
            </a:r>
            <a:r>
              <a:rPr sz="1200" b="1" spc="-3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E1629"/>
                </a:solidFill>
                <a:latin typeface="Calibri"/>
                <a:cs typeface="Calibri"/>
              </a:rPr>
              <a:t>intégrés</a:t>
            </a:r>
            <a:endParaRPr sz="1200">
              <a:latin typeface="Calibri"/>
              <a:cs typeface="Calibri"/>
            </a:endParaRPr>
          </a:p>
          <a:p>
            <a:pPr marL="110489">
              <a:lnSpc>
                <a:spcPts val="2540"/>
              </a:lnSpc>
            </a:pPr>
            <a:r>
              <a:rPr sz="3525" spc="209" baseline="11820" dirty="0">
                <a:latin typeface="MingLiU_HKSCS-ExtB"/>
                <a:cs typeface="MingLiU_HKSCS-ExtB"/>
              </a:rPr>
              <a:t>📊</a:t>
            </a:r>
            <a:r>
              <a:rPr sz="3525" spc="187" baseline="11820" dirty="0"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Les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visuels</a:t>
            </a:r>
            <a:r>
              <a:rPr sz="10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(charts, tableaux)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sont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générés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 et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 insérés</a:t>
            </a:r>
            <a:endParaRPr sz="1000">
              <a:latin typeface="Calibri"/>
              <a:cs typeface="Calibri"/>
            </a:endParaRPr>
          </a:p>
          <a:p>
            <a:pPr marL="594995">
              <a:lnSpc>
                <a:spcPts val="1185"/>
              </a:lnSpc>
            </a:pP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automatiquement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 dans</a:t>
            </a:r>
            <a:r>
              <a:rPr sz="10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le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rapport.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565699" y="3194102"/>
            <a:ext cx="4125595" cy="817244"/>
            <a:chOff x="4565699" y="3194102"/>
            <a:chExt cx="4125595" cy="817244"/>
          </a:xfrm>
        </p:grpSpPr>
        <p:sp>
          <p:nvSpPr>
            <p:cNvPr id="38" name="object 38"/>
            <p:cNvSpPr/>
            <p:nvPr/>
          </p:nvSpPr>
          <p:spPr>
            <a:xfrm>
              <a:off x="4571644" y="3200402"/>
              <a:ext cx="4114800" cy="804545"/>
            </a:xfrm>
            <a:custGeom>
              <a:avLst/>
              <a:gdLst/>
              <a:ahLst/>
              <a:cxnLst/>
              <a:rect l="l" t="t" r="r" b="b"/>
              <a:pathLst>
                <a:path w="4114800" h="804545">
                  <a:moveTo>
                    <a:pt x="4114431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057400" y="804240"/>
                  </a:lnTo>
                  <a:lnTo>
                    <a:pt x="4114431" y="804240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71644" y="3200402"/>
              <a:ext cx="4114800" cy="804545"/>
            </a:xfrm>
            <a:custGeom>
              <a:avLst/>
              <a:gdLst/>
              <a:ahLst/>
              <a:cxnLst/>
              <a:rect l="l" t="t" r="r" b="b"/>
              <a:pathLst>
                <a:path w="4114800" h="804545">
                  <a:moveTo>
                    <a:pt x="2057400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4114431" y="0"/>
                  </a:lnTo>
                  <a:lnTo>
                    <a:pt x="4114431" y="804240"/>
                  </a:lnTo>
                  <a:lnTo>
                    <a:pt x="2057400" y="804240"/>
                  </a:lnTo>
                  <a:close/>
                </a:path>
              </a:pathLst>
            </a:custGeom>
            <a:ln w="1007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71999" y="3200402"/>
              <a:ext cx="45720" cy="804545"/>
            </a:xfrm>
            <a:custGeom>
              <a:avLst/>
              <a:gdLst/>
              <a:ahLst/>
              <a:cxnLst/>
              <a:rect l="l" t="t" r="r" b="b"/>
              <a:pathLst>
                <a:path w="45720" h="804545">
                  <a:moveTo>
                    <a:pt x="45364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2682" y="804240"/>
                  </a:lnTo>
                  <a:lnTo>
                    <a:pt x="45364" y="804240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571999" y="3200402"/>
              <a:ext cx="45720" cy="804545"/>
            </a:xfrm>
            <a:custGeom>
              <a:avLst/>
              <a:gdLst/>
              <a:ahLst/>
              <a:cxnLst/>
              <a:rect l="l" t="t" r="r" b="b"/>
              <a:pathLst>
                <a:path w="45720" h="804545">
                  <a:moveTo>
                    <a:pt x="22682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804240"/>
                  </a:lnTo>
                  <a:lnTo>
                    <a:pt x="22682" y="804240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598264" y="3315501"/>
            <a:ext cx="4108450" cy="647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4995">
              <a:lnSpc>
                <a:spcPts val="1175"/>
              </a:lnSpc>
              <a:spcBef>
                <a:spcPts val="100"/>
              </a:spcBef>
            </a:pPr>
            <a:r>
              <a:rPr sz="1200" b="1" spc="-20" dirty="0">
                <a:solidFill>
                  <a:srgbClr val="0E1629"/>
                </a:solidFill>
                <a:latin typeface="Calibri"/>
                <a:cs typeface="Calibri"/>
              </a:rPr>
              <a:t>Multi-</a:t>
            </a:r>
            <a:r>
              <a:rPr sz="1200" b="1" dirty="0">
                <a:solidFill>
                  <a:srgbClr val="0E1629"/>
                </a:solidFill>
                <a:latin typeface="Calibri"/>
                <a:cs typeface="Calibri"/>
              </a:rPr>
              <a:t>format</a:t>
            </a:r>
            <a:r>
              <a:rPr sz="1200" b="1" spc="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629"/>
                </a:solidFill>
                <a:latin typeface="Calibri"/>
                <a:cs typeface="Calibri"/>
              </a:rPr>
              <a:t>&amp;</a:t>
            </a:r>
            <a:r>
              <a:rPr sz="1200" b="1" spc="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E1629"/>
                </a:solidFill>
                <a:latin typeface="Calibri"/>
                <a:cs typeface="Calibri"/>
              </a:rPr>
              <a:t>multi-langue</a:t>
            </a:r>
            <a:endParaRPr sz="1200">
              <a:latin typeface="Calibri"/>
              <a:cs typeface="Calibri"/>
            </a:endParaRPr>
          </a:p>
          <a:p>
            <a:pPr marL="110489">
              <a:lnSpc>
                <a:spcPts val="2540"/>
              </a:lnSpc>
            </a:pPr>
            <a:r>
              <a:rPr sz="3525" spc="209" baseline="11820" dirty="0">
                <a:latin typeface="MingLiU_HKSCS-ExtB"/>
                <a:cs typeface="MingLiU_HKSCS-ExtB"/>
              </a:rPr>
              <a:t>🌍</a:t>
            </a:r>
            <a:r>
              <a:rPr sz="3525" spc="104" baseline="11820" dirty="0"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Export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en</a:t>
            </a:r>
            <a:r>
              <a:rPr sz="10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63738A"/>
                </a:solidFill>
                <a:latin typeface="Calibri"/>
                <a:cs typeface="Calibri"/>
              </a:rPr>
              <a:t>PDF,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 Word,</a:t>
            </a:r>
            <a:r>
              <a:rPr sz="10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PowerPoint.</a:t>
            </a:r>
            <a:r>
              <a:rPr sz="10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Disponible</a:t>
            </a:r>
            <a:r>
              <a:rPr sz="10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en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 français,</a:t>
            </a:r>
            <a:r>
              <a:rPr sz="10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arabe</a:t>
            </a:r>
            <a:r>
              <a:rPr sz="10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63738A"/>
                </a:solidFill>
                <a:latin typeface="Calibri"/>
                <a:cs typeface="Calibri"/>
              </a:rPr>
              <a:t>et</a:t>
            </a:r>
            <a:endParaRPr sz="1000">
              <a:latin typeface="Calibri"/>
              <a:cs typeface="Calibri"/>
            </a:endParaRPr>
          </a:p>
          <a:p>
            <a:pPr marL="594995">
              <a:lnSpc>
                <a:spcPts val="1185"/>
              </a:lnSpc>
            </a:pP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anglais.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565699" y="4108502"/>
            <a:ext cx="4125595" cy="817244"/>
            <a:chOff x="4565699" y="4108502"/>
            <a:chExt cx="4125595" cy="817244"/>
          </a:xfrm>
        </p:grpSpPr>
        <p:sp>
          <p:nvSpPr>
            <p:cNvPr id="44" name="object 44"/>
            <p:cNvSpPr/>
            <p:nvPr/>
          </p:nvSpPr>
          <p:spPr>
            <a:xfrm>
              <a:off x="4571644" y="4114802"/>
              <a:ext cx="4114800" cy="804545"/>
            </a:xfrm>
            <a:custGeom>
              <a:avLst/>
              <a:gdLst/>
              <a:ahLst/>
              <a:cxnLst/>
              <a:rect l="l" t="t" r="r" b="b"/>
              <a:pathLst>
                <a:path w="4114800" h="804545">
                  <a:moveTo>
                    <a:pt x="4114431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057400" y="804240"/>
                  </a:lnTo>
                  <a:lnTo>
                    <a:pt x="4114431" y="804240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71644" y="4114802"/>
              <a:ext cx="4114800" cy="804545"/>
            </a:xfrm>
            <a:custGeom>
              <a:avLst/>
              <a:gdLst/>
              <a:ahLst/>
              <a:cxnLst/>
              <a:rect l="l" t="t" r="r" b="b"/>
              <a:pathLst>
                <a:path w="4114800" h="804545">
                  <a:moveTo>
                    <a:pt x="2057400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4114431" y="0"/>
                  </a:lnTo>
                  <a:lnTo>
                    <a:pt x="4114431" y="804240"/>
                  </a:lnTo>
                  <a:lnTo>
                    <a:pt x="2057400" y="804240"/>
                  </a:lnTo>
                  <a:close/>
                </a:path>
              </a:pathLst>
            </a:custGeom>
            <a:ln w="1007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571999" y="4114802"/>
              <a:ext cx="45720" cy="804545"/>
            </a:xfrm>
            <a:custGeom>
              <a:avLst/>
              <a:gdLst/>
              <a:ahLst/>
              <a:cxnLst/>
              <a:rect l="l" t="t" r="r" b="b"/>
              <a:pathLst>
                <a:path w="45720" h="804545">
                  <a:moveTo>
                    <a:pt x="45364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2682" y="804240"/>
                  </a:lnTo>
                  <a:lnTo>
                    <a:pt x="45364" y="804240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571999" y="4114802"/>
              <a:ext cx="45720" cy="804545"/>
            </a:xfrm>
            <a:custGeom>
              <a:avLst/>
              <a:gdLst/>
              <a:ahLst/>
              <a:cxnLst/>
              <a:rect l="l" t="t" r="r" b="b"/>
              <a:pathLst>
                <a:path w="45720" h="804545">
                  <a:moveTo>
                    <a:pt x="22682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804240"/>
                  </a:lnTo>
                  <a:lnTo>
                    <a:pt x="22682" y="804240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598264" y="4229902"/>
            <a:ext cx="4108450" cy="647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4995">
              <a:lnSpc>
                <a:spcPts val="1175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E1629"/>
                </a:solidFill>
                <a:latin typeface="Calibri"/>
                <a:cs typeface="Calibri"/>
              </a:rPr>
              <a:t>Génération</a:t>
            </a:r>
            <a:r>
              <a:rPr sz="1200" b="1" spc="-2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629"/>
                </a:solidFill>
                <a:latin typeface="Calibri"/>
                <a:cs typeface="Calibri"/>
              </a:rPr>
              <a:t>en</a:t>
            </a:r>
            <a:r>
              <a:rPr sz="1200" b="1" spc="-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629"/>
                </a:solidFill>
                <a:latin typeface="Calibri"/>
                <a:cs typeface="Calibri"/>
              </a:rPr>
              <a:t>moins</a:t>
            </a:r>
            <a:r>
              <a:rPr sz="1200" b="1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629"/>
                </a:solidFill>
                <a:latin typeface="Calibri"/>
                <a:cs typeface="Calibri"/>
              </a:rPr>
              <a:t>de</a:t>
            </a:r>
            <a:r>
              <a:rPr sz="1200" b="1" spc="-2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E1629"/>
                </a:solidFill>
                <a:latin typeface="Calibri"/>
                <a:cs typeface="Calibri"/>
              </a:rPr>
              <a:t>30</a:t>
            </a:r>
            <a:r>
              <a:rPr sz="1200" b="1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0E1629"/>
                </a:solidFill>
                <a:latin typeface="Calibri"/>
                <a:cs typeface="Calibri"/>
              </a:rPr>
              <a:t>sec</a:t>
            </a:r>
            <a:endParaRPr sz="1200">
              <a:latin typeface="Calibri"/>
              <a:cs typeface="Calibri"/>
            </a:endParaRPr>
          </a:p>
          <a:p>
            <a:pPr marL="110489">
              <a:lnSpc>
                <a:spcPts val="2540"/>
              </a:lnSpc>
            </a:pPr>
            <a:r>
              <a:rPr sz="3525" spc="209" baseline="11820" dirty="0">
                <a:latin typeface="MingLiU_HKSCS-ExtB"/>
                <a:cs typeface="MingLiU_HKSCS-ExtB"/>
              </a:rPr>
              <a:t>⚡</a:t>
            </a:r>
            <a:r>
              <a:rPr sz="3525" spc="135" baseline="11820" dirty="0"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Un</a:t>
            </a:r>
            <a:r>
              <a:rPr sz="10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rapport complet</a:t>
            </a:r>
            <a:r>
              <a:rPr sz="10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de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30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pages</a:t>
            </a:r>
            <a:r>
              <a:rPr sz="10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produit</a:t>
            </a:r>
            <a:r>
              <a:rPr sz="10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instantanément depuis</a:t>
            </a:r>
            <a:endParaRPr sz="1000">
              <a:latin typeface="Calibri"/>
              <a:cs typeface="Calibri"/>
            </a:endParaRPr>
          </a:p>
          <a:p>
            <a:pPr marL="594995">
              <a:lnSpc>
                <a:spcPts val="1185"/>
              </a:lnSpc>
            </a:pP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les</a:t>
            </a:r>
            <a:r>
              <a:rPr sz="10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données</a:t>
            </a:r>
            <a:r>
              <a:rPr sz="10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centralisées.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55602"/>
            <a:ext cx="1828800" cy="237490"/>
          </a:xfrm>
          <a:custGeom>
            <a:avLst/>
            <a:gdLst/>
            <a:ahLst/>
            <a:cxnLst/>
            <a:rect l="l" t="t" r="r" b="b"/>
            <a:pathLst>
              <a:path w="1828800" h="237490">
                <a:moveTo>
                  <a:pt x="1828431" y="0"/>
                </a:moveTo>
                <a:lnTo>
                  <a:pt x="0" y="0"/>
                </a:lnTo>
                <a:lnTo>
                  <a:pt x="0" y="237235"/>
                </a:lnTo>
                <a:lnTo>
                  <a:pt x="914400" y="237235"/>
                </a:lnTo>
                <a:lnTo>
                  <a:pt x="1828431" y="237235"/>
                </a:lnTo>
                <a:lnTo>
                  <a:pt x="1828431" y="0"/>
                </a:lnTo>
                <a:close/>
              </a:path>
            </a:pathLst>
          </a:custGeom>
          <a:solidFill>
            <a:srgbClr val="ECE8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6844" y="255602"/>
            <a:ext cx="1828800" cy="237490"/>
          </a:xfrm>
          <a:prstGeom prst="rect">
            <a:avLst/>
          </a:prstGeom>
          <a:ln w="6479">
            <a:solidFill>
              <a:srgbClr val="7B39E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323215">
              <a:lnSpc>
                <a:spcPct val="100000"/>
              </a:lnSpc>
              <a:spcBef>
                <a:spcPts val="455"/>
              </a:spcBef>
            </a:pP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F</a:t>
            </a:r>
            <a:r>
              <a:rPr sz="800" b="1" spc="-4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C</a:t>
            </a:r>
            <a:r>
              <a:rPr sz="800" b="1" spc="-2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I</a:t>
            </a:r>
            <a:r>
              <a:rPr sz="800" b="1" spc="-3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sz="800" b="1" spc="-2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A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L</a:t>
            </a:r>
            <a:r>
              <a:rPr sz="800" b="1" spc="-2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I</a:t>
            </a:r>
            <a:r>
              <a:rPr sz="800" b="1" spc="-4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sz="800" b="1" spc="-2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É</a:t>
            </a:r>
            <a:r>
              <a:rPr sz="800" b="1" spc="28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0</a:t>
            </a:r>
            <a:r>
              <a:rPr sz="800" b="1" spc="-3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7B39EC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Système</a:t>
            </a:r>
            <a:r>
              <a:rPr spc="-130" dirty="0"/>
              <a:t> </a:t>
            </a:r>
            <a:r>
              <a:rPr spc="-10" dirty="0"/>
              <a:t>d'alertes</a:t>
            </a:r>
            <a:r>
              <a:rPr spc="-120" dirty="0"/>
              <a:t> </a:t>
            </a:r>
            <a:r>
              <a:rPr spc="-10" dirty="0"/>
              <a:t>intelligentes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144" y="1113385"/>
            <a:ext cx="462343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Des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notifications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ciblées,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au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bon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moment,</a:t>
            </a:r>
            <a:r>
              <a:rPr sz="13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pour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les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bonnes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décisions.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0900" y="1383666"/>
            <a:ext cx="4173220" cy="1677035"/>
            <a:chOff x="450900" y="1383666"/>
            <a:chExt cx="4173220" cy="1677035"/>
          </a:xfrm>
        </p:grpSpPr>
        <p:sp>
          <p:nvSpPr>
            <p:cNvPr id="7" name="object 7"/>
            <p:cNvSpPr/>
            <p:nvPr/>
          </p:nvSpPr>
          <p:spPr>
            <a:xfrm>
              <a:off x="457199" y="1389966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4160164" y="0"/>
                  </a:moveTo>
                  <a:lnTo>
                    <a:pt x="0" y="0"/>
                  </a:lnTo>
                  <a:lnTo>
                    <a:pt x="0" y="1663915"/>
                  </a:lnTo>
                  <a:lnTo>
                    <a:pt x="2080082" y="1663915"/>
                  </a:lnTo>
                  <a:lnTo>
                    <a:pt x="4160164" y="1663915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FD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199" y="1389966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2080082" y="1663915"/>
                  </a:moveTo>
                  <a:lnTo>
                    <a:pt x="0" y="1663915"/>
                  </a:lnTo>
                  <a:lnTo>
                    <a:pt x="0" y="0"/>
                  </a:lnTo>
                  <a:lnTo>
                    <a:pt x="4160164" y="0"/>
                  </a:lnTo>
                  <a:lnTo>
                    <a:pt x="4160164" y="1663915"/>
                  </a:lnTo>
                  <a:lnTo>
                    <a:pt x="2080082" y="1663915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199" y="1389966"/>
              <a:ext cx="45720" cy="1664335"/>
            </a:xfrm>
            <a:custGeom>
              <a:avLst/>
              <a:gdLst/>
              <a:ahLst/>
              <a:cxnLst/>
              <a:rect l="l" t="t" r="r" b="b"/>
              <a:pathLst>
                <a:path w="45720" h="1664335">
                  <a:moveTo>
                    <a:pt x="45364" y="0"/>
                  </a:moveTo>
                  <a:lnTo>
                    <a:pt x="0" y="0"/>
                  </a:lnTo>
                  <a:lnTo>
                    <a:pt x="0" y="1663915"/>
                  </a:lnTo>
                  <a:lnTo>
                    <a:pt x="22682" y="1663915"/>
                  </a:lnTo>
                  <a:lnTo>
                    <a:pt x="45364" y="1663915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199" y="1389966"/>
              <a:ext cx="45720" cy="1664335"/>
            </a:xfrm>
            <a:custGeom>
              <a:avLst/>
              <a:gdLst/>
              <a:ahLst/>
              <a:cxnLst/>
              <a:rect l="l" t="t" r="r" b="b"/>
              <a:pathLst>
                <a:path w="45720" h="1664335">
                  <a:moveTo>
                    <a:pt x="22682" y="1663915"/>
                  </a:moveTo>
                  <a:lnTo>
                    <a:pt x="0" y="1663915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663915"/>
                  </a:lnTo>
                  <a:lnTo>
                    <a:pt x="22682" y="1663915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1360" y="1499402"/>
              <a:ext cx="1463040" cy="219710"/>
            </a:xfrm>
            <a:custGeom>
              <a:avLst/>
              <a:gdLst/>
              <a:ahLst/>
              <a:cxnLst/>
              <a:rect l="l" t="t" r="r" b="b"/>
              <a:pathLst>
                <a:path w="1463039" h="219710">
                  <a:moveTo>
                    <a:pt x="1462684" y="0"/>
                  </a:moveTo>
                  <a:lnTo>
                    <a:pt x="0" y="0"/>
                  </a:lnTo>
                  <a:lnTo>
                    <a:pt x="0" y="219240"/>
                  </a:lnTo>
                  <a:lnTo>
                    <a:pt x="731519" y="219240"/>
                  </a:lnTo>
                  <a:lnTo>
                    <a:pt x="1462684" y="219240"/>
                  </a:lnTo>
                  <a:lnTo>
                    <a:pt x="1462684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21360" y="1499402"/>
            <a:ext cx="1463040" cy="219710"/>
          </a:xfrm>
          <a:prstGeom prst="rect">
            <a:avLst/>
          </a:prstGeom>
          <a:ln w="12599">
            <a:solidFill>
              <a:srgbClr val="DB2525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234"/>
              </a:spcBef>
            </a:pPr>
            <a:r>
              <a:rPr sz="950" dirty="0">
                <a:solidFill>
                  <a:srgbClr val="FFFFFF"/>
                </a:solidFill>
                <a:latin typeface="MingLiU_HKSCS-ExtB"/>
                <a:cs typeface="MingLiU_HKSCS-ExtB"/>
              </a:rPr>
              <a:t>🔴</a:t>
            </a:r>
            <a:r>
              <a:rPr sz="950" spc="-65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RISQUE</a:t>
            </a:r>
            <a:r>
              <a:rPr sz="800" b="1" spc="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CRITIQUE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8864" y="1844905"/>
            <a:ext cx="4102735" cy="93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Instabilité</a:t>
            </a:r>
            <a:r>
              <a:rPr sz="1300" b="1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secteur</a:t>
            </a:r>
            <a:r>
              <a:rPr sz="1300" b="1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énergie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300">
              <a:latin typeface="Calibri"/>
              <a:cs typeface="Calibri"/>
            </a:endParaRPr>
          </a:p>
          <a:p>
            <a:pPr marL="112395" marR="683895">
              <a:lnSpc>
                <a:spcPct val="135100"/>
              </a:lnSpc>
            </a:pP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Chute</a:t>
            </a:r>
            <a:r>
              <a:rPr sz="1100" spc="-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de</a:t>
            </a:r>
            <a:r>
              <a:rPr sz="1100" spc="-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15%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des</a:t>
            </a:r>
            <a:r>
              <a:rPr sz="1100" spc="-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investissements</a:t>
            </a:r>
            <a:r>
              <a:rPr sz="1100" spc="-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sur</a:t>
            </a:r>
            <a:r>
              <a:rPr sz="1100" spc="-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30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jours.</a:t>
            </a:r>
            <a:r>
              <a:rPr sz="1100" spc="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Exposition recommandée</a:t>
            </a:r>
            <a:r>
              <a:rPr sz="1100" spc="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:</a:t>
            </a:r>
            <a:r>
              <a:rPr sz="1100" spc="1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réduire.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794299" y="1383666"/>
            <a:ext cx="4173220" cy="1677035"/>
            <a:chOff x="4794299" y="1383666"/>
            <a:chExt cx="4173220" cy="1677035"/>
          </a:xfrm>
        </p:grpSpPr>
        <p:sp>
          <p:nvSpPr>
            <p:cNvPr id="15" name="object 15"/>
            <p:cNvSpPr/>
            <p:nvPr/>
          </p:nvSpPr>
          <p:spPr>
            <a:xfrm>
              <a:off x="4800599" y="1389966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4160164" y="0"/>
                  </a:moveTo>
                  <a:lnTo>
                    <a:pt x="0" y="0"/>
                  </a:lnTo>
                  <a:lnTo>
                    <a:pt x="0" y="1663915"/>
                  </a:lnTo>
                  <a:lnTo>
                    <a:pt x="2080082" y="1663915"/>
                  </a:lnTo>
                  <a:lnTo>
                    <a:pt x="4160164" y="1663915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FFF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00599" y="1389966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2080082" y="1663915"/>
                  </a:moveTo>
                  <a:lnTo>
                    <a:pt x="0" y="1663915"/>
                  </a:lnTo>
                  <a:lnTo>
                    <a:pt x="0" y="0"/>
                  </a:lnTo>
                  <a:lnTo>
                    <a:pt x="4160164" y="0"/>
                  </a:lnTo>
                  <a:lnTo>
                    <a:pt x="4160164" y="1663915"/>
                  </a:lnTo>
                  <a:lnTo>
                    <a:pt x="2080082" y="1663915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00599" y="1389966"/>
              <a:ext cx="45720" cy="1664335"/>
            </a:xfrm>
            <a:custGeom>
              <a:avLst/>
              <a:gdLst/>
              <a:ahLst/>
              <a:cxnLst/>
              <a:rect l="l" t="t" r="r" b="b"/>
              <a:pathLst>
                <a:path w="45720" h="1664335">
                  <a:moveTo>
                    <a:pt x="45364" y="0"/>
                  </a:moveTo>
                  <a:lnTo>
                    <a:pt x="0" y="0"/>
                  </a:lnTo>
                  <a:lnTo>
                    <a:pt x="0" y="1663915"/>
                  </a:lnTo>
                  <a:lnTo>
                    <a:pt x="22682" y="1663915"/>
                  </a:lnTo>
                  <a:lnTo>
                    <a:pt x="45364" y="1663915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00599" y="1389966"/>
              <a:ext cx="45720" cy="1664335"/>
            </a:xfrm>
            <a:custGeom>
              <a:avLst/>
              <a:gdLst/>
              <a:ahLst/>
              <a:cxnLst/>
              <a:rect l="l" t="t" r="r" b="b"/>
              <a:pathLst>
                <a:path w="45720" h="1664335">
                  <a:moveTo>
                    <a:pt x="22682" y="1663915"/>
                  </a:moveTo>
                  <a:lnTo>
                    <a:pt x="0" y="1663915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663915"/>
                  </a:lnTo>
                  <a:lnTo>
                    <a:pt x="22682" y="1663915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64760" y="1499402"/>
              <a:ext cx="1463040" cy="219710"/>
            </a:xfrm>
            <a:custGeom>
              <a:avLst/>
              <a:gdLst/>
              <a:ahLst/>
              <a:cxnLst/>
              <a:rect l="l" t="t" r="r" b="b"/>
              <a:pathLst>
                <a:path w="1463039" h="219710">
                  <a:moveTo>
                    <a:pt x="1462684" y="0"/>
                  </a:moveTo>
                  <a:lnTo>
                    <a:pt x="0" y="0"/>
                  </a:lnTo>
                  <a:lnTo>
                    <a:pt x="0" y="219240"/>
                  </a:lnTo>
                  <a:lnTo>
                    <a:pt x="731520" y="219240"/>
                  </a:lnTo>
                  <a:lnTo>
                    <a:pt x="1462684" y="219240"/>
                  </a:lnTo>
                  <a:lnTo>
                    <a:pt x="1462684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964760" y="1499402"/>
            <a:ext cx="1463040" cy="219710"/>
          </a:xfrm>
          <a:prstGeom prst="rect">
            <a:avLst/>
          </a:prstGeom>
          <a:ln w="12599">
            <a:solidFill>
              <a:srgbClr val="D87605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234"/>
              </a:spcBef>
            </a:pPr>
            <a:r>
              <a:rPr sz="950" dirty="0">
                <a:solidFill>
                  <a:srgbClr val="FFFFFF"/>
                </a:solidFill>
                <a:latin typeface="MingLiU_HKSCS-ExtB"/>
                <a:cs typeface="MingLiU_HKSCS-ExtB"/>
              </a:rPr>
              <a:t>🟡</a:t>
            </a:r>
            <a:r>
              <a:rPr sz="950" spc="-160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OPPORTUNITÉ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52264" y="1844905"/>
            <a:ext cx="4102735" cy="93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Croissance</a:t>
            </a:r>
            <a:r>
              <a:rPr sz="1300" b="1" spc="-2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edtech</a:t>
            </a:r>
            <a:r>
              <a:rPr sz="1300" b="1" spc="-3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Maroc</a:t>
            </a:r>
            <a:r>
              <a:rPr sz="1300" b="1" spc="-20" dirty="0">
                <a:solidFill>
                  <a:srgbClr val="0E1629"/>
                </a:solidFill>
                <a:latin typeface="Calibri"/>
                <a:cs typeface="Calibri"/>
              </a:rPr>
              <a:t> +28%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300">
              <a:latin typeface="Calibri"/>
              <a:cs typeface="Calibri"/>
            </a:endParaRPr>
          </a:p>
          <a:p>
            <a:pPr marL="112395" marR="534670">
              <a:lnSpc>
                <a:spcPct val="135100"/>
              </a:lnSpc>
            </a:pP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Émergence</a:t>
            </a:r>
            <a:r>
              <a:rPr sz="110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de</a:t>
            </a:r>
            <a:r>
              <a:rPr sz="110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14</a:t>
            </a:r>
            <a:r>
              <a:rPr sz="110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startups</a:t>
            </a:r>
            <a:r>
              <a:rPr sz="110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Series</a:t>
            </a:r>
            <a:r>
              <a:rPr sz="110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A.</a:t>
            </a:r>
            <a:r>
              <a:rPr sz="110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Fenêtre</a:t>
            </a:r>
            <a:r>
              <a:rPr sz="110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d'investissement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optimal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:</a:t>
            </a:r>
            <a:r>
              <a:rPr sz="110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60</a:t>
            </a:r>
            <a:r>
              <a:rPr sz="110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jours.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50900" y="3212466"/>
            <a:ext cx="4173220" cy="1677035"/>
            <a:chOff x="450900" y="3212466"/>
            <a:chExt cx="4173220" cy="1677035"/>
          </a:xfrm>
        </p:grpSpPr>
        <p:sp>
          <p:nvSpPr>
            <p:cNvPr id="23" name="object 23"/>
            <p:cNvSpPr/>
            <p:nvPr/>
          </p:nvSpPr>
          <p:spPr>
            <a:xfrm>
              <a:off x="457199" y="3218766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4160164" y="0"/>
                  </a:moveTo>
                  <a:lnTo>
                    <a:pt x="0" y="0"/>
                  </a:lnTo>
                  <a:lnTo>
                    <a:pt x="0" y="1663915"/>
                  </a:lnTo>
                  <a:lnTo>
                    <a:pt x="2080082" y="1663915"/>
                  </a:lnTo>
                  <a:lnTo>
                    <a:pt x="4160164" y="1663915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7199" y="3218766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2080082" y="1663915"/>
                  </a:moveTo>
                  <a:lnTo>
                    <a:pt x="0" y="1663915"/>
                  </a:lnTo>
                  <a:lnTo>
                    <a:pt x="0" y="0"/>
                  </a:lnTo>
                  <a:lnTo>
                    <a:pt x="4160164" y="0"/>
                  </a:lnTo>
                  <a:lnTo>
                    <a:pt x="4160164" y="1663915"/>
                  </a:lnTo>
                  <a:lnTo>
                    <a:pt x="2080082" y="1663915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7199" y="3218766"/>
              <a:ext cx="45720" cy="1664335"/>
            </a:xfrm>
            <a:custGeom>
              <a:avLst/>
              <a:gdLst/>
              <a:ahLst/>
              <a:cxnLst/>
              <a:rect l="l" t="t" r="r" b="b"/>
              <a:pathLst>
                <a:path w="45720" h="1664335">
                  <a:moveTo>
                    <a:pt x="45364" y="0"/>
                  </a:moveTo>
                  <a:lnTo>
                    <a:pt x="0" y="0"/>
                  </a:lnTo>
                  <a:lnTo>
                    <a:pt x="0" y="1663915"/>
                  </a:lnTo>
                  <a:lnTo>
                    <a:pt x="22682" y="1663915"/>
                  </a:lnTo>
                  <a:lnTo>
                    <a:pt x="45364" y="1663915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199" y="3218766"/>
              <a:ext cx="45720" cy="1664335"/>
            </a:xfrm>
            <a:custGeom>
              <a:avLst/>
              <a:gdLst/>
              <a:ahLst/>
              <a:cxnLst/>
              <a:rect l="l" t="t" r="r" b="b"/>
              <a:pathLst>
                <a:path w="45720" h="1664335">
                  <a:moveTo>
                    <a:pt x="22682" y="1663915"/>
                  </a:moveTo>
                  <a:lnTo>
                    <a:pt x="0" y="1663915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663915"/>
                  </a:lnTo>
                  <a:lnTo>
                    <a:pt x="22682" y="1663915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1360" y="3328202"/>
              <a:ext cx="1463040" cy="219710"/>
            </a:xfrm>
            <a:custGeom>
              <a:avLst/>
              <a:gdLst/>
              <a:ahLst/>
              <a:cxnLst/>
              <a:rect l="l" t="t" r="r" b="b"/>
              <a:pathLst>
                <a:path w="1463039" h="219710">
                  <a:moveTo>
                    <a:pt x="1462684" y="0"/>
                  </a:moveTo>
                  <a:lnTo>
                    <a:pt x="0" y="0"/>
                  </a:lnTo>
                  <a:lnTo>
                    <a:pt x="0" y="219240"/>
                  </a:lnTo>
                  <a:lnTo>
                    <a:pt x="731519" y="219240"/>
                  </a:lnTo>
                  <a:lnTo>
                    <a:pt x="1462684" y="219240"/>
                  </a:lnTo>
                  <a:lnTo>
                    <a:pt x="1462684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21360" y="3328202"/>
            <a:ext cx="1463040" cy="219710"/>
          </a:xfrm>
          <a:prstGeom prst="rect">
            <a:avLst/>
          </a:prstGeom>
          <a:ln w="12599">
            <a:solidFill>
              <a:srgbClr val="2462EA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254635">
              <a:lnSpc>
                <a:spcPct val="100000"/>
              </a:lnSpc>
              <a:spcBef>
                <a:spcPts val="234"/>
              </a:spcBef>
            </a:pPr>
            <a:r>
              <a:rPr sz="950" dirty="0">
                <a:solidFill>
                  <a:srgbClr val="FFFFFF"/>
                </a:solidFill>
                <a:latin typeface="MingLiU_HKSCS-ExtB"/>
                <a:cs typeface="MingLiU_HKSCS-ExtB"/>
              </a:rPr>
              <a:t>🔵</a:t>
            </a:r>
            <a:r>
              <a:rPr sz="950" spc="-65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SIGNAL</a:t>
            </a:r>
            <a:r>
              <a:rPr sz="8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MARCHÉ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8864" y="3673705"/>
            <a:ext cx="4102735" cy="93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0"/>
              </a:spcBef>
            </a:pPr>
            <a:r>
              <a:rPr sz="1300" b="1" spc="-20" dirty="0">
                <a:solidFill>
                  <a:srgbClr val="0E1629"/>
                </a:solidFill>
                <a:latin typeface="Calibri"/>
                <a:cs typeface="Calibri"/>
              </a:rPr>
              <a:t>Taux</a:t>
            </a:r>
            <a:r>
              <a:rPr sz="1300" b="1" spc="-4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directeur</a:t>
            </a:r>
            <a:r>
              <a:rPr sz="1300" b="1" spc="-3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BAM</a:t>
            </a:r>
            <a:r>
              <a:rPr sz="1300" b="1" spc="-5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stable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300">
              <a:latin typeface="Calibri"/>
              <a:cs typeface="Calibri"/>
            </a:endParaRPr>
          </a:p>
          <a:p>
            <a:pPr marL="112395" marR="466725">
              <a:lnSpc>
                <a:spcPct val="135100"/>
              </a:lnSpc>
            </a:pP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Maintien</a:t>
            </a:r>
            <a:r>
              <a:rPr sz="110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à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3%.</a:t>
            </a:r>
            <a:r>
              <a:rPr sz="110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Impact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positif</a:t>
            </a:r>
            <a:r>
              <a:rPr sz="110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sur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le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crédit</a:t>
            </a:r>
            <a:r>
              <a:rPr sz="110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PME</a:t>
            </a:r>
            <a:r>
              <a:rPr sz="110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et</a:t>
            </a:r>
            <a:r>
              <a:rPr sz="110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l'immobilier résidentiel.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794299" y="3212466"/>
            <a:ext cx="4173220" cy="1677035"/>
            <a:chOff x="4794299" y="3212466"/>
            <a:chExt cx="4173220" cy="1677035"/>
          </a:xfrm>
        </p:grpSpPr>
        <p:sp>
          <p:nvSpPr>
            <p:cNvPr id="31" name="object 31"/>
            <p:cNvSpPr/>
            <p:nvPr/>
          </p:nvSpPr>
          <p:spPr>
            <a:xfrm>
              <a:off x="4800599" y="3218766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4160164" y="0"/>
                  </a:moveTo>
                  <a:lnTo>
                    <a:pt x="0" y="0"/>
                  </a:lnTo>
                  <a:lnTo>
                    <a:pt x="0" y="1663915"/>
                  </a:lnTo>
                  <a:lnTo>
                    <a:pt x="2080082" y="1663915"/>
                  </a:lnTo>
                  <a:lnTo>
                    <a:pt x="4160164" y="1663915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00599" y="3218766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2080082" y="1663915"/>
                  </a:moveTo>
                  <a:lnTo>
                    <a:pt x="0" y="1663915"/>
                  </a:lnTo>
                  <a:lnTo>
                    <a:pt x="0" y="0"/>
                  </a:lnTo>
                  <a:lnTo>
                    <a:pt x="4160164" y="0"/>
                  </a:lnTo>
                  <a:lnTo>
                    <a:pt x="4160164" y="1663915"/>
                  </a:lnTo>
                  <a:lnTo>
                    <a:pt x="2080082" y="1663915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00599" y="3218766"/>
              <a:ext cx="45720" cy="1664335"/>
            </a:xfrm>
            <a:custGeom>
              <a:avLst/>
              <a:gdLst/>
              <a:ahLst/>
              <a:cxnLst/>
              <a:rect l="l" t="t" r="r" b="b"/>
              <a:pathLst>
                <a:path w="45720" h="1664335">
                  <a:moveTo>
                    <a:pt x="45364" y="0"/>
                  </a:moveTo>
                  <a:lnTo>
                    <a:pt x="0" y="0"/>
                  </a:lnTo>
                  <a:lnTo>
                    <a:pt x="0" y="1663915"/>
                  </a:lnTo>
                  <a:lnTo>
                    <a:pt x="22682" y="1663915"/>
                  </a:lnTo>
                  <a:lnTo>
                    <a:pt x="45364" y="1663915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00599" y="3218766"/>
              <a:ext cx="45720" cy="1664335"/>
            </a:xfrm>
            <a:custGeom>
              <a:avLst/>
              <a:gdLst/>
              <a:ahLst/>
              <a:cxnLst/>
              <a:rect l="l" t="t" r="r" b="b"/>
              <a:pathLst>
                <a:path w="45720" h="1664335">
                  <a:moveTo>
                    <a:pt x="22682" y="1663915"/>
                  </a:moveTo>
                  <a:lnTo>
                    <a:pt x="0" y="1663915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663915"/>
                  </a:lnTo>
                  <a:lnTo>
                    <a:pt x="22682" y="1663915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964760" y="3328202"/>
              <a:ext cx="1463040" cy="219710"/>
            </a:xfrm>
            <a:custGeom>
              <a:avLst/>
              <a:gdLst/>
              <a:ahLst/>
              <a:cxnLst/>
              <a:rect l="l" t="t" r="r" b="b"/>
              <a:pathLst>
                <a:path w="1463039" h="219710">
                  <a:moveTo>
                    <a:pt x="1462684" y="0"/>
                  </a:moveTo>
                  <a:lnTo>
                    <a:pt x="0" y="0"/>
                  </a:lnTo>
                  <a:lnTo>
                    <a:pt x="0" y="219240"/>
                  </a:lnTo>
                  <a:lnTo>
                    <a:pt x="731520" y="219240"/>
                  </a:lnTo>
                  <a:lnTo>
                    <a:pt x="1462684" y="219240"/>
                  </a:lnTo>
                  <a:lnTo>
                    <a:pt x="1462684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964760" y="3328202"/>
            <a:ext cx="1463040" cy="219710"/>
          </a:xfrm>
          <a:prstGeom prst="rect">
            <a:avLst/>
          </a:prstGeom>
          <a:ln w="12599">
            <a:solidFill>
              <a:srgbClr val="0C9387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289560">
              <a:lnSpc>
                <a:spcPct val="100000"/>
              </a:lnSpc>
              <a:spcBef>
                <a:spcPts val="234"/>
              </a:spcBef>
            </a:pPr>
            <a:r>
              <a:rPr sz="950" dirty="0">
                <a:solidFill>
                  <a:srgbClr val="FFFFFF"/>
                </a:solidFill>
                <a:latin typeface="MingLiU_HKSCS-ExtB"/>
                <a:cs typeface="MingLiU_HKSCS-ExtB"/>
              </a:rPr>
              <a:t>🟢</a:t>
            </a:r>
            <a:r>
              <a:rPr sz="950" spc="-160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52264" y="3673705"/>
            <a:ext cx="4102735" cy="93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Santé</a:t>
            </a:r>
            <a:r>
              <a:rPr sz="1300" b="1" spc="-3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:</a:t>
            </a:r>
            <a:r>
              <a:rPr sz="1300" b="1" spc="-3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objectif</a:t>
            </a:r>
            <a:r>
              <a:rPr sz="1300" b="1" spc="-2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dépassé</a:t>
            </a:r>
            <a:endParaRPr sz="13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300" dirty="0">
              <a:latin typeface="Calibri"/>
              <a:cs typeface="Calibri"/>
            </a:endParaRPr>
          </a:p>
          <a:p>
            <a:pPr marL="112395" marR="768985">
              <a:lnSpc>
                <a:spcPct val="135100"/>
              </a:lnSpc>
            </a:pP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Croissance</a:t>
            </a:r>
            <a:r>
              <a:rPr sz="110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Q3</a:t>
            </a:r>
            <a:r>
              <a:rPr sz="1100" spc="-3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atteint</a:t>
            </a:r>
            <a:r>
              <a:rPr sz="110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+11,4%</a:t>
            </a:r>
            <a:r>
              <a:rPr sz="110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vs</a:t>
            </a:r>
            <a:r>
              <a:rPr sz="110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objectif</a:t>
            </a:r>
            <a:r>
              <a:rPr sz="110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+9%.</a:t>
            </a:r>
            <a:r>
              <a:rPr sz="1100" spc="-3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34054"/>
                </a:solidFill>
                <a:latin typeface="Calibri"/>
                <a:cs typeface="Calibri"/>
              </a:rPr>
              <a:t>Secteur</a:t>
            </a:r>
            <a:r>
              <a:rPr sz="1100" spc="-25" dirty="0">
                <a:solidFill>
                  <a:srgbClr val="334054"/>
                </a:solidFill>
                <a:latin typeface="Calibri"/>
                <a:cs typeface="Calibri"/>
              </a:rPr>
              <a:t> en </a:t>
            </a:r>
            <a:r>
              <a:rPr sz="1100" spc="-10" dirty="0">
                <a:solidFill>
                  <a:srgbClr val="334054"/>
                </a:solidFill>
                <a:latin typeface="Calibri"/>
                <a:cs typeface="Calibri"/>
              </a:rPr>
              <a:t>surperformance.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3F9"/>
          </a:solidFill>
        </p:spPr>
        <p:txBody>
          <a:bodyPr wrap="square" lIns="0" tIns="0" rIns="0" bIns="0" rtlCol="0"/>
          <a:lstStyle/>
          <a:p>
            <a:endParaRPr lang="fr-FR" dirty="0"/>
          </a:p>
        </p:txBody>
      </p:sp>
      <p:grpSp>
        <p:nvGrpSpPr>
          <p:cNvPr id="3" name="object 3"/>
          <p:cNvGrpSpPr/>
          <p:nvPr/>
        </p:nvGrpSpPr>
        <p:grpSpPr>
          <a:xfrm>
            <a:off x="453603" y="252362"/>
            <a:ext cx="2607781" cy="237905"/>
            <a:chOff x="453604" y="252362"/>
            <a:chExt cx="2200910" cy="253365"/>
          </a:xfrm>
        </p:grpSpPr>
        <p:sp>
          <p:nvSpPr>
            <p:cNvPr id="4" name="object 4"/>
            <p:cNvSpPr/>
            <p:nvPr/>
          </p:nvSpPr>
          <p:spPr>
            <a:xfrm>
              <a:off x="456844" y="255602"/>
              <a:ext cx="2194560" cy="247015"/>
            </a:xfrm>
            <a:custGeom>
              <a:avLst/>
              <a:gdLst/>
              <a:ahLst/>
              <a:cxnLst/>
              <a:rect l="l" t="t" r="r" b="b"/>
              <a:pathLst>
                <a:path w="2194560" h="247015">
                  <a:moveTo>
                    <a:pt x="2194191" y="0"/>
                  </a:moveTo>
                  <a:lnTo>
                    <a:pt x="0" y="0"/>
                  </a:lnTo>
                  <a:lnTo>
                    <a:pt x="0" y="246595"/>
                  </a:lnTo>
                  <a:lnTo>
                    <a:pt x="1097280" y="246595"/>
                  </a:lnTo>
                  <a:lnTo>
                    <a:pt x="2194191" y="246595"/>
                  </a:lnTo>
                  <a:lnTo>
                    <a:pt x="2194191" y="0"/>
                  </a:lnTo>
                  <a:close/>
                </a:path>
              </a:pathLst>
            </a:custGeom>
            <a:solidFill>
              <a:srgbClr val="1D39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6844" y="255602"/>
              <a:ext cx="2194560" cy="247015"/>
            </a:xfrm>
            <a:custGeom>
              <a:avLst/>
              <a:gdLst/>
              <a:ahLst/>
              <a:cxnLst/>
              <a:rect l="l" t="t" r="r" b="b"/>
              <a:pathLst>
                <a:path w="2194560" h="247015">
                  <a:moveTo>
                    <a:pt x="1097280" y="246595"/>
                  </a:moveTo>
                  <a:lnTo>
                    <a:pt x="0" y="246595"/>
                  </a:lnTo>
                  <a:lnTo>
                    <a:pt x="0" y="0"/>
                  </a:lnTo>
                  <a:lnTo>
                    <a:pt x="2194191" y="0"/>
                  </a:lnTo>
                  <a:lnTo>
                    <a:pt x="2194191" y="246595"/>
                  </a:lnTo>
                  <a:lnTo>
                    <a:pt x="1097280" y="246595"/>
                  </a:lnTo>
                  <a:close/>
                </a:path>
              </a:pathLst>
            </a:custGeom>
            <a:ln w="647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144" y="584532"/>
            <a:ext cx="623252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chemeClr val="tx1"/>
                </a:solidFill>
              </a:rPr>
              <a:t>Le</a:t>
            </a:r>
            <a:r>
              <a:rPr sz="2400" spc="-4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cœur</a:t>
            </a:r>
            <a:r>
              <a:rPr sz="2400" spc="-40" dirty="0">
                <a:solidFill>
                  <a:schemeClr val="tx1"/>
                </a:solidFill>
              </a:rPr>
              <a:t> </a:t>
            </a:r>
            <a:r>
              <a:rPr sz="2400" spc="-10" dirty="0">
                <a:solidFill>
                  <a:schemeClr val="tx1"/>
                </a:solidFill>
              </a:rPr>
              <a:t>intelligent</a:t>
            </a:r>
            <a:r>
              <a:rPr sz="2400" spc="-30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de</a:t>
            </a:r>
            <a:r>
              <a:rPr sz="2400" spc="-40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la</a:t>
            </a:r>
            <a:r>
              <a:rPr sz="2400" spc="-40" dirty="0">
                <a:solidFill>
                  <a:schemeClr val="tx1"/>
                </a:solidFill>
              </a:rPr>
              <a:t> </a:t>
            </a:r>
            <a:r>
              <a:rPr sz="2400" spc="-10" dirty="0">
                <a:solidFill>
                  <a:schemeClr val="tx1"/>
                </a:solidFill>
              </a:rPr>
              <a:t>plateforme</a:t>
            </a:r>
            <a:endParaRPr sz="2400" dirty="0">
              <a:solidFill>
                <a:schemeClr val="tx1"/>
              </a:solidFill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24000" y="1083767"/>
            <a:ext cx="2864485" cy="1201420"/>
            <a:chOff x="450900" y="1182066"/>
            <a:chExt cx="2864485" cy="1201420"/>
          </a:xfrm>
        </p:grpSpPr>
        <p:sp>
          <p:nvSpPr>
            <p:cNvPr id="8" name="object 8"/>
            <p:cNvSpPr/>
            <p:nvPr/>
          </p:nvSpPr>
          <p:spPr>
            <a:xfrm>
              <a:off x="457199" y="1188366"/>
              <a:ext cx="2853055" cy="1188720"/>
            </a:xfrm>
            <a:custGeom>
              <a:avLst/>
              <a:gdLst/>
              <a:ahLst/>
              <a:cxnLst/>
              <a:rect l="l" t="t" r="r" b="b"/>
              <a:pathLst>
                <a:path w="2853054" h="1188720">
                  <a:moveTo>
                    <a:pt x="2852635" y="0"/>
                  </a:moveTo>
                  <a:lnTo>
                    <a:pt x="0" y="0"/>
                  </a:lnTo>
                  <a:lnTo>
                    <a:pt x="0" y="1188351"/>
                  </a:lnTo>
                  <a:lnTo>
                    <a:pt x="1426324" y="1188351"/>
                  </a:lnTo>
                  <a:lnTo>
                    <a:pt x="2852635" y="1188351"/>
                  </a:lnTo>
                  <a:lnTo>
                    <a:pt x="2852635" y="0"/>
                  </a:lnTo>
                  <a:close/>
                </a:path>
              </a:pathLst>
            </a:custGeom>
            <a:solidFill>
              <a:srgbClr val="0C1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199" y="1188366"/>
              <a:ext cx="2853055" cy="1188720"/>
            </a:xfrm>
            <a:custGeom>
              <a:avLst/>
              <a:gdLst/>
              <a:ahLst/>
              <a:cxnLst/>
              <a:rect l="l" t="t" r="r" b="b"/>
              <a:pathLst>
                <a:path w="2853054" h="1188720">
                  <a:moveTo>
                    <a:pt x="1426324" y="1188351"/>
                  </a:moveTo>
                  <a:lnTo>
                    <a:pt x="0" y="1188351"/>
                  </a:lnTo>
                  <a:lnTo>
                    <a:pt x="0" y="0"/>
                  </a:lnTo>
                  <a:lnTo>
                    <a:pt x="2852635" y="0"/>
                  </a:lnTo>
                  <a:lnTo>
                    <a:pt x="2852635" y="1188351"/>
                  </a:lnTo>
                  <a:lnTo>
                    <a:pt x="1426324" y="1188351"/>
                  </a:lnTo>
                  <a:close/>
                </a:path>
              </a:pathLst>
            </a:custGeom>
            <a:ln w="1007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199" y="1188366"/>
              <a:ext cx="45720" cy="1188720"/>
            </a:xfrm>
            <a:custGeom>
              <a:avLst/>
              <a:gdLst/>
              <a:ahLst/>
              <a:cxnLst/>
              <a:rect l="l" t="t" r="r" b="b"/>
              <a:pathLst>
                <a:path w="45720" h="1188720">
                  <a:moveTo>
                    <a:pt x="45364" y="0"/>
                  </a:moveTo>
                  <a:lnTo>
                    <a:pt x="0" y="0"/>
                  </a:lnTo>
                  <a:lnTo>
                    <a:pt x="0" y="1188351"/>
                  </a:lnTo>
                  <a:lnTo>
                    <a:pt x="22682" y="1188351"/>
                  </a:lnTo>
                  <a:lnTo>
                    <a:pt x="45364" y="1188351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1D39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199" y="1188366"/>
              <a:ext cx="45720" cy="1188720"/>
            </a:xfrm>
            <a:custGeom>
              <a:avLst/>
              <a:gdLst/>
              <a:ahLst/>
              <a:cxnLst/>
              <a:rect l="l" t="t" r="r" b="b"/>
              <a:pathLst>
                <a:path w="45720" h="1188720">
                  <a:moveTo>
                    <a:pt x="22682" y="1188351"/>
                  </a:moveTo>
                  <a:lnTo>
                    <a:pt x="0" y="1188351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188351"/>
                  </a:lnTo>
                  <a:lnTo>
                    <a:pt x="22682" y="1188351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88744" y="1243318"/>
            <a:ext cx="27749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FFFFFF"/>
                </a:solidFill>
                <a:latin typeface="Calibri"/>
                <a:cs typeface="Calibri"/>
              </a:rPr>
              <a:t>NLP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94815" y="1700368"/>
            <a:ext cx="2388235" cy="383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5200"/>
              </a:lnSpc>
              <a:spcBef>
                <a:spcPts val="100"/>
              </a:spcBef>
            </a:pPr>
            <a:r>
              <a:rPr sz="1000" spc="-20" dirty="0">
                <a:solidFill>
                  <a:schemeClr val="bg1"/>
                </a:solidFill>
                <a:latin typeface="Calibri"/>
                <a:cs typeface="Calibri"/>
              </a:rPr>
              <a:t>Traitement</a:t>
            </a:r>
            <a:r>
              <a:rPr sz="10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du</a:t>
            </a:r>
            <a:r>
              <a:rPr sz="10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Calibri"/>
                <a:cs typeface="Calibri"/>
              </a:rPr>
              <a:t>langage</a:t>
            </a:r>
            <a:r>
              <a:rPr sz="10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naturel</a:t>
            </a:r>
            <a:r>
              <a:rPr sz="10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—</a:t>
            </a:r>
            <a:r>
              <a:rPr sz="10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analyse</a:t>
            </a:r>
            <a:r>
              <a:rPr sz="10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de</a:t>
            </a:r>
            <a:r>
              <a:rPr sz="10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chemeClr val="bg1"/>
                </a:solidFill>
                <a:latin typeface="Calibri"/>
                <a:cs typeface="Calibri"/>
              </a:rPr>
              <a:t>la</a:t>
            </a:r>
            <a:r>
              <a:rPr sz="1000" spc="-10" dirty="0">
                <a:solidFill>
                  <a:schemeClr val="bg1"/>
                </a:solidFill>
                <a:latin typeface="Calibri"/>
                <a:cs typeface="Calibri"/>
              </a:rPr>
              <a:t> presse,</a:t>
            </a:r>
            <a:r>
              <a:rPr sz="10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Calibri"/>
                <a:cs typeface="Calibri"/>
              </a:rPr>
              <a:t>rapports,</a:t>
            </a:r>
            <a:r>
              <a:rPr sz="10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Calibri"/>
                <a:cs typeface="Calibri"/>
              </a:rPr>
              <a:t>réseaux</a:t>
            </a:r>
            <a:r>
              <a:rPr sz="10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Calibri"/>
                <a:cs typeface="Calibri"/>
              </a:rPr>
              <a:t>sociaux.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41520" y="1083767"/>
            <a:ext cx="2864485" cy="1201420"/>
            <a:chOff x="3468420" y="1182066"/>
            <a:chExt cx="2864485" cy="1201420"/>
          </a:xfrm>
        </p:grpSpPr>
        <p:sp>
          <p:nvSpPr>
            <p:cNvPr id="15" name="object 15"/>
            <p:cNvSpPr/>
            <p:nvPr/>
          </p:nvSpPr>
          <p:spPr>
            <a:xfrm>
              <a:off x="3474719" y="1188366"/>
              <a:ext cx="2853055" cy="1188720"/>
            </a:xfrm>
            <a:custGeom>
              <a:avLst/>
              <a:gdLst/>
              <a:ahLst/>
              <a:cxnLst/>
              <a:rect l="l" t="t" r="r" b="b"/>
              <a:pathLst>
                <a:path w="2853054" h="1188720">
                  <a:moveTo>
                    <a:pt x="2852635" y="0"/>
                  </a:moveTo>
                  <a:lnTo>
                    <a:pt x="0" y="0"/>
                  </a:lnTo>
                  <a:lnTo>
                    <a:pt x="0" y="1188351"/>
                  </a:lnTo>
                  <a:lnTo>
                    <a:pt x="1426324" y="1188351"/>
                  </a:lnTo>
                  <a:lnTo>
                    <a:pt x="2852635" y="1188351"/>
                  </a:lnTo>
                  <a:lnTo>
                    <a:pt x="2852635" y="0"/>
                  </a:lnTo>
                  <a:close/>
                </a:path>
              </a:pathLst>
            </a:custGeom>
            <a:solidFill>
              <a:srgbClr val="0C1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74719" y="1188366"/>
              <a:ext cx="2853055" cy="1188720"/>
            </a:xfrm>
            <a:custGeom>
              <a:avLst/>
              <a:gdLst/>
              <a:ahLst/>
              <a:cxnLst/>
              <a:rect l="l" t="t" r="r" b="b"/>
              <a:pathLst>
                <a:path w="2853054" h="1188720">
                  <a:moveTo>
                    <a:pt x="1426324" y="1188351"/>
                  </a:moveTo>
                  <a:lnTo>
                    <a:pt x="0" y="1188351"/>
                  </a:lnTo>
                  <a:lnTo>
                    <a:pt x="0" y="0"/>
                  </a:lnTo>
                  <a:lnTo>
                    <a:pt x="2852635" y="0"/>
                  </a:lnTo>
                  <a:lnTo>
                    <a:pt x="2852635" y="1188351"/>
                  </a:lnTo>
                  <a:lnTo>
                    <a:pt x="1426324" y="1188351"/>
                  </a:lnTo>
                  <a:close/>
                </a:path>
              </a:pathLst>
            </a:custGeom>
            <a:ln w="10079">
              <a:solidFill>
                <a:srgbClr val="C3B4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74719" y="1188366"/>
              <a:ext cx="45720" cy="1188720"/>
            </a:xfrm>
            <a:custGeom>
              <a:avLst/>
              <a:gdLst/>
              <a:ahLst/>
              <a:cxnLst/>
              <a:rect l="l" t="t" r="r" b="b"/>
              <a:pathLst>
                <a:path w="45720" h="1188720">
                  <a:moveTo>
                    <a:pt x="45364" y="0"/>
                  </a:moveTo>
                  <a:lnTo>
                    <a:pt x="0" y="0"/>
                  </a:lnTo>
                  <a:lnTo>
                    <a:pt x="0" y="1188351"/>
                  </a:lnTo>
                  <a:lnTo>
                    <a:pt x="22682" y="1188351"/>
                  </a:lnTo>
                  <a:lnTo>
                    <a:pt x="45364" y="1188351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C3B4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74719" y="1188366"/>
              <a:ext cx="45720" cy="1188720"/>
            </a:xfrm>
            <a:custGeom>
              <a:avLst/>
              <a:gdLst/>
              <a:ahLst/>
              <a:cxnLst/>
              <a:rect l="l" t="t" r="r" b="b"/>
              <a:pathLst>
                <a:path w="45720" h="1188720">
                  <a:moveTo>
                    <a:pt x="22682" y="1188351"/>
                  </a:moveTo>
                  <a:lnTo>
                    <a:pt x="0" y="1188351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188351"/>
                  </a:lnTo>
                  <a:lnTo>
                    <a:pt x="22682" y="1188351"/>
                  </a:lnTo>
                  <a:close/>
                </a:path>
              </a:pathLst>
            </a:custGeom>
            <a:ln w="12599">
              <a:solidFill>
                <a:srgbClr val="C3B4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601850" y="1113714"/>
            <a:ext cx="3347085" cy="3751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016885" algn="l"/>
              </a:tabLst>
            </a:pPr>
            <a:r>
              <a:rPr sz="2350" spc="90" dirty="0">
                <a:latin typeface="MingLiU_HKSCS-ExtB"/>
                <a:cs typeface="MingLiU_HKSCS-ExtB"/>
              </a:rPr>
              <a:t>📝</a:t>
            </a:r>
            <a:r>
              <a:rPr sz="2350" dirty="0">
                <a:solidFill>
                  <a:schemeClr val="bg1"/>
                </a:solidFill>
                <a:latin typeface="MingLiU_HKSCS-ExtB"/>
                <a:cs typeface="MingLiU_HKSCS-ExtB"/>
              </a:rPr>
              <a:t>	</a:t>
            </a:r>
            <a:r>
              <a:rPr lang="de-DE" sz="2350" spc="90" dirty="0">
                <a:latin typeface="MingLiU_HKSCS-ExtB"/>
                <a:cs typeface="MingLiU_HKSCS-ExtB"/>
              </a:rPr>
              <a:t> </a:t>
            </a:r>
            <a:endParaRPr sz="2350" dirty="0">
              <a:latin typeface="MingLiU_HKSCS-ExtB"/>
              <a:cs typeface="MingLiU_HKSCS-ExtB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06264" y="1243318"/>
            <a:ext cx="12312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Machine Learning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12335" y="1700368"/>
            <a:ext cx="251206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5200"/>
              </a:lnSpc>
              <a:spcBef>
                <a:spcPts val="100"/>
              </a:spcBef>
            </a:pPr>
            <a:r>
              <a:rPr sz="1000" dirty="0">
                <a:solidFill>
                  <a:srgbClr val="C3B4FC"/>
                </a:solidFill>
                <a:latin typeface="Calibri"/>
                <a:cs typeface="Calibri"/>
              </a:rPr>
              <a:t>Modèles</a:t>
            </a:r>
            <a:r>
              <a:rPr sz="1000" spc="-5" dirty="0">
                <a:solidFill>
                  <a:srgbClr val="C3B4F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3B4FC"/>
                </a:solidFill>
                <a:latin typeface="Calibri"/>
                <a:cs typeface="Calibri"/>
              </a:rPr>
              <a:t>prédictifs</a:t>
            </a:r>
            <a:r>
              <a:rPr sz="1000" spc="-20" dirty="0">
                <a:solidFill>
                  <a:srgbClr val="C3B4F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3B4FC"/>
                </a:solidFill>
                <a:latin typeface="Calibri"/>
                <a:cs typeface="Calibri"/>
              </a:rPr>
              <a:t>de</a:t>
            </a:r>
            <a:r>
              <a:rPr sz="1000" spc="-15" dirty="0">
                <a:solidFill>
                  <a:srgbClr val="C3B4F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3B4FC"/>
                </a:solidFill>
                <a:latin typeface="Calibri"/>
                <a:cs typeface="Calibri"/>
              </a:rPr>
              <a:t>croissance,</a:t>
            </a:r>
            <a:r>
              <a:rPr sz="1000" spc="-20" dirty="0">
                <a:solidFill>
                  <a:srgbClr val="C3B4F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3B4FC"/>
                </a:solidFill>
                <a:latin typeface="Calibri"/>
                <a:cs typeface="Calibri"/>
              </a:rPr>
              <a:t>de</a:t>
            </a:r>
            <a:r>
              <a:rPr sz="1000" spc="-15" dirty="0">
                <a:solidFill>
                  <a:srgbClr val="C3B4F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3B4FC"/>
                </a:solidFill>
                <a:latin typeface="Calibri"/>
                <a:cs typeface="Calibri"/>
              </a:rPr>
              <a:t>risque</a:t>
            </a:r>
            <a:r>
              <a:rPr sz="1000" spc="-15" dirty="0">
                <a:solidFill>
                  <a:srgbClr val="C3B4F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3B4FC"/>
                </a:solidFill>
                <a:latin typeface="Calibri"/>
                <a:cs typeface="Calibri"/>
              </a:rPr>
              <a:t>et</a:t>
            </a:r>
            <a:r>
              <a:rPr sz="1000" spc="-10" dirty="0">
                <a:solidFill>
                  <a:srgbClr val="C3B4FC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C3B4FC"/>
                </a:solidFill>
                <a:latin typeface="Calibri"/>
                <a:cs typeface="Calibri"/>
              </a:rPr>
              <a:t>de</a:t>
            </a:r>
            <a:r>
              <a:rPr sz="1000" spc="-10" dirty="0">
                <a:solidFill>
                  <a:srgbClr val="C3B4FC"/>
                </a:solidFill>
                <a:latin typeface="Calibri"/>
                <a:cs typeface="Calibri"/>
              </a:rPr>
              <a:t> performance</a:t>
            </a:r>
            <a:r>
              <a:rPr sz="1000" spc="-5" dirty="0">
                <a:solidFill>
                  <a:srgbClr val="C3B4F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3B4FC"/>
                </a:solidFill>
                <a:latin typeface="Calibri"/>
                <a:cs typeface="Calibri"/>
              </a:rPr>
              <a:t>sectorielle.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524000" y="2409647"/>
            <a:ext cx="2864485" cy="1201420"/>
            <a:chOff x="450900" y="2507946"/>
            <a:chExt cx="2864485" cy="1201420"/>
          </a:xfrm>
        </p:grpSpPr>
        <p:sp>
          <p:nvSpPr>
            <p:cNvPr id="23" name="object 23"/>
            <p:cNvSpPr/>
            <p:nvPr/>
          </p:nvSpPr>
          <p:spPr>
            <a:xfrm>
              <a:off x="457199" y="2514246"/>
              <a:ext cx="2853055" cy="1188720"/>
            </a:xfrm>
            <a:custGeom>
              <a:avLst/>
              <a:gdLst/>
              <a:ahLst/>
              <a:cxnLst/>
              <a:rect l="l" t="t" r="r" b="b"/>
              <a:pathLst>
                <a:path w="2853054" h="1188720">
                  <a:moveTo>
                    <a:pt x="2852635" y="0"/>
                  </a:moveTo>
                  <a:lnTo>
                    <a:pt x="0" y="0"/>
                  </a:lnTo>
                  <a:lnTo>
                    <a:pt x="0" y="1188351"/>
                  </a:lnTo>
                  <a:lnTo>
                    <a:pt x="1426324" y="1188351"/>
                  </a:lnTo>
                  <a:lnTo>
                    <a:pt x="2852635" y="1188351"/>
                  </a:lnTo>
                  <a:lnTo>
                    <a:pt x="2852635" y="0"/>
                  </a:lnTo>
                  <a:close/>
                </a:path>
              </a:pathLst>
            </a:custGeom>
            <a:solidFill>
              <a:srgbClr val="0C1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7199" y="2514246"/>
              <a:ext cx="2853055" cy="1188720"/>
            </a:xfrm>
            <a:custGeom>
              <a:avLst/>
              <a:gdLst/>
              <a:ahLst/>
              <a:cxnLst/>
              <a:rect l="l" t="t" r="r" b="b"/>
              <a:pathLst>
                <a:path w="2853054" h="1188720">
                  <a:moveTo>
                    <a:pt x="1426324" y="1188351"/>
                  </a:moveTo>
                  <a:lnTo>
                    <a:pt x="0" y="1188351"/>
                  </a:lnTo>
                  <a:lnTo>
                    <a:pt x="0" y="0"/>
                  </a:lnTo>
                  <a:lnTo>
                    <a:pt x="2852635" y="0"/>
                  </a:lnTo>
                  <a:lnTo>
                    <a:pt x="2852635" y="1188351"/>
                  </a:lnTo>
                  <a:lnTo>
                    <a:pt x="1426324" y="1188351"/>
                  </a:lnTo>
                  <a:close/>
                </a:path>
              </a:pathLst>
            </a:custGeom>
            <a:ln w="10079">
              <a:solidFill>
                <a:srgbClr val="5DE9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7199" y="2514246"/>
              <a:ext cx="45720" cy="1188720"/>
            </a:xfrm>
            <a:custGeom>
              <a:avLst/>
              <a:gdLst/>
              <a:ahLst/>
              <a:cxnLst/>
              <a:rect l="l" t="t" r="r" b="b"/>
              <a:pathLst>
                <a:path w="45720" h="1188720">
                  <a:moveTo>
                    <a:pt x="45364" y="0"/>
                  </a:moveTo>
                  <a:lnTo>
                    <a:pt x="0" y="0"/>
                  </a:lnTo>
                  <a:lnTo>
                    <a:pt x="0" y="1188351"/>
                  </a:lnTo>
                  <a:lnTo>
                    <a:pt x="22682" y="1188351"/>
                  </a:lnTo>
                  <a:lnTo>
                    <a:pt x="45364" y="1188351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5D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199" y="2514246"/>
              <a:ext cx="45720" cy="1188720"/>
            </a:xfrm>
            <a:custGeom>
              <a:avLst/>
              <a:gdLst/>
              <a:ahLst/>
              <a:cxnLst/>
              <a:rect l="l" t="t" r="r" b="b"/>
              <a:pathLst>
                <a:path w="45720" h="1188720">
                  <a:moveTo>
                    <a:pt x="22682" y="1188351"/>
                  </a:moveTo>
                  <a:lnTo>
                    <a:pt x="0" y="1188351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188351"/>
                  </a:lnTo>
                  <a:lnTo>
                    <a:pt x="22682" y="1188351"/>
                  </a:lnTo>
                  <a:close/>
                </a:path>
              </a:pathLst>
            </a:custGeom>
            <a:ln w="12599">
              <a:solidFill>
                <a:srgbClr val="5DE9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694815" y="2521757"/>
            <a:ext cx="32956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350" spc="90" dirty="0">
                <a:latin typeface="MingLiU_HKSCS-ExtB"/>
                <a:cs typeface="MingLiU_HKSCS-ExtB"/>
              </a:rPr>
              <a:t>🔮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88744" y="2569198"/>
            <a:ext cx="12649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Analyse</a:t>
            </a:r>
            <a:r>
              <a:rPr sz="13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Prédictive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94815" y="3026248"/>
            <a:ext cx="243967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5200"/>
              </a:lnSpc>
              <a:spcBef>
                <a:spcPts val="100"/>
              </a:spcBef>
            </a:pPr>
            <a:r>
              <a:rPr sz="1000" spc="-10" dirty="0">
                <a:solidFill>
                  <a:srgbClr val="5DE9D3"/>
                </a:solidFill>
                <a:latin typeface="Calibri"/>
                <a:cs typeface="Calibri"/>
              </a:rPr>
              <a:t>Prévisions</a:t>
            </a:r>
            <a:r>
              <a:rPr sz="1000" spc="-25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DE9D3"/>
                </a:solidFill>
                <a:latin typeface="Calibri"/>
                <a:cs typeface="Calibri"/>
              </a:rPr>
              <a:t>à</a:t>
            </a:r>
            <a:r>
              <a:rPr sz="1000" spc="-25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DE9D3"/>
                </a:solidFill>
                <a:latin typeface="Calibri"/>
                <a:cs typeface="Calibri"/>
              </a:rPr>
              <a:t>3,</a:t>
            </a:r>
            <a:r>
              <a:rPr sz="1000" spc="-10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DE9D3"/>
                </a:solidFill>
                <a:latin typeface="Calibri"/>
                <a:cs typeface="Calibri"/>
              </a:rPr>
              <a:t>6</a:t>
            </a:r>
            <a:r>
              <a:rPr sz="1000" spc="-20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DE9D3"/>
                </a:solidFill>
                <a:latin typeface="Calibri"/>
                <a:cs typeface="Calibri"/>
              </a:rPr>
              <a:t>et</a:t>
            </a:r>
            <a:r>
              <a:rPr sz="1000" spc="-20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DE9D3"/>
                </a:solidFill>
                <a:latin typeface="Calibri"/>
                <a:cs typeface="Calibri"/>
              </a:rPr>
              <a:t>12</a:t>
            </a:r>
            <a:r>
              <a:rPr sz="1000" spc="-15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DE9D3"/>
                </a:solidFill>
                <a:latin typeface="Calibri"/>
                <a:cs typeface="Calibri"/>
              </a:rPr>
              <a:t>mois</a:t>
            </a:r>
            <a:r>
              <a:rPr sz="1000" spc="-20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DE9D3"/>
                </a:solidFill>
                <a:latin typeface="Calibri"/>
                <a:cs typeface="Calibri"/>
              </a:rPr>
              <a:t>basées</a:t>
            </a:r>
            <a:r>
              <a:rPr sz="1000" spc="-25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DE9D3"/>
                </a:solidFill>
                <a:latin typeface="Calibri"/>
                <a:cs typeface="Calibri"/>
              </a:rPr>
              <a:t>sur</a:t>
            </a:r>
            <a:r>
              <a:rPr sz="1000" spc="-15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5DE9D3"/>
                </a:solidFill>
                <a:latin typeface="Calibri"/>
                <a:cs typeface="Calibri"/>
              </a:rPr>
              <a:t>données historiques</a:t>
            </a:r>
            <a:r>
              <a:rPr sz="1000" spc="-20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DE9D3"/>
                </a:solidFill>
                <a:latin typeface="Calibri"/>
                <a:cs typeface="Calibri"/>
              </a:rPr>
              <a:t>et</a:t>
            </a:r>
            <a:r>
              <a:rPr sz="1000" spc="-5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DE9D3"/>
                </a:solidFill>
                <a:latin typeface="Calibri"/>
                <a:cs typeface="Calibri"/>
              </a:rPr>
              <a:t>signaux</a:t>
            </a:r>
            <a:r>
              <a:rPr sz="1000" spc="-10" dirty="0">
                <a:solidFill>
                  <a:srgbClr val="5DE9D3"/>
                </a:solidFill>
                <a:latin typeface="Calibri"/>
                <a:cs typeface="Calibri"/>
              </a:rPr>
              <a:t> marché.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541520" y="2409647"/>
            <a:ext cx="2864485" cy="1201420"/>
            <a:chOff x="3468420" y="2507946"/>
            <a:chExt cx="2864485" cy="1201420"/>
          </a:xfrm>
        </p:grpSpPr>
        <p:sp>
          <p:nvSpPr>
            <p:cNvPr id="31" name="object 31"/>
            <p:cNvSpPr/>
            <p:nvPr/>
          </p:nvSpPr>
          <p:spPr>
            <a:xfrm>
              <a:off x="3474719" y="2514246"/>
              <a:ext cx="2853055" cy="1188720"/>
            </a:xfrm>
            <a:custGeom>
              <a:avLst/>
              <a:gdLst/>
              <a:ahLst/>
              <a:cxnLst/>
              <a:rect l="l" t="t" r="r" b="b"/>
              <a:pathLst>
                <a:path w="2853054" h="1188720">
                  <a:moveTo>
                    <a:pt x="2852635" y="0"/>
                  </a:moveTo>
                  <a:lnTo>
                    <a:pt x="0" y="0"/>
                  </a:lnTo>
                  <a:lnTo>
                    <a:pt x="0" y="1188351"/>
                  </a:lnTo>
                  <a:lnTo>
                    <a:pt x="1426324" y="1188351"/>
                  </a:lnTo>
                  <a:lnTo>
                    <a:pt x="2852635" y="1188351"/>
                  </a:lnTo>
                  <a:lnTo>
                    <a:pt x="2852635" y="0"/>
                  </a:lnTo>
                  <a:close/>
                </a:path>
              </a:pathLst>
            </a:custGeom>
            <a:solidFill>
              <a:srgbClr val="0C1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74719" y="2514246"/>
              <a:ext cx="2853055" cy="1188720"/>
            </a:xfrm>
            <a:custGeom>
              <a:avLst/>
              <a:gdLst/>
              <a:ahLst/>
              <a:cxnLst/>
              <a:rect l="l" t="t" r="r" b="b"/>
              <a:pathLst>
                <a:path w="2853054" h="1188720">
                  <a:moveTo>
                    <a:pt x="1426324" y="1188351"/>
                  </a:moveTo>
                  <a:lnTo>
                    <a:pt x="0" y="1188351"/>
                  </a:lnTo>
                  <a:lnTo>
                    <a:pt x="0" y="0"/>
                  </a:lnTo>
                  <a:lnTo>
                    <a:pt x="2852635" y="0"/>
                  </a:lnTo>
                  <a:lnTo>
                    <a:pt x="2852635" y="1188351"/>
                  </a:lnTo>
                  <a:lnTo>
                    <a:pt x="1426324" y="1188351"/>
                  </a:lnTo>
                  <a:close/>
                </a:path>
              </a:pathLst>
            </a:custGeom>
            <a:ln w="1007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74719" y="2514246"/>
              <a:ext cx="45720" cy="1188720"/>
            </a:xfrm>
            <a:custGeom>
              <a:avLst/>
              <a:gdLst/>
              <a:ahLst/>
              <a:cxnLst/>
              <a:rect l="l" t="t" r="r" b="b"/>
              <a:pathLst>
                <a:path w="45720" h="1188720">
                  <a:moveTo>
                    <a:pt x="45364" y="0"/>
                  </a:moveTo>
                  <a:lnTo>
                    <a:pt x="0" y="0"/>
                  </a:lnTo>
                  <a:lnTo>
                    <a:pt x="0" y="1188351"/>
                  </a:lnTo>
                  <a:lnTo>
                    <a:pt x="22682" y="1188351"/>
                  </a:lnTo>
                  <a:lnTo>
                    <a:pt x="45364" y="1188351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1D39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74719" y="2514246"/>
              <a:ext cx="45720" cy="1188720"/>
            </a:xfrm>
            <a:custGeom>
              <a:avLst/>
              <a:gdLst/>
              <a:ahLst/>
              <a:cxnLst/>
              <a:rect l="l" t="t" r="r" b="b"/>
              <a:pathLst>
                <a:path w="45720" h="1188720">
                  <a:moveTo>
                    <a:pt x="22682" y="1188351"/>
                  </a:moveTo>
                  <a:lnTo>
                    <a:pt x="0" y="1188351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188351"/>
                  </a:lnTo>
                  <a:lnTo>
                    <a:pt x="22682" y="1188351"/>
                  </a:lnTo>
                  <a:close/>
                </a:path>
              </a:pathLst>
            </a:custGeom>
            <a:ln w="1259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712335" y="2521757"/>
            <a:ext cx="32956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350" spc="90" dirty="0">
                <a:latin typeface="MingLiU_HKSCS-ExtB"/>
                <a:cs typeface="MingLiU_HKSCS-ExtB"/>
              </a:rPr>
              <a:t>🚨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206264" y="2569198"/>
            <a:ext cx="154114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Détection</a:t>
            </a:r>
            <a:r>
              <a:rPr sz="13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d'anomalies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12335" y="3026248"/>
            <a:ext cx="2528570" cy="383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5200"/>
              </a:lnSpc>
              <a:spcBef>
                <a:spcPts val="100"/>
              </a:spcBef>
            </a:pPr>
            <a:r>
              <a:rPr sz="1000" spc="-10" dirty="0">
                <a:solidFill>
                  <a:schemeClr val="bg1"/>
                </a:solidFill>
                <a:latin typeface="Calibri"/>
                <a:cs typeface="Calibri"/>
              </a:rPr>
              <a:t>Identification</a:t>
            </a:r>
            <a:r>
              <a:rPr sz="10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Calibri"/>
                <a:cs typeface="Calibri"/>
              </a:rPr>
              <a:t>automatique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 des</a:t>
            </a:r>
            <a:r>
              <a:rPr sz="10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écarts</a:t>
            </a:r>
            <a:r>
              <a:rPr sz="1000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Calibri"/>
                <a:cs typeface="Calibri"/>
              </a:rPr>
              <a:t>significatifs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et</a:t>
            </a:r>
            <a:r>
              <a:rPr sz="10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Calibri"/>
                <a:cs typeface="Calibri"/>
              </a:rPr>
              <a:t>comportements</a:t>
            </a:r>
            <a:r>
              <a:rPr sz="10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Calibri"/>
                <a:cs typeface="Calibri"/>
              </a:rPr>
              <a:t>atypiques.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528748" y="3726229"/>
            <a:ext cx="2864485" cy="1201420"/>
            <a:chOff x="450900" y="3833826"/>
            <a:chExt cx="2864485" cy="1201420"/>
          </a:xfrm>
        </p:grpSpPr>
        <p:sp>
          <p:nvSpPr>
            <p:cNvPr id="39" name="object 39"/>
            <p:cNvSpPr/>
            <p:nvPr/>
          </p:nvSpPr>
          <p:spPr>
            <a:xfrm>
              <a:off x="457199" y="3840126"/>
              <a:ext cx="2853055" cy="1188720"/>
            </a:xfrm>
            <a:custGeom>
              <a:avLst/>
              <a:gdLst/>
              <a:ahLst/>
              <a:cxnLst/>
              <a:rect l="l" t="t" r="r" b="b"/>
              <a:pathLst>
                <a:path w="2853054" h="1188720">
                  <a:moveTo>
                    <a:pt x="2852635" y="0"/>
                  </a:moveTo>
                  <a:lnTo>
                    <a:pt x="0" y="0"/>
                  </a:lnTo>
                  <a:lnTo>
                    <a:pt x="0" y="1188351"/>
                  </a:lnTo>
                  <a:lnTo>
                    <a:pt x="1426324" y="1188351"/>
                  </a:lnTo>
                  <a:lnTo>
                    <a:pt x="2852635" y="1188351"/>
                  </a:lnTo>
                  <a:lnTo>
                    <a:pt x="2852635" y="0"/>
                  </a:lnTo>
                  <a:close/>
                </a:path>
              </a:pathLst>
            </a:custGeom>
            <a:solidFill>
              <a:srgbClr val="0C1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7199" y="3840126"/>
              <a:ext cx="2853055" cy="1188720"/>
            </a:xfrm>
            <a:custGeom>
              <a:avLst/>
              <a:gdLst/>
              <a:ahLst/>
              <a:cxnLst/>
              <a:rect l="l" t="t" r="r" b="b"/>
              <a:pathLst>
                <a:path w="2853054" h="1188720">
                  <a:moveTo>
                    <a:pt x="1426324" y="1188351"/>
                  </a:moveTo>
                  <a:lnTo>
                    <a:pt x="0" y="1188351"/>
                  </a:lnTo>
                  <a:lnTo>
                    <a:pt x="0" y="0"/>
                  </a:lnTo>
                  <a:lnTo>
                    <a:pt x="2852635" y="0"/>
                  </a:lnTo>
                  <a:lnTo>
                    <a:pt x="2852635" y="1188351"/>
                  </a:lnTo>
                  <a:lnTo>
                    <a:pt x="1426324" y="1188351"/>
                  </a:lnTo>
                  <a:close/>
                </a:path>
              </a:pathLst>
            </a:custGeom>
            <a:ln w="10079">
              <a:solidFill>
                <a:srgbClr val="C3B4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57199" y="3840126"/>
              <a:ext cx="45720" cy="1188720"/>
            </a:xfrm>
            <a:custGeom>
              <a:avLst/>
              <a:gdLst/>
              <a:ahLst/>
              <a:cxnLst/>
              <a:rect l="l" t="t" r="r" b="b"/>
              <a:pathLst>
                <a:path w="45720" h="1188720">
                  <a:moveTo>
                    <a:pt x="45364" y="0"/>
                  </a:moveTo>
                  <a:lnTo>
                    <a:pt x="0" y="0"/>
                  </a:lnTo>
                  <a:lnTo>
                    <a:pt x="0" y="1188351"/>
                  </a:lnTo>
                  <a:lnTo>
                    <a:pt x="22682" y="1188351"/>
                  </a:lnTo>
                  <a:lnTo>
                    <a:pt x="45364" y="1188351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C3B4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7199" y="3840126"/>
              <a:ext cx="45720" cy="1188720"/>
            </a:xfrm>
            <a:custGeom>
              <a:avLst/>
              <a:gdLst/>
              <a:ahLst/>
              <a:cxnLst/>
              <a:rect l="l" t="t" r="r" b="b"/>
              <a:pathLst>
                <a:path w="45720" h="1188720">
                  <a:moveTo>
                    <a:pt x="22682" y="1188351"/>
                  </a:moveTo>
                  <a:lnTo>
                    <a:pt x="0" y="1188351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188351"/>
                  </a:lnTo>
                  <a:lnTo>
                    <a:pt x="22682" y="1188351"/>
                  </a:lnTo>
                  <a:close/>
                </a:path>
              </a:pathLst>
            </a:custGeom>
            <a:ln w="12599">
              <a:solidFill>
                <a:srgbClr val="C3B4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694815" y="3847638"/>
            <a:ext cx="32956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350" spc="-1130" dirty="0">
                <a:latin typeface="MingLiU_HKSCS-ExtB"/>
                <a:cs typeface="MingLiU_HKSCS-ExtB"/>
              </a:rPr>
              <a:t>✍️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188744" y="3895078"/>
            <a:ext cx="169608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Génération</a:t>
            </a:r>
            <a:r>
              <a:rPr sz="13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3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synthèses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19690" y="4342592"/>
            <a:ext cx="242252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5200"/>
              </a:lnSpc>
              <a:spcBef>
                <a:spcPts val="100"/>
              </a:spcBef>
            </a:pPr>
            <a:r>
              <a:rPr sz="1000" spc="-10" dirty="0">
                <a:solidFill>
                  <a:srgbClr val="C3B4FC"/>
                </a:solidFill>
                <a:latin typeface="Calibri"/>
                <a:cs typeface="Calibri"/>
              </a:rPr>
              <a:t>Rédaction</a:t>
            </a:r>
            <a:r>
              <a:rPr sz="1000" dirty="0">
                <a:solidFill>
                  <a:srgbClr val="C3B4F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3B4FC"/>
                </a:solidFill>
                <a:latin typeface="Calibri"/>
                <a:cs typeface="Calibri"/>
              </a:rPr>
              <a:t>automatique</a:t>
            </a:r>
            <a:r>
              <a:rPr sz="1000" spc="5" dirty="0">
                <a:solidFill>
                  <a:srgbClr val="C3B4F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3B4FC"/>
                </a:solidFill>
                <a:latin typeface="Calibri"/>
                <a:cs typeface="Calibri"/>
              </a:rPr>
              <a:t>de</a:t>
            </a:r>
            <a:r>
              <a:rPr sz="1000" spc="10" dirty="0">
                <a:solidFill>
                  <a:srgbClr val="C3B4F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3B4FC"/>
                </a:solidFill>
                <a:latin typeface="Calibri"/>
                <a:cs typeface="Calibri"/>
              </a:rPr>
              <a:t>rapports</a:t>
            </a:r>
            <a:r>
              <a:rPr sz="1000" dirty="0">
                <a:solidFill>
                  <a:srgbClr val="C3B4FC"/>
                </a:solidFill>
                <a:latin typeface="Calibri"/>
                <a:cs typeface="Calibri"/>
              </a:rPr>
              <a:t> en</a:t>
            </a:r>
            <a:r>
              <a:rPr sz="1000" spc="-5" dirty="0">
                <a:solidFill>
                  <a:srgbClr val="C3B4F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3B4FC"/>
                </a:solidFill>
                <a:latin typeface="Calibri"/>
                <a:cs typeface="Calibri"/>
              </a:rPr>
              <a:t>langage naturel</a:t>
            </a:r>
            <a:r>
              <a:rPr sz="1000" spc="-5" dirty="0">
                <a:solidFill>
                  <a:srgbClr val="C3B4F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3B4FC"/>
                </a:solidFill>
                <a:latin typeface="Calibri"/>
                <a:cs typeface="Calibri"/>
              </a:rPr>
              <a:t>structuré</a:t>
            </a:r>
            <a:r>
              <a:rPr sz="1000" spc="5" dirty="0">
                <a:solidFill>
                  <a:srgbClr val="C3B4F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C3B4FC"/>
                </a:solidFill>
                <a:latin typeface="Calibri"/>
                <a:cs typeface="Calibri"/>
              </a:rPr>
              <a:t>professionnel.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528260" y="3741827"/>
            <a:ext cx="2887345" cy="1236980"/>
            <a:chOff x="3468420" y="3798358"/>
            <a:chExt cx="2887345" cy="1236980"/>
          </a:xfrm>
        </p:grpSpPr>
        <p:sp>
          <p:nvSpPr>
            <p:cNvPr id="47" name="object 47"/>
            <p:cNvSpPr/>
            <p:nvPr/>
          </p:nvSpPr>
          <p:spPr>
            <a:xfrm>
              <a:off x="3497757" y="3803397"/>
              <a:ext cx="2853055" cy="1188720"/>
            </a:xfrm>
            <a:custGeom>
              <a:avLst/>
              <a:gdLst/>
              <a:ahLst/>
              <a:cxnLst/>
              <a:rect l="l" t="t" r="r" b="b"/>
              <a:pathLst>
                <a:path w="2853054" h="1188720">
                  <a:moveTo>
                    <a:pt x="2852635" y="0"/>
                  </a:moveTo>
                  <a:lnTo>
                    <a:pt x="0" y="0"/>
                  </a:lnTo>
                  <a:lnTo>
                    <a:pt x="0" y="1188364"/>
                  </a:lnTo>
                  <a:lnTo>
                    <a:pt x="1426324" y="1188364"/>
                  </a:lnTo>
                  <a:lnTo>
                    <a:pt x="2852635" y="1188364"/>
                  </a:lnTo>
                  <a:lnTo>
                    <a:pt x="2852635" y="0"/>
                  </a:lnTo>
                  <a:close/>
                </a:path>
              </a:pathLst>
            </a:custGeom>
            <a:solidFill>
              <a:srgbClr val="0C1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97757" y="3803397"/>
              <a:ext cx="2853055" cy="1188720"/>
            </a:xfrm>
            <a:custGeom>
              <a:avLst/>
              <a:gdLst/>
              <a:ahLst/>
              <a:cxnLst/>
              <a:rect l="l" t="t" r="r" b="b"/>
              <a:pathLst>
                <a:path w="2853054" h="1188720">
                  <a:moveTo>
                    <a:pt x="1426324" y="1188364"/>
                  </a:moveTo>
                  <a:lnTo>
                    <a:pt x="0" y="1188364"/>
                  </a:lnTo>
                  <a:lnTo>
                    <a:pt x="0" y="0"/>
                  </a:lnTo>
                  <a:lnTo>
                    <a:pt x="2852635" y="0"/>
                  </a:lnTo>
                  <a:lnTo>
                    <a:pt x="2852635" y="1188364"/>
                  </a:lnTo>
                  <a:lnTo>
                    <a:pt x="1426324" y="1188364"/>
                  </a:lnTo>
                  <a:close/>
                </a:path>
              </a:pathLst>
            </a:custGeom>
            <a:ln w="10079">
              <a:solidFill>
                <a:srgbClr val="5DE9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74719" y="3840126"/>
              <a:ext cx="45720" cy="1188720"/>
            </a:xfrm>
            <a:custGeom>
              <a:avLst/>
              <a:gdLst/>
              <a:ahLst/>
              <a:cxnLst/>
              <a:rect l="l" t="t" r="r" b="b"/>
              <a:pathLst>
                <a:path w="45720" h="1188720">
                  <a:moveTo>
                    <a:pt x="45364" y="0"/>
                  </a:moveTo>
                  <a:lnTo>
                    <a:pt x="0" y="0"/>
                  </a:lnTo>
                  <a:lnTo>
                    <a:pt x="0" y="1188351"/>
                  </a:lnTo>
                  <a:lnTo>
                    <a:pt x="22682" y="1188351"/>
                  </a:lnTo>
                  <a:lnTo>
                    <a:pt x="45364" y="1188351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5DE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474719" y="3840126"/>
              <a:ext cx="45720" cy="1188720"/>
            </a:xfrm>
            <a:custGeom>
              <a:avLst/>
              <a:gdLst/>
              <a:ahLst/>
              <a:cxnLst/>
              <a:rect l="l" t="t" r="r" b="b"/>
              <a:pathLst>
                <a:path w="45720" h="1188720">
                  <a:moveTo>
                    <a:pt x="22682" y="1188351"/>
                  </a:moveTo>
                  <a:lnTo>
                    <a:pt x="0" y="1188351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1188351"/>
                  </a:lnTo>
                  <a:lnTo>
                    <a:pt x="22682" y="1188351"/>
                  </a:lnTo>
                  <a:close/>
                </a:path>
              </a:pathLst>
            </a:custGeom>
            <a:ln w="12599">
              <a:solidFill>
                <a:srgbClr val="5DE9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712335" y="3847638"/>
            <a:ext cx="32956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350" spc="90" dirty="0">
                <a:latin typeface="MingLiU_HKSCS-ExtB"/>
                <a:cs typeface="MingLiU_HKSCS-ExtB"/>
              </a:rPr>
              <a:t>🎯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206264" y="3895078"/>
            <a:ext cx="128651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Recommandations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712335" y="4374646"/>
            <a:ext cx="247586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5200"/>
              </a:lnSpc>
              <a:spcBef>
                <a:spcPts val="100"/>
              </a:spcBef>
            </a:pPr>
            <a:r>
              <a:rPr sz="1000" dirty="0">
                <a:solidFill>
                  <a:srgbClr val="5DE9D3"/>
                </a:solidFill>
                <a:latin typeface="Calibri"/>
                <a:cs typeface="Calibri"/>
              </a:rPr>
              <a:t>Actions</a:t>
            </a:r>
            <a:r>
              <a:rPr sz="1000" spc="-25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5DE9D3"/>
                </a:solidFill>
                <a:latin typeface="Calibri"/>
                <a:cs typeface="Calibri"/>
              </a:rPr>
              <a:t>stratégiques</a:t>
            </a:r>
            <a:r>
              <a:rPr sz="1000" spc="-25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5DE9D3"/>
                </a:solidFill>
                <a:latin typeface="Calibri"/>
                <a:cs typeface="Calibri"/>
              </a:rPr>
              <a:t>suggérées</a:t>
            </a:r>
            <a:r>
              <a:rPr sz="1000" spc="-20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DE9D3"/>
                </a:solidFill>
                <a:latin typeface="Calibri"/>
                <a:cs typeface="Calibri"/>
              </a:rPr>
              <a:t>selon</a:t>
            </a:r>
            <a:r>
              <a:rPr sz="1000" spc="-25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DE9D3"/>
                </a:solidFill>
                <a:latin typeface="Calibri"/>
                <a:cs typeface="Calibri"/>
              </a:rPr>
              <a:t>le</a:t>
            </a:r>
            <a:r>
              <a:rPr sz="1000" spc="-15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DE9D3"/>
                </a:solidFill>
                <a:latin typeface="Calibri"/>
                <a:cs typeface="Calibri"/>
              </a:rPr>
              <a:t>profil</a:t>
            </a:r>
            <a:r>
              <a:rPr sz="1000" spc="-20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5DE9D3"/>
                </a:solidFill>
                <a:latin typeface="Calibri"/>
                <a:cs typeface="Calibri"/>
              </a:rPr>
              <a:t>de</a:t>
            </a:r>
            <a:r>
              <a:rPr sz="1000" dirty="0">
                <a:solidFill>
                  <a:srgbClr val="5DE9D3"/>
                </a:solidFill>
                <a:latin typeface="Calibri"/>
                <a:cs typeface="Calibri"/>
              </a:rPr>
              <a:t> risque</a:t>
            </a:r>
            <a:r>
              <a:rPr sz="1000" spc="-30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DE9D3"/>
                </a:solidFill>
                <a:latin typeface="Calibri"/>
                <a:cs typeface="Calibri"/>
              </a:rPr>
              <a:t>de</a:t>
            </a:r>
            <a:r>
              <a:rPr sz="1000" spc="-25" dirty="0">
                <a:solidFill>
                  <a:srgbClr val="5DE9D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5DE9D3"/>
                </a:solidFill>
                <a:latin typeface="Calibri"/>
                <a:cs typeface="Calibri"/>
              </a:rPr>
              <a:t>l'investisseur.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772F5AD9-6808-C3CF-6181-D033ED35F68E}"/>
              </a:ext>
            </a:extLst>
          </p:cNvPr>
          <p:cNvSpPr txBox="1"/>
          <p:nvPr/>
        </p:nvSpPr>
        <p:spPr>
          <a:xfrm>
            <a:off x="-347396" y="264005"/>
            <a:ext cx="4191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kern="0" spc="150" dirty="0">
                <a:solidFill>
                  <a:schemeClr val="bg1"/>
                </a:solidFill>
              </a:rPr>
              <a:t>INTELLIGENCE ARTIFICIELLE</a:t>
            </a:r>
            <a:endParaRPr lang="en-US" sz="1100" dirty="0">
              <a:solidFill>
                <a:schemeClr val="bg1"/>
              </a:solidFill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55602"/>
            <a:ext cx="1828800" cy="237490"/>
          </a:xfrm>
          <a:custGeom>
            <a:avLst/>
            <a:gdLst/>
            <a:ahLst/>
            <a:cxnLst/>
            <a:rect l="l" t="t" r="r" b="b"/>
            <a:pathLst>
              <a:path w="1828800" h="237490">
                <a:moveTo>
                  <a:pt x="1828431" y="0"/>
                </a:moveTo>
                <a:lnTo>
                  <a:pt x="0" y="0"/>
                </a:lnTo>
                <a:lnTo>
                  <a:pt x="0" y="237235"/>
                </a:lnTo>
                <a:lnTo>
                  <a:pt x="914400" y="237235"/>
                </a:lnTo>
                <a:lnTo>
                  <a:pt x="1828431" y="237235"/>
                </a:lnTo>
                <a:lnTo>
                  <a:pt x="1828431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6844" y="255602"/>
            <a:ext cx="1828800" cy="237490"/>
          </a:xfrm>
          <a:prstGeom prst="rect">
            <a:avLst/>
          </a:prstGeom>
          <a:ln w="6479">
            <a:solidFill>
              <a:srgbClr val="2462EA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455"/>
              </a:spcBef>
            </a:pPr>
            <a:r>
              <a:rPr sz="800" b="1" spc="-10" dirty="0">
                <a:solidFill>
                  <a:srgbClr val="2462EA"/>
                </a:solidFill>
                <a:latin typeface="Calibri"/>
                <a:cs typeface="Calibri"/>
              </a:rPr>
              <a:t>C</a:t>
            </a:r>
            <a:r>
              <a:rPr sz="800" b="1" spc="-4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A</a:t>
            </a:r>
            <a:r>
              <a:rPr sz="800" b="1" spc="-2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S</a:t>
            </a:r>
            <a:r>
              <a:rPr sz="800" b="1" spc="28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D</a:t>
            </a:r>
            <a:r>
              <a:rPr sz="800" b="1" spc="-1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'</a:t>
            </a:r>
            <a:r>
              <a:rPr sz="800" b="1" spc="-4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U</a:t>
            </a:r>
            <a:r>
              <a:rPr sz="800" b="1" spc="-2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T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I</a:t>
            </a:r>
            <a:r>
              <a:rPr sz="800" b="1" spc="-2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L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I</a:t>
            </a:r>
            <a:r>
              <a:rPr sz="800" b="1" spc="-3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S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AT</a:t>
            </a:r>
            <a:r>
              <a:rPr sz="800" b="1" spc="-2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I</a:t>
            </a:r>
            <a:r>
              <a:rPr sz="800" b="1" spc="-4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O</a:t>
            </a:r>
            <a:r>
              <a:rPr sz="800" b="1" spc="-2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N</a:t>
            </a:r>
            <a:r>
              <a:rPr sz="800" b="1" spc="29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2462EA"/>
                </a:solidFill>
                <a:latin typeface="Calibri"/>
                <a:cs typeface="Calibri"/>
              </a:rPr>
              <a:t>C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O</a:t>
            </a:r>
            <a:r>
              <a:rPr sz="800" b="1" spc="-3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N</a:t>
            </a:r>
            <a:r>
              <a:rPr sz="800" b="1" spc="-2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C</a:t>
            </a:r>
            <a:r>
              <a:rPr sz="800" b="1" spc="-2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R</a:t>
            </a:r>
            <a:r>
              <a:rPr sz="800" b="1" spc="-2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2462EA"/>
                </a:solidFill>
                <a:latin typeface="Calibri"/>
                <a:cs typeface="Calibri"/>
              </a:rPr>
              <a:t>E</a:t>
            </a:r>
            <a:r>
              <a:rPr sz="800" b="1" spc="-4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2462EA"/>
                </a:solidFill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Exemple</a:t>
            </a:r>
            <a:r>
              <a:rPr spc="-65" dirty="0"/>
              <a:t> 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Analyse</a:t>
            </a:r>
            <a:r>
              <a:rPr spc="-70" dirty="0"/>
              <a:t> </a:t>
            </a:r>
            <a:r>
              <a:rPr dirty="0"/>
              <a:t>du</a:t>
            </a:r>
            <a:r>
              <a:rPr spc="-75" dirty="0"/>
              <a:t> </a:t>
            </a:r>
            <a:r>
              <a:rPr dirty="0"/>
              <a:t>secteur</a:t>
            </a:r>
            <a:r>
              <a:rPr spc="-70" dirty="0"/>
              <a:t> </a:t>
            </a:r>
            <a:r>
              <a:rPr dirty="0"/>
              <a:t>Santé</a:t>
            </a:r>
            <a:r>
              <a:rPr spc="-75" dirty="0"/>
              <a:t> </a:t>
            </a:r>
            <a:r>
              <a:rPr dirty="0"/>
              <a:t>au</a:t>
            </a:r>
            <a:r>
              <a:rPr spc="-65" dirty="0"/>
              <a:t> </a:t>
            </a:r>
            <a:r>
              <a:rPr spc="-10" dirty="0"/>
              <a:t>Maroc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144" y="1113385"/>
            <a:ext cx="532574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Un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cycle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complet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de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la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collecte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à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la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recommandation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stratégique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en</a:t>
            </a:r>
            <a:r>
              <a:rPr sz="13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temps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réel.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0040" y="1389966"/>
            <a:ext cx="1536065" cy="1417320"/>
            <a:chOff x="320040" y="1389966"/>
            <a:chExt cx="1536065" cy="1417320"/>
          </a:xfrm>
        </p:grpSpPr>
        <p:sp>
          <p:nvSpPr>
            <p:cNvPr id="7" name="object 7"/>
            <p:cNvSpPr/>
            <p:nvPr/>
          </p:nvSpPr>
          <p:spPr>
            <a:xfrm>
              <a:off x="320040" y="1389966"/>
              <a:ext cx="1536065" cy="1417320"/>
            </a:xfrm>
            <a:custGeom>
              <a:avLst/>
              <a:gdLst/>
              <a:ahLst/>
              <a:cxnLst/>
              <a:rect l="l" t="t" r="r" b="b"/>
              <a:pathLst>
                <a:path w="1536064" h="1417320">
                  <a:moveTo>
                    <a:pt x="1535760" y="0"/>
                  </a:moveTo>
                  <a:lnTo>
                    <a:pt x="0" y="0"/>
                  </a:lnTo>
                  <a:lnTo>
                    <a:pt x="0" y="1416951"/>
                  </a:lnTo>
                  <a:lnTo>
                    <a:pt x="767880" y="1416951"/>
                  </a:lnTo>
                  <a:lnTo>
                    <a:pt x="1535760" y="1416951"/>
                  </a:lnTo>
                  <a:lnTo>
                    <a:pt x="1535760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5040" y="1499402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40" y="6165"/>
                  </a:lnTo>
                  <a:lnTo>
                    <a:pt x="91439" y="24485"/>
                  </a:lnTo>
                  <a:lnTo>
                    <a:pt x="53638" y="53638"/>
                  </a:lnTo>
                  <a:lnTo>
                    <a:pt x="24485" y="91440"/>
                  </a:lnTo>
                  <a:lnTo>
                    <a:pt x="6165" y="135540"/>
                  </a:lnTo>
                  <a:lnTo>
                    <a:pt x="0" y="182880"/>
                  </a:lnTo>
                  <a:lnTo>
                    <a:pt x="1547" y="206786"/>
                  </a:lnTo>
                  <a:lnTo>
                    <a:pt x="13823" y="252842"/>
                  </a:lnTo>
                  <a:lnTo>
                    <a:pt x="37879" y="294200"/>
                  </a:lnTo>
                  <a:lnTo>
                    <a:pt x="71559" y="327880"/>
                  </a:lnTo>
                  <a:lnTo>
                    <a:pt x="112917" y="351936"/>
                  </a:lnTo>
                  <a:lnTo>
                    <a:pt x="158973" y="364212"/>
                  </a:lnTo>
                  <a:lnTo>
                    <a:pt x="182879" y="365760"/>
                  </a:lnTo>
                  <a:lnTo>
                    <a:pt x="206786" y="364212"/>
                  </a:lnTo>
                  <a:lnTo>
                    <a:pt x="252842" y="351936"/>
                  </a:lnTo>
                  <a:lnTo>
                    <a:pt x="294200" y="327880"/>
                  </a:lnTo>
                  <a:lnTo>
                    <a:pt x="327880" y="294200"/>
                  </a:lnTo>
                  <a:lnTo>
                    <a:pt x="351936" y="252842"/>
                  </a:lnTo>
                  <a:lnTo>
                    <a:pt x="364212" y="206786"/>
                  </a:lnTo>
                  <a:lnTo>
                    <a:pt x="365759" y="182880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80" y="71559"/>
                  </a:lnTo>
                  <a:lnTo>
                    <a:pt x="294200" y="37879"/>
                  </a:lnTo>
                  <a:lnTo>
                    <a:pt x="252842" y="13823"/>
                  </a:lnTo>
                  <a:lnTo>
                    <a:pt x="206786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5040" y="1499402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80"/>
                  </a:moveTo>
                  <a:lnTo>
                    <a:pt x="1547" y="158973"/>
                  </a:lnTo>
                  <a:lnTo>
                    <a:pt x="6165" y="135540"/>
                  </a:lnTo>
                  <a:lnTo>
                    <a:pt x="24485" y="91440"/>
                  </a:lnTo>
                  <a:lnTo>
                    <a:pt x="53638" y="53638"/>
                  </a:lnTo>
                  <a:lnTo>
                    <a:pt x="91439" y="24485"/>
                  </a:lnTo>
                  <a:lnTo>
                    <a:pt x="135540" y="6165"/>
                  </a:lnTo>
                  <a:lnTo>
                    <a:pt x="182879" y="0"/>
                  </a:lnTo>
                  <a:lnTo>
                    <a:pt x="230219" y="6165"/>
                  </a:lnTo>
                  <a:lnTo>
                    <a:pt x="274319" y="24485"/>
                  </a:lnTo>
                  <a:lnTo>
                    <a:pt x="312121" y="53638"/>
                  </a:lnTo>
                  <a:lnTo>
                    <a:pt x="341274" y="91440"/>
                  </a:lnTo>
                  <a:lnTo>
                    <a:pt x="359594" y="135540"/>
                  </a:lnTo>
                  <a:lnTo>
                    <a:pt x="365759" y="182880"/>
                  </a:lnTo>
                  <a:lnTo>
                    <a:pt x="364212" y="206786"/>
                  </a:lnTo>
                  <a:lnTo>
                    <a:pt x="359594" y="230219"/>
                  </a:lnTo>
                  <a:lnTo>
                    <a:pt x="341274" y="274320"/>
                  </a:lnTo>
                  <a:lnTo>
                    <a:pt x="312121" y="312121"/>
                  </a:lnTo>
                  <a:lnTo>
                    <a:pt x="274319" y="341274"/>
                  </a:lnTo>
                  <a:lnTo>
                    <a:pt x="230219" y="359594"/>
                  </a:lnTo>
                  <a:lnTo>
                    <a:pt x="182879" y="365760"/>
                  </a:lnTo>
                  <a:lnTo>
                    <a:pt x="135540" y="359594"/>
                  </a:lnTo>
                  <a:lnTo>
                    <a:pt x="91439" y="341274"/>
                  </a:lnTo>
                  <a:lnTo>
                    <a:pt x="53638" y="312121"/>
                  </a:lnTo>
                  <a:lnTo>
                    <a:pt x="24485" y="274320"/>
                  </a:lnTo>
                  <a:lnTo>
                    <a:pt x="6165" y="230219"/>
                  </a:lnTo>
                  <a:lnTo>
                    <a:pt x="1547" y="206786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0040" y="1389966"/>
            <a:ext cx="1536065" cy="1417320"/>
          </a:xfrm>
          <a:prstGeom prst="rect">
            <a:avLst/>
          </a:prstGeom>
          <a:ln w="10079">
            <a:solidFill>
              <a:srgbClr val="2462EA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0E1629"/>
                </a:solidFill>
                <a:latin typeface="Calibri"/>
                <a:cs typeface="Calibri"/>
              </a:rPr>
              <a:t>Collecte</a:t>
            </a:r>
            <a:endParaRPr sz="1200">
              <a:latin typeface="Calibri"/>
              <a:cs typeface="Calibri"/>
            </a:endParaRPr>
          </a:p>
          <a:p>
            <a:pPr marL="165100" marR="158115" algn="ctr">
              <a:lnSpc>
                <a:spcPct val="120200"/>
              </a:lnSpc>
              <a:spcBef>
                <a:spcPts val="1005"/>
              </a:spcBef>
            </a:pP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50+</a:t>
            </a:r>
            <a:r>
              <a:rPr sz="9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sources</a:t>
            </a:r>
            <a:r>
              <a:rPr sz="9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:</a:t>
            </a:r>
            <a:r>
              <a:rPr sz="900" spc="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MSPS, </a:t>
            </a:r>
            <a:r>
              <a:rPr sz="900" spc="-20" dirty="0">
                <a:solidFill>
                  <a:srgbClr val="63738A"/>
                </a:solidFill>
                <a:latin typeface="Calibri"/>
                <a:cs typeface="Calibri"/>
              </a:rPr>
              <a:t>OMS,</a:t>
            </a:r>
            <a:r>
              <a:rPr sz="900" spc="50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articles,</a:t>
            </a:r>
            <a:r>
              <a:rPr sz="900" spc="-5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startups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61464" y="1959383"/>
            <a:ext cx="209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590" dirty="0">
                <a:solidFill>
                  <a:srgbClr val="CAD4E0"/>
                </a:solidFill>
                <a:latin typeface="Calibri"/>
                <a:cs typeface="Calibri"/>
              </a:rPr>
              <a:t>*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15644" y="1384926"/>
            <a:ext cx="1546225" cy="1427480"/>
            <a:chOff x="2015644" y="1384926"/>
            <a:chExt cx="1546225" cy="1427480"/>
          </a:xfrm>
        </p:grpSpPr>
        <p:sp>
          <p:nvSpPr>
            <p:cNvPr id="13" name="object 13"/>
            <p:cNvSpPr/>
            <p:nvPr/>
          </p:nvSpPr>
          <p:spPr>
            <a:xfrm>
              <a:off x="2020684" y="1389966"/>
              <a:ext cx="1536065" cy="1417320"/>
            </a:xfrm>
            <a:custGeom>
              <a:avLst/>
              <a:gdLst/>
              <a:ahLst/>
              <a:cxnLst/>
              <a:rect l="l" t="t" r="r" b="b"/>
              <a:pathLst>
                <a:path w="1536064" h="1417320">
                  <a:moveTo>
                    <a:pt x="1535760" y="0"/>
                  </a:moveTo>
                  <a:lnTo>
                    <a:pt x="0" y="0"/>
                  </a:lnTo>
                  <a:lnTo>
                    <a:pt x="0" y="1416951"/>
                  </a:lnTo>
                  <a:lnTo>
                    <a:pt x="767880" y="1416951"/>
                  </a:lnTo>
                  <a:lnTo>
                    <a:pt x="1535760" y="1416951"/>
                  </a:lnTo>
                  <a:lnTo>
                    <a:pt x="1535760" y="0"/>
                  </a:lnTo>
                  <a:close/>
                </a:path>
              </a:pathLst>
            </a:custGeom>
            <a:solidFill>
              <a:srgbClr val="ECE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20684" y="1389966"/>
              <a:ext cx="1536065" cy="1417320"/>
            </a:xfrm>
            <a:custGeom>
              <a:avLst/>
              <a:gdLst/>
              <a:ahLst/>
              <a:cxnLst/>
              <a:rect l="l" t="t" r="r" b="b"/>
              <a:pathLst>
                <a:path w="1536064" h="1417320">
                  <a:moveTo>
                    <a:pt x="767880" y="1416951"/>
                  </a:moveTo>
                  <a:lnTo>
                    <a:pt x="0" y="1416951"/>
                  </a:lnTo>
                  <a:lnTo>
                    <a:pt x="0" y="0"/>
                  </a:lnTo>
                  <a:lnTo>
                    <a:pt x="1535760" y="0"/>
                  </a:lnTo>
                  <a:lnTo>
                    <a:pt x="1535760" y="1416951"/>
                  </a:lnTo>
                  <a:lnTo>
                    <a:pt x="767880" y="1416951"/>
                  </a:lnTo>
                  <a:close/>
                </a:path>
              </a:pathLst>
            </a:custGeom>
            <a:ln w="1007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05684" y="1499402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182880" y="0"/>
                  </a:moveTo>
                  <a:lnTo>
                    <a:pt x="135535" y="6165"/>
                  </a:lnTo>
                  <a:lnTo>
                    <a:pt x="91440" y="24485"/>
                  </a:lnTo>
                  <a:lnTo>
                    <a:pt x="53636" y="53638"/>
                  </a:lnTo>
                  <a:lnTo>
                    <a:pt x="24472" y="91440"/>
                  </a:lnTo>
                  <a:lnTo>
                    <a:pt x="6164" y="135540"/>
                  </a:lnTo>
                  <a:lnTo>
                    <a:pt x="0" y="182880"/>
                  </a:lnTo>
                  <a:lnTo>
                    <a:pt x="1546" y="206786"/>
                  </a:lnTo>
                  <a:lnTo>
                    <a:pt x="13817" y="252842"/>
                  </a:lnTo>
                  <a:lnTo>
                    <a:pt x="37874" y="294200"/>
                  </a:lnTo>
                  <a:lnTo>
                    <a:pt x="71559" y="327880"/>
                  </a:lnTo>
                  <a:lnTo>
                    <a:pt x="112912" y="351936"/>
                  </a:lnTo>
                  <a:lnTo>
                    <a:pt x="158971" y="364212"/>
                  </a:lnTo>
                  <a:lnTo>
                    <a:pt x="182880" y="365760"/>
                  </a:lnTo>
                  <a:lnTo>
                    <a:pt x="206781" y="364212"/>
                  </a:lnTo>
                  <a:lnTo>
                    <a:pt x="252840" y="351936"/>
                  </a:lnTo>
                  <a:lnTo>
                    <a:pt x="294195" y="327880"/>
                  </a:lnTo>
                  <a:lnTo>
                    <a:pt x="327878" y="294200"/>
                  </a:lnTo>
                  <a:lnTo>
                    <a:pt x="351936" y="252842"/>
                  </a:lnTo>
                  <a:lnTo>
                    <a:pt x="364212" y="206786"/>
                  </a:lnTo>
                  <a:lnTo>
                    <a:pt x="365760" y="182880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78" y="71559"/>
                  </a:lnTo>
                  <a:lnTo>
                    <a:pt x="294195" y="37879"/>
                  </a:lnTo>
                  <a:lnTo>
                    <a:pt x="252840" y="13823"/>
                  </a:lnTo>
                  <a:lnTo>
                    <a:pt x="206781" y="1547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05684" y="1499402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182880"/>
                  </a:moveTo>
                  <a:lnTo>
                    <a:pt x="1546" y="158973"/>
                  </a:lnTo>
                  <a:lnTo>
                    <a:pt x="6164" y="135540"/>
                  </a:lnTo>
                  <a:lnTo>
                    <a:pt x="24472" y="91440"/>
                  </a:lnTo>
                  <a:lnTo>
                    <a:pt x="53636" y="53638"/>
                  </a:lnTo>
                  <a:lnTo>
                    <a:pt x="91440" y="24485"/>
                  </a:lnTo>
                  <a:lnTo>
                    <a:pt x="135535" y="6165"/>
                  </a:lnTo>
                  <a:lnTo>
                    <a:pt x="182880" y="0"/>
                  </a:lnTo>
                  <a:lnTo>
                    <a:pt x="230214" y="6165"/>
                  </a:lnTo>
                  <a:lnTo>
                    <a:pt x="274319" y="24485"/>
                  </a:lnTo>
                  <a:lnTo>
                    <a:pt x="312116" y="53638"/>
                  </a:lnTo>
                  <a:lnTo>
                    <a:pt x="341274" y="91440"/>
                  </a:lnTo>
                  <a:lnTo>
                    <a:pt x="359594" y="135540"/>
                  </a:lnTo>
                  <a:lnTo>
                    <a:pt x="365760" y="182880"/>
                  </a:lnTo>
                  <a:lnTo>
                    <a:pt x="364212" y="206786"/>
                  </a:lnTo>
                  <a:lnTo>
                    <a:pt x="359594" y="230219"/>
                  </a:lnTo>
                  <a:lnTo>
                    <a:pt x="341274" y="274320"/>
                  </a:lnTo>
                  <a:lnTo>
                    <a:pt x="312116" y="312121"/>
                  </a:lnTo>
                  <a:lnTo>
                    <a:pt x="274319" y="341274"/>
                  </a:lnTo>
                  <a:lnTo>
                    <a:pt x="230214" y="359594"/>
                  </a:lnTo>
                  <a:lnTo>
                    <a:pt x="182880" y="365760"/>
                  </a:lnTo>
                  <a:lnTo>
                    <a:pt x="135535" y="359594"/>
                  </a:lnTo>
                  <a:lnTo>
                    <a:pt x="91440" y="341274"/>
                  </a:lnTo>
                  <a:lnTo>
                    <a:pt x="53636" y="312121"/>
                  </a:lnTo>
                  <a:lnTo>
                    <a:pt x="24472" y="274320"/>
                  </a:lnTo>
                  <a:lnTo>
                    <a:pt x="6164" y="230219"/>
                  </a:lnTo>
                  <a:lnTo>
                    <a:pt x="1546" y="206786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78265" y="2016978"/>
            <a:ext cx="121983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1629"/>
                </a:solidFill>
                <a:latin typeface="Calibri"/>
                <a:cs typeface="Calibri"/>
              </a:rPr>
              <a:t>Analyse</a:t>
            </a:r>
            <a:r>
              <a:rPr sz="1200" b="1" spc="-6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0E1629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  <a:p>
            <a:pPr marL="12700" marR="5080" algn="ctr">
              <a:lnSpc>
                <a:spcPct val="120200"/>
              </a:lnSpc>
              <a:spcBef>
                <a:spcPts val="1005"/>
              </a:spcBef>
            </a:pP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NLP</a:t>
            </a:r>
            <a:r>
              <a:rPr sz="900" spc="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sur 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actualités,</a:t>
            </a:r>
            <a:r>
              <a:rPr sz="900" spc="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ML</a:t>
            </a:r>
            <a:r>
              <a:rPr sz="900" spc="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63738A"/>
                </a:solidFill>
                <a:latin typeface="Calibri"/>
                <a:cs typeface="Calibri"/>
              </a:rPr>
              <a:t>sur</a:t>
            </a:r>
            <a:r>
              <a:rPr sz="900" spc="50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données</a:t>
            </a:r>
            <a:r>
              <a:rPr sz="900" spc="-5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financières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716644" y="1384926"/>
            <a:ext cx="1546225" cy="1427480"/>
            <a:chOff x="3716644" y="1384926"/>
            <a:chExt cx="1546225" cy="1427480"/>
          </a:xfrm>
        </p:grpSpPr>
        <p:sp>
          <p:nvSpPr>
            <p:cNvPr id="19" name="object 19"/>
            <p:cNvSpPr/>
            <p:nvPr/>
          </p:nvSpPr>
          <p:spPr>
            <a:xfrm>
              <a:off x="3721684" y="1389966"/>
              <a:ext cx="1536065" cy="1417320"/>
            </a:xfrm>
            <a:custGeom>
              <a:avLst/>
              <a:gdLst/>
              <a:ahLst/>
              <a:cxnLst/>
              <a:rect l="l" t="t" r="r" b="b"/>
              <a:pathLst>
                <a:path w="1536064" h="1417320">
                  <a:moveTo>
                    <a:pt x="1535760" y="0"/>
                  </a:moveTo>
                  <a:lnTo>
                    <a:pt x="0" y="0"/>
                  </a:lnTo>
                  <a:lnTo>
                    <a:pt x="0" y="1416951"/>
                  </a:lnTo>
                  <a:lnTo>
                    <a:pt x="767880" y="1416951"/>
                  </a:lnTo>
                  <a:lnTo>
                    <a:pt x="1535760" y="1416951"/>
                  </a:lnTo>
                  <a:lnTo>
                    <a:pt x="1535760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21684" y="1389966"/>
              <a:ext cx="1536065" cy="1417320"/>
            </a:xfrm>
            <a:custGeom>
              <a:avLst/>
              <a:gdLst/>
              <a:ahLst/>
              <a:cxnLst/>
              <a:rect l="l" t="t" r="r" b="b"/>
              <a:pathLst>
                <a:path w="1536064" h="1417320">
                  <a:moveTo>
                    <a:pt x="767880" y="1416951"/>
                  </a:moveTo>
                  <a:lnTo>
                    <a:pt x="0" y="1416951"/>
                  </a:lnTo>
                  <a:lnTo>
                    <a:pt x="0" y="0"/>
                  </a:lnTo>
                  <a:lnTo>
                    <a:pt x="1535760" y="0"/>
                  </a:lnTo>
                  <a:lnTo>
                    <a:pt x="1535760" y="1416951"/>
                  </a:lnTo>
                  <a:lnTo>
                    <a:pt x="767880" y="1416951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06316" y="1499402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182880" y="0"/>
                  </a:moveTo>
                  <a:lnTo>
                    <a:pt x="135540" y="6165"/>
                  </a:lnTo>
                  <a:lnTo>
                    <a:pt x="91439" y="24485"/>
                  </a:lnTo>
                  <a:lnTo>
                    <a:pt x="53643" y="53638"/>
                  </a:lnTo>
                  <a:lnTo>
                    <a:pt x="24485" y="91440"/>
                  </a:lnTo>
                  <a:lnTo>
                    <a:pt x="6165" y="135540"/>
                  </a:lnTo>
                  <a:lnTo>
                    <a:pt x="0" y="182880"/>
                  </a:lnTo>
                  <a:lnTo>
                    <a:pt x="1547" y="206786"/>
                  </a:lnTo>
                  <a:lnTo>
                    <a:pt x="13823" y="252842"/>
                  </a:lnTo>
                  <a:lnTo>
                    <a:pt x="37881" y="294200"/>
                  </a:lnTo>
                  <a:lnTo>
                    <a:pt x="71564" y="327880"/>
                  </a:lnTo>
                  <a:lnTo>
                    <a:pt x="112917" y="351936"/>
                  </a:lnTo>
                  <a:lnTo>
                    <a:pt x="158973" y="364212"/>
                  </a:lnTo>
                  <a:lnTo>
                    <a:pt x="182880" y="365760"/>
                  </a:lnTo>
                  <a:lnTo>
                    <a:pt x="206788" y="364212"/>
                  </a:lnTo>
                  <a:lnTo>
                    <a:pt x="252847" y="351936"/>
                  </a:lnTo>
                  <a:lnTo>
                    <a:pt x="294200" y="327880"/>
                  </a:lnTo>
                  <a:lnTo>
                    <a:pt x="327885" y="294200"/>
                  </a:lnTo>
                  <a:lnTo>
                    <a:pt x="351942" y="252842"/>
                  </a:lnTo>
                  <a:lnTo>
                    <a:pt x="364213" y="206786"/>
                  </a:lnTo>
                  <a:lnTo>
                    <a:pt x="365760" y="182880"/>
                  </a:lnTo>
                  <a:lnTo>
                    <a:pt x="364213" y="158973"/>
                  </a:lnTo>
                  <a:lnTo>
                    <a:pt x="351942" y="112917"/>
                  </a:lnTo>
                  <a:lnTo>
                    <a:pt x="327885" y="71559"/>
                  </a:lnTo>
                  <a:lnTo>
                    <a:pt x="294200" y="37879"/>
                  </a:lnTo>
                  <a:lnTo>
                    <a:pt x="252847" y="13823"/>
                  </a:lnTo>
                  <a:lnTo>
                    <a:pt x="206788" y="1547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06316" y="1499402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182880"/>
                  </a:moveTo>
                  <a:lnTo>
                    <a:pt x="1547" y="158973"/>
                  </a:lnTo>
                  <a:lnTo>
                    <a:pt x="6165" y="135540"/>
                  </a:lnTo>
                  <a:lnTo>
                    <a:pt x="24485" y="91440"/>
                  </a:lnTo>
                  <a:lnTo>
                    <a:pt x="53643" y="53638"/>
                  </a:lnTo>
                  <a:lnTo>
                    <a:pt x="91439" y="24485"/>
                  </a:lnTo>
                  <a:lnTo>
                    <a:pt x="135540" y="6165"/>
                  </a:lnTo>
                  <a:lnTo>
                    <a:pt x="182880" y="0"/>
                  </a:lnTo>
                  <a:lnTo>
                    <a:pt x="230224" y="6165"/>
                  </a:lnTo>
                  <a:lnTo>
                    <a:pt x="274320" y="24485"/>
                  </a:lnTo>
                  <a:lnTo>
                    <a:pt x="312123" y="53638"/>
                  </a:lnTo>
                  <a:lnTo>
                    <a:pt x="341287" y="91440"/>
                  </a:lnTo>
                  <a:lnTo>
                    <a:pt x="359595" y="135540"/>
                  </a:lnTo>
                  <a:lnTo>
                    <a:pt x="365760" y="182880"/>
                  </a:lnTo>
                  <a:lnTo>
                    <a:pt x="364213" y="206786"/>
                  </a:lnTo>
                  <a:lnTo>
                    <a:pt x="359595" y="230219"/>
                  </a:lnTo>
                  <a:lnTo>
                    <a:pt x="341287" y="274320"/>
                  </a:lnTo>
                  <a:lnTo>
                    <a:pt x="312123" y="312121"/>
                  </a:lnTo>
                  <a:lnTo>
                    <a:pt x="274320" y="341274"/>
                  </a:lnTo>
                  <a:lnTo>
                    <a:pt x="230224" y="359594"/>
                  </a:lnTo>
                  <a:lnTo>
                    <a:pt x="182880" y="365760"/>
                  </a:lnTo>
                  <a:lnTo>
                    <a:pt x="135540" y="359594"/>
                  </a:lnTo>
                  <a:lnTo>
                    <a:pt x="91439" y="341274"/>
                  </a:lnTo>
                  <a:lnTo>
                    <a:pt x="53643" y="312121"/>
                  </a:lnTo>
                  <a:lnTo>
                    <a:pt x="24485" y="274320"/>
                  </a:lnTo>
                  <a:lnTo>
                    <a:pt x="6165" y="230219"/>
                  </a:lnTo>
                  <a:lnTo>
                    <a:pt x="1547" y="206786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562096" y="1966228"/>
            <a:ext cx="1910714" cy="716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  <a:tabLst>
                <a:tab pos="556260" algn="l"/>
                <a:tab pos="1700530" algn="l"/>
              </a:tabLst>
            </a:pPr>
            <a:r>
              <a:rPr sz="2400" spc="885" baseline="1736" dirty="0">
                <a:solidFill>
                  <a:srgbClr val="CAD4E0"/>
                </a:solidFill>
                <a:latin typeface="Calibri"/>
                <a:cs typeface="Calibri"/>
              </a:rPr>
              <a:t>*</a:t>
            </a:r>
            <a:r>
              <a:rPr sz="2400" baseline="1736" dirty="0">
                <a:solidFill>
                  <a:srgbClr val="CAD4E0"/>
                </a:solidFill>
                <a:latin typeface="Calibri"/>
                <a:cs typeface="Calibri"/>
              </a:rPr>
              <a:t>	</a:t>
            </a:r>
            <a:r>
              <a:rPr sz="1200" b="1" spc="-10" dirty="0">
                <a:solidFill>
                  <a:srgbClr val="0E1629"/>
                </a:solidFill>
                <a:latin typeface="Calibri"/>
                <a:cs typeface="Calibri"/>
              </a:rPr>
              <a:t>Benchmark</a:t>
            </a:r>
            <a:r>
              <a:rPr sz="1200" b="1" dirty="0">
                <a:solidFill>
                  <a:srgbClr val="0E1629"/>
                </a:solidFill>
                <a:latin typeface="Calibri"/>
                <a:cs typeface="Calibri"/>
              </a:rPr>
              <a:t>	</a:t>
            </a:r>
            <a:r>
              <a:rPr sz="2400" spc="-75" baseline="1736" dirty="0">
                <a:solidFill>
                  <a:srgbClr val="CAD4E0"/>
                </a:solidFill>
                <a:latin typeface="Calibri"/>
                <a:cs typeface="Calibri"/>
              </a:rPr>
              <a:t>→</a:t>
            </a:r>
            <a:endParaRPr sz="2400" baseline="1736">
              <a:latin typeface="Calibri"/>
              <a:cs typeface="Calibri"/>
            </a:endParaRPr>
          </a:p>
          <a:p>
            <a:pPr marR="47625" algn="ctr">
              <a:lnSpc>
                <a:spcPct val="100000"/>
              </a:lnSpc>
              <a:spcBef>
                <a:spcPts val="1145"/>
              </a:spcBef>
            </a:pP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MAR</a:t>
            </a:r>
            <a:r>
              <a:rPr sz="9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vs</a:t>
            </a:r>
            <a:r>
              <a:rPr sz="9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France,</a:t>
            </a:r>
            <a:r>
              <a:rPr sz="9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EAU,</a:t>
            </a:r>
            <a:r>
              <a:rPr sz="9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Turquie</a:t>
            </a:r>
            <a:endParaRPr sz="900">
              <a:latin typeface="Calibri"/>
              <a:cs typeface="Calibri"/>
            </a:endParaRPr>
          </a:p>
          <a:p>
            <a:pPr marR="47625" algn="ctr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—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12</a:t>
            </a:r>
            <a:r>
              <a:rPr sz="9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63738A"/>
                </a:solidFill>
                <a:latin typeface="Calibri"/>
                <a:cs typeface="Calibri"/>
              </a:rPr>
              <a:t>KPIs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417275" y="1384926"/>
            <a:ext cx="1546225" cy="1427480"/>
            <a:chOff x="5417275" y="1384926"/>
            <a:chExt cx="1546225" cy="1427480"/>
          </a:xfrm>
        </p:grpSpPr>
        <p:sp>
          <p:nvSpPr>
            <p:cNvPr id="25" name="object 25"/>
            <p:cNvSpPr/>
            <p:nvPr/>
          </p:nvSpPr>
          <p:spPr>
            <a:xfrm>
              <a:off x="5422315" y="1389966"/>
              <a:ext cx="1536065" cy="1417320"/>
            </a:xfrm>
            <a:custGeom>
              <a:avLst/>
              <a:gdLst/>
              <a:ahLst/>
              <a:cxnLst/>
              <a:rect l="l" t="t" r="r" b="b"/>
              <a:pathLst>
                <a:path w="1536065" h="1417320">
                  <a:moveTo>
                    <a:pt x="1535760" y="0"/>
                  </a:moveTo>
                  <a:lnTo>
                    <a:pt x="0" y="0"/>
                  </a:lnTo>
                  <a:lnTo>
                    <a:pt x="0" y="1416951"/>
                  </a:lnTo>
                  <a:lnTo>
                    <a:pt x="767880" y="1416951"/>
                  </a:lnTo>
                  <a:lnTo>
                    <a:pt x="1535760" y="1416951"/>
                  </a:lnTo>
                  <a:lnTo>
                    <a:pt x="1535760" y="0"/>
                  </a:lnTo>
                  <a:close/>
                </a:path>
              </a:pathLst>
            </a:custGeom>
            <a:solidFill>
              <a:srgbClr val="ECE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22315" y="1389966"/>
              <a:ext cx="1536065" cy="1417320"/>
            </a:xfrm>
            <a:custGeom>
              <a:avLst/>
              <a:gdLst/>
              <a:ahLst/>
              <a:cxnLst/>
              <a:rect l="l" t="t" r="r" b="b"/>
              <a:pathLst>
                <a:path w="1536065" h="1417320">
                  <a:moveTo>
                    <a:pt x="767880" y="1416951"/>
                  </a:moveTo>
                  <a:lnTo>
                    <a:pt x="0" y="1416951"/>
                  </a:lnTo>
                  <a:lnTo>
                    <a:pt x="0" y="0"/>
                  </a:lnTo>
                  <a:lnTo>
                    <a:pt x="1535760" y="0"/>
                  </a:lnTo>
                  <a:lnTo>
                    <a:pt x="1535760" y="1416951"/>
                  </a:lnTo>
                  <a:lnTo>
                    <a:pt x="767880" y="1416951"/>
                  </a:lnTo>
                  <a:close/>
                </a:path>
              </a:pathLst>
            </a:custGeom>
            <a:ln w="1007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07315" y="1499402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182879" y="0"/>
                  </a:moveTo>
                  <a:lnTo>
                    <a:pt x="135540" y="6165"/>
                  </a:lnTo>
                  <a:lnTo>
                    <a:pt x="91439" y="24485"/>
                  </a:lnTo>
                  <a:lnTo>
                    <a:pt x="53643" y="53638"/>
                  </a:lnTo>
                  <a:lnTo>
                    <a:pt x="24485" y="91440"/>
                  </a:lnTo>
                  <a:lnTo>
                    <a:pt x="6165" y="135540"/>
                  </a:lnTo>
                  <a:lnTo>
                    <a:pt x="0" y="182880"/>
                  </a:lnTo>
                  <a:lnTo>
                    <a:pt x="1547" y="206786"/>
                  </a:lnTo>
                  <a:lnTo>
                    <a:pt x="13823" y="252842"/>
                  </a:lnTo>
                  <a:lnTo>
                    <a:pt x="37881" y="294200"/>
                  </a:lnTo>
                  <a:lnTo>
                    <a:pt x="71564" y="327880"/>
                  </a:lnTo>
                  <a:lnTo>
                    <a:pt x="112917" y="351936"/>
                  </a:lnTo>
                  <a:lnTo>
                    <a:pt x="158973" y="364212"/>
                  </a:lnTo>
                  <a:lnTo>
                    <a:pt x="182879" y="365760"/>
                  </a:lnTo>
                  <a:lnTo>
                    <a:pt x="206788" y="364212"/>
                  </a:lnTo>
                  <a:lnTo>
                    <a:pt x="252847" y="351936"/>
                  </a:lnTo>
                  <a:lnTo>
                    <a:pt x="294200" y="327880"/>
                  </a:lnTo>
                  <a:lnTo>
                    <a:pt x="327885" y="294200"/>
                  </a:lnTo>
                  <a:lnTo>
                    <a:pt x="351942" y="252842"/>
                  </a:lnTo>
                  <a:lnTo>
                    <a:pt x="364213" y="206786"/>
                  </a:lnTo>
                  <a:lnTo>
                    <a:pt x="365760" y="182880"/>
                  </a:lnTo>
                  <a:lnTo>
                    <a:pt x="364213" y="158973"/>
                  </a:lnTo>
                  <a:lnTo>
                    <a:pt x="351942" y="112917"/>
                  </a:lnTo>
                  <a:lnTo>
                    <a:pt x="327885" y="71559"/>
                  </a:lnTo>
                  <a:lnTo>
                    <a:pt x="294200" y="37879"/>
                  </a:lnTo>
                  <a:lnTo>
                    <a:pt x="252847" y="13823"/>
                  </a:lnTo>
                  <a:lnTo>
                    <a:pt x="206788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07315" y="1499402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182880"/>
                  </a:moveTo>
                  <a:lnTo>
                    <a:pt x="1547" y="158973"/>
                  </a:lnTo>
                  <a:lnTo>
                    <a:pt x="6165" y="135540"/>
                  </a:lnTo>
                  <a:lnTo>
                    <a:pt x="24485" y="91440"/>
                  </a:lnTo>
                  <a:lnTo>
                    <a:pt x="53643" y="53638"/>
                  </a:lnTo>
                  <a:lnTo>
                    <a:pt x="91439" y="24485"/>
                  </a:lnTo>
                  <a:lnTo>
                    <a:pt x="135540" y="6165"/>
                  </a:lnTo>
                  <a:lnTo>
                    <a:pt x="182879" y="0"/>
                  </a:lnTo>
                  <a:lnTo>
                    <a:pt x="230224" y="6165"/>
                  </a:lnTo>
                  <a:lnTo>
                    <a:pt x="274320" y="24485"/>
                  </a:lnTo>
                  <a:lnTo>
                    <a:pt x="312123" y="53638"/>
                  </a:lnTo>
                  <a:lnTo>
                    <a:pt x="341287" y="91440"/>
                  </a:lnTo>
                  <a:lnTo>
                    <a:pt x="359595" y="135540"/>
                  </a:lnTo>
                  <a:lnTo>
                    <a:pt x="365760" y="182880"/>
                  </a:lnTo>
                  <a:lnTo>
                    <a:pt x="364213" y="206786"/>
                  </a:lnTo>
                  <a:lnTo>
                    <a:pt x="359595" y="230219"/>
                  </a:lnTo>
                  <a:lnTo>
                    <a:pt x="341287" y="274320"/>
                  </a:lnTo>
                  <a:lnTo>
                    <a:pt x="312123" y="312121"/>
                  </a:lnTo>
                  <a:lnTo>
                    <a:pt x="274320" y="341274"/>
                  </a:lnTo>
                  <a:lnTo>
                    <a:pt x="230224" y="359594"/>
                  </a:lnTo>
                  <a:lnTo>
                    <a:pt x="182879" y="365760"/>
                  </a:lnTo>
                  <a:lnTo>
                    <a:pt x="135540" y="359594"/>
                  </a:lnTo>
                  <a:lnTo>
                    <a:pt x="91439" y="341274"/>
                  </a:lnTo>
                  <a:lnTo>
                    <a:pt x="53643" y="312121"/>
                  </a:lnTo>
                  <a:lnTo>
                    <a:pt x="24485" y="274320"/>
                  </a:lnTo>
                  <a:lnTo>
                    <a:pt x="6165" y="230219"/>
                  </a:lnTo>
                  <a:lnTo>
                    <a:pt x="1547" y="206786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734462" y="1570217"/>
            <a:ext cx="35109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13230" algn="l"/>
                <a:tab pos="3413760" algn="l"/>
              </a:tabLst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47296" y="2016978"/>
            <a:ext cx="88646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E1629"/>
                </a:solidFill>
                <a:latin typeface="Calibri"/>
                <a:cs typeface="Calibri"/>
              </a:rPr>
              <a:t>Rapport</a:t>
            </a:r>
            <a:r>
              <a:rPr sz="1200" b="1" spc="-4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0E1629"/>
                </a:solidFill>
                <a:latin typeface="Calibri"/>
                <a:cs typeface="Calibri"/>
              </a:rPr>
              <a:t>PDF</a:t>
            </a:r>
            <a:endParaRPr sz="1200">
              <a:latin typeface="Calibri"/>
              <a:cs typeface="Calibri"/>
            </a:endParaRPr>
          </a:p>
          <a:p>
            <a:pPr marL="20955" marR="5080" indent="-8890">
              <a:lnSpc>
                <a:spcPct val="120200"/>
              </a:lnSpc>
              <a:spcBef>
                <a:spcPts val="1005"/>
              </a:spcBef>
            </a:pP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28</a:t>
            </a:r>
            <a:r>
              <a:rPr sz="9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pages</a:t>
            </a:r>
            <a:r>
              <a:rPr sz="9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générées</a:t>
            </a:r>
            <a:r>
              <a:rPr sz="900" spc="50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automatiquement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63740" y="1959383"/>
            <a:ext cx="209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590" dirty="0">
                <a:solidFill>
                  <a:srgbClr val="CAD4E0"/>
                </a:solidFill>
                <a:latin typeface="Calibri"/>
                <a:cs typeface="Calibri"/>
              </a:rPr>
              <a:t>*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118275" y="1384926"/>
            <a:ext cx="1546225" cy="1427480"/>
            <a:chOff x="7118275" y="1384926"/>
            <a:chExt cx="1546225" cy="1427480"/>
          </a:xfrm>
        </p:grpSpPr>
        <p:sp>
          <p:nvSpPr>
            <p:cNvPr id="33" name="object 33"/>
            <p:cNvSpPr/>
            <p:nvPr/>
          </p:nvSpPr>
          <p:spPr>
            <a:xfrm>
              <a:off x="7123315" y="1389966"/>
              <a:ext cx="1536065" cy="1417320"/>
            </a:xfrm>
            <a:custGeom>
              <a:avLst/>
              <a:gdLst/>
              <a:ahLst/>
              <a:cxnLst/>
              <a:rect l="l" t="t" r="r" b="b"/>
              <a:pathLst>
                <a:path w="1536065" h="1417320">
                  <a:moveTo>
                    <a:pt x="1535760" y="0"/>
                  </a:moveTo>
                  <a:lnTo>
                    <a:pt x="0" y="0"/>
                  </a:lnTo>
                  <a:lnTo>
                    <a:pt x="0" y="1416951"/>
                  </a:lnTo>
                  <a:lnTo>
                    <a:pt x="767880" y="1416951"/>
                  </a:lnTo>
                  <a:lnTo>
                    <a:pt x="1535760" y="1416951"/>
                  </a:lnTo>
                  <a:lnTo>
                    <a:pt x="1535760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123315" y="1389966"/>
              <a:ext cx="1536065" cy="1417320"/>
            </a:xfrm>
            <a:custGeom>
              <a:avLst/>
              <a:gdLst/>
              <a:ahLst/>
              <a:cxnLst/>
              <a:rect l="l" t="t" r="r" b="b"/>
              <a:pathLst>
                <a:path w="1536065" h="1417320">
                  <a:moveTo>
                    <a:pt x="767880" y="1416951"/>
                  </a:moveTo>
                  <a:lnTo>
                    <a:pt x="0" y="1416951"/>
                  </a:lnTo>
                  <a:lnTo>
                    <a:pt x="0" y="0"/>
                  </a:lnTo>
                  <a:lnTo>
                    <a:pt x="1535760" y="0"/>
                  </a:lnTo>
                  <a:lnTo>
                    <a:pt x="1535760" y="1416951"/>
                  </a:lnTo>
                  <a:lnTo>
                    <a:pt x="767880" y="1416951"/>
                  </a:lnTo>
                  <a:close/>
                </a:path>
              </a:pathLst>
            </a:custGeom>
            <a:ln w="1007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07959" y="1499402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40" y="6165"/>
                  </a:lnTo>
                  <a:lnTo>
                    <a:pt x="91439" y="24485"/>
                  </a:lnTo>
                  <a:lnTo>
                    <a:pt x="53638" y="53638"/>
                  </a:lnTo>
                  <a:lnTo>
                    <a:pt x="24485" y="91440"/>
                  </a:lnTo>
                  <a:lnTo>
                    <a:pt x="6165" y="135540"/>
                  </a:lnTo>
                  <a:lnTo>
                    <a:pt x="0" y="182880"/>
                  </a:lnTo>
                  <a:lnTo>
                    <a:pt x="1547" y="206786"/>
                  </a:lnTo>
                  <a:lnTo>
                    <a:pt x="13823" y="252842"/>
                  </a:lnTo>
                  <a:lnTo>
                    <a:pt x="37879" y="294200"/>
                  </a:lnTo>
                  <a:lnTo>
                    <a:pt x="71559" y="327880"/>
                  </a:lnTo>
                  <a:lnTo>
                    <a:pt x="112917" y="351936"/>
                  </a:lnTo>
                  <a:lnTo>
                    <a:pt x="158973" y="364212"/>
                  </a:lnTo>
                  <a:lnTo>
                    <a:pt x="182879" y="365760"/>
                  </a:lnTo>
                  <a:lnTo>
                    <a:pt x="206786" y="364212"/>
                  </a:lnTo>
                  <a:lnTo>
                    <a:pt x="252842" y="351936"/>
                  </a:lnTo>
                  <a:lnTo>
                    <a:pt x="294200" y="327880"/>
                  </a:lnTo>
                  <a:lnTo>
                    <a:pt x="327880" y="294200"/>
                  </a:lnTo>
                  <a:lnTo>
                    <a:pt x="351936" y="252842"/>
                  </a:lnTo>
                  <a:lnTo>
                    <a:pt x="364212" y="206786"/>
                  </a:lnTo>
                  <a:lnTo>
                    <a:pt x="365759" y="182880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80" y="71559"/>
                  </a:lnTo>
                  <a:lnTo>
                    <a:pt x="294200" y="37879"/>
                  </a:lnTo>
                  <a:lnTo>
                    <a:pt x="252842" y="13823"/>
                  </a:lnTo>
                  <a:lnTo>
                    <a:pt x="206786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707959" y="1499402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80"/>
                  </a:moveTo>
                  <a:lnTo>
                    <a:pt x="1547" y="158973"/>
                  </a:lnTo>
                  <a:lnTo>
                    <a:pt x="6165" y="135540"/>
                  </a:lnTo>
                  <a:lnTo>
                    <a:pt x="24485" y="91440"/>
                  </a:lnTo>
                  <a:lnTo>
                    <a:pt x="53638" y="53638"/>
                  </a:lnTo>
                  <a:lnTo>
                    <a:pt x="91439" y="24485"/>
                  </a:lnTo>
                  <a:lnTo>
                    <a:pt x="135540" y="6165"/>
                  </a:lnTo>
                  <a:lnTo>
                    <a:pt x="182879" y="0"/>
                  </a:lnTo>
                  <a:lnTo>
                    <a:pt x="230219" y="6165"/>
                  </a:lnTo>
                  <a:lnTo>
                    <a:pt x="274319" y="24485"/>
                  </a:lnTo>
                  <a:lnTo>
                    <a:pt x="312121" y="53638"/>
                  </a:lnTo>
                  <a:lnTo>
                    <a:pt x="341274" y="91440"/>
                  </a:lnTo>
                  <a:lnTo>
                    <a:pt x="359594" y="135540"/>
                  </a:lnTo>
                  <a:lnTo>
                    <a:pt x="365759" y="182880"/>
                  </a:lnTo>
                  <a:lnTo>
                    <a:pt x="364212" y="206786"/>
                  </a:lnTo>
                  <a:lnTo>
                    <a:pt x="359594" y="230219"/>
                  </a:lnTo>
                  <a:lnTo>
                    <a:pt x="341274" y="274320"/>
                  </a:lnTo>
                  <a:lnTo>
                    <a:pt x="312121" y="312121"/>
                  </a:lnTo>
                  <a:lnTo>
                    <a:pt x="274319" y="341274"/>
                  </a:lnTo>
                  <a:lnTo>
                    <a:pt x="230219" y="359594"/>
                  </a:lnTo>
                  <a:lnTo>
                    <a:pt x="182879" y="365760"/>
                  </a:lnTo>
                  <a:lnTo>
                    <a:pt x="135540" y="359594"/>
                  </a:lnTo>
                  <a:lnTo>
                    <a:pt x="91439" y="341274"/>
                  </a:lnTo>
                  <a:lnTo>
                    <a:pt x="53638" y="312121"/>
                  </a:lnTo>
                  <a:lnTo>
                    <a:pt x="24485" y="274320"/>
                  </a:lnTo>
                  <a:lnTo>
                    <a:pt x="6165" y="230219"/>
                  </a:lnTo>
                  <a:lnTo>
                    <a:pt x="1547" y="206786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836737" y="1570217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20863" y="2016978"/>
            <a:ext cx="113982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E1629"/>
                </a:solidFill>
                <a:latin typeface="Calibri"/>
                <a:cs typeface="Calibri"/>
              </a:rPr>
              <a:t>Alertes</a:t>
            </a:r>
            <a:endParaRPr sz="1200">
              <a:latin typeface="Calibri"/>
              <a:cs typeface="Calibri"/>
            </a:endParaRPr>
          </a:p>
          <a:p>
            <a:pPr marL="12065" marR="5080" algn="ctr">
              <a:lnSpc>
                <a:spcPct val="120200"/>
              </a:lnSpc>
              <a:spcBef>
                <a:spcPts val="1005"/>
              </a:spcBef>
            </a:pP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3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signaux 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critiques,</a:t>
            </a:r>
            <a:r>
              <a:rPr sz="90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63738A"/>
                </a:solidFill>
                <a:latin typeface="Calibri"/>
                <a:cs typeface="Calibri"/>
              </a:rPr>
              <a:t>2</a:t>
            </a:r>
            <a:r>
              <a:rPr sz="900" spc="50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opportunités</a:t>
            </a:r>
            <a:r>
              <a:rPr sz="900" spc="4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63738A"/>
                </a:solidFill>
                <a:latin typeface="Calibri"/>
                <a:cs typeface="Calibri"/>
              </a:rPr>
              <a:t>identifiées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57200" y="2999157"/>
            <a:ext cx="2030095" cy="1508760"/>
          </a:xfrm>
          <a:custGeom>
            <a:avLst/>
            <a:gdLst/>
            <a:ahLst/>
            <a:cxnLst/>
            <a:rect l="l" t="t" r="r" b="b"/>
            <a:pathLst>
              <a:path w="2030095" h="1508760">
                <a:moveTo>
                  <a:pt x="2029675" y="0"/>
                </a:moveTo>
                <a:lnTo>
                  <a:pt x="0" y="0"/>
                </a:lnTo>
                <a:lnTo>
                  <a:pt x="0" y="1508404"/>
                </a:lnTo>
                <a:lnTo>
                  <a:pt x="1014844" y="1508404"/>
                </a:lnTo>
                <a:lnTo>
                  <a:pt x="2029675" y="1508404"/>
                </a:lnTo>
                <a:lnTo>
                  <a:pt x="2029675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57200" y="2999157"/>
            <a:ext cx="2030095" cy="1508760"/>
          </a:xfrm>
          <a:prstGeom prst="rect">
            <a:avLst/>
          </a:prstGeom>
          <a:ln w="10079">
            <a:solidFill>
              <a:srgbClr val="2462EA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endParaRPr sz="1000">
              <a:latin typeface="Times New Roman"/>
              <a:cs typeface="Times New Roman"/>
            </a:endParaRPr>
          </a:p>
          <a:p>
            <a:pPr marL="127635">
              <a:lnSpc>
                <a:spcPct val="100000"/>
              </a:lnSpc>
            </a:pPr>
            <a:r>
              <a:rPr sz="1000" spc="-25" dirty="0">
                <a:solidFill>
                  <a:srgbClr val="63738A"/>
                </a:solidFill>
                <a:latin typeface="Calibri"/>
                <a:cs typeface="Calibri"/>
              </a:rPr>
              <a:t>Temps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de</a:t>
            </a:r>
            <a:r>
              <a:rPr sz="10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réalisation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3000" b="1" dirty="0">
                <a:solidFill>
                  <a:srgbClr val="2462EA"/>
                </a:solidFill>
                <a:latin typeface="Calibri"/>
                <a:cs typeface="Calibri"/>
              </a:rPr>
              <a:t>&lt;</a:t>
            </a:r>
            <a:r>
              <a:rPr sz="3000" b="1" spc="-25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2462EA"/>
                </a:solidFill>
                <a:latin typeface="Calibri"/>
                <a:cs typeface="Calibri"/>
              </a:rPr>
              <a:t>2</a:t>
            </a:r>
            <a:r>
              <a:rPr sz="3000" b="1" spc="-20" dirty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sz="3000" b="1" spc="-25" dirty="0">
                <a:solidFill>
                  <a:srgbClr val="2462EA"/>
                </a:solidFill>
                <a:latin typeface="Calibri"/>
                <a:cs typeface="Calibri"/>
              </a:rPr>
              <a:t>min</a:t>
            </a:r>
            <a:endParaRPr sz="3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vs.</a:t>
            </a:r>
            <a:r>
              <a:rPr sz="10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5</a:t>
            </a:r>
            <a:r>
              <a:rPr sz="10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jours</a:t>
            </a:r>
            <a:r>
              <a:rPr sz="10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manuels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633395" y="2999157"/>
            <a:ext cx="2030095" cy="1508760"/>
          </a:xfrm>
          <a:custGeom>
            <a:avLst/>
            <a:gdLst/>
            <a:ahLst/>
            <a:cxnLst/>
            <a:rect l="l" t="t" r="r" b="b"/>
            <a:pathLst>
              <a:path w="2030095" h="1508760">
                <a:moveTo>
                  <a:pt x="2029688" y="0"/>
                </a:moveTo>
                <a:lnTo>
                  <a:pt x="0" y="0"/>
                </a:lnTo>
                <a:lnTo>
                  <a:pt x="0" y="1508404"/>
                </a:lnTo>
                <a:lnTo>
                  <a:pt x="1014844" y="1508404"/>
                </a:lnTo>
                <a:lnTo>
                  <a:pt x="2029688" y="1508404"/>
                </a:lnTo>
                <a:lnTo>
                  <a:pt x="2029688" y="0"/>
                </a:lnTo>
                <a:close/>
              </a:path>
            </a:pathLst>
          </a:custGeom>
          <a:solidFill>
            <a:srgbClr val="ECE8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2633395" y="2999157"/>
            <a:ext cx="2030095" cy="1508760"/>
          </a:xfrm>
          <a:prstGeom prst="rect">
            <a:avLst/>
          </a:prstGeom>
          <a:ln w="10079">
            <a:solidFill>
              <a:srgbClr val="7B39EC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endParaRPr sz="1000">
              <a:latin typeface="Times New Roman"/>
              <a:cs typeface="Times New Roman"/>
            </a:endParaRPr>
          </a:p>
          <a:p>
            <a:pPr marL="127635">
              <a:lnSpc>
                <a:spcPct val="100000"/>
              </a:lnSpc>
            </a:pP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Sources analysées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3000" b="1" spc="-25" dirty="0">
                <a:solidFill>
                  <a:srgbClr val="7B39EC"/>
                </a:solidFill>
                <a:latin typeface="Calibri"/>
                <a:cs typeface="Calibri"/>
              </a:rPr>
              <a:t>143</a:t>
            </a:r>
            <a:endParaRPr sz="3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automatiquement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809604" y="2999157"/>
            <a:ext cx="2030095" cy="1508760"/>
          </a:xfrm>
          <a:custGeom>
            <a:avLst/>
            <a:gdLst/>
            <a:ahLst/>
            <a:cxnLst/>
            <a:rect l="l" t="t" r="r" b="b"/>
            <a:pathLst>
              <a:path w="2030095" h="1508760">
                <a:moveTo>
                  <a:pt x="2029675" y="0"/>
                </a:moveTo>
                <a:lnTo>
                  <a:pt x="0" y="0"/>
                </a:lnTo>
                <a:lnTo>
                  <a:pt x="0" y="1508404"/>
                </a:lnTo>
                <a:lnTo>
                  <a:pt x="1014831" y="1508404"/>
                </a:lnTo>
                <a:lnTo>
                  <a:pt x="2029675" y="1508404"/>
                </a:lnTo>
                <a:lnTo>
                  <a:pt x="2029675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809604" y="2999157"/>
            <a:ext cx="2030095" cy="1508760"/>
          </a:xfrm>
          <a:prstGeom prst="rect">
            <a:avLst/>
          </a:prstGeom>
          <a:ln w="10079">
            <a:solidFill>
              <a:srgbClr val="0C9387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endParaRPr sz="1000">
              <a:latin typeface="Times New Roman"/>
              <a:cs typeface="Times New Roman"/>
            </a:endParaRPr>
          </a:p>
          <a:p>
            <a:pPr marL="127635">
              <a:lnSpc>
                <a:spcPct val="100000"/>
              </a:lnSpc>
            </a:pP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Précision</a:t>
            </a:r>
            <a:r>
              <a:rPr sz="1000" spc="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benchmarks</a:t>
            </a:r>
            <a:endParaRPr sz="1000">
              <a:latin typeface="Calibri"/>
              <a:cs typeface="Calibri"/>
            </a:endParaRPr>
          </a:p>
          <a:p>
            <a:pPr marL="537210">
              <a:lnSpc>
                <a:spcPct val="100000"/>
              </a:lnSpc>
              <a:spcBef>
                <a:spcPts val="625"/>
              </a:spcBef>
            </a:pPr>
            <a:r>
              <a:rPr sz="3000" b="1" spc="-10" dirty="0">
                <a:solidFill>
                  <a:srgbClr val="0C9387"/>
                </a:solidFill>
                <a:latin typeface="Calibri"/>
                <a:cs typeface="Calibri"/>
              </a:rPr>
              <a:t>97,2%</a:t>
            </a:r>
            <a:endParaRPr sz="3000">
              <a:latin typeface="Calibri"/>
              <a:cs typeface="Calibri"/>
            </a:endParaRPr>
          </a:p>
          <a:p>
            <a:pPr marL="465455">
              <a:lnSpc>
                <a:spcPct val="100000"/>
              </a:lnSpc>
              <a:spcBef>
                <a:spcPts val="550"/>
              </a:spcBef>
            </a:pP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validé</a:t>
            </a:r>
            <a:r>
              <a:rPr sz="10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par</a:t>
            </a:r>
            <a:r>
              <a:rPr sz="10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63738A"/>
                </a:solidFill>
                <a:latin typeface="Calibri"/>
                <a:cs typeface="Calibri"/>
              </a:rPr>
              <a:t>3</a:t>
            </a:r>
            <a:r>
              <a:rPr sz="10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analystes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986155" y="2999157"/>
            <a:ext cx="2030095" cy="1508760"/>
          </a:xfrm>
          <a:custGeom>
            <a:avLst/>
            <a:gdLst/>
            <a:ahLst/>
            <a:cxnLst/>
            <a:rect l="l" t="t" r="r" b="b"/>
            <a:pathLst>
              <a:path w="2030095" h="1508760">
                <a:moveTo>
                  <a:pt x="2029688" y="0"/>
                </a:moveTo>
                <a:lnTo>
                  <a:pt x="0" y="0"/>
                </a:lnTo>
                <a:lnTo>
                  <a:pt x="0" y="1508404"/>
                </a:lnTo>
                <a:lnTo>
                  <a:pt x="1014844" y="1508404"/>
                </a:lnTo>
                <a:lnTo>
                  <a:pt x="2029688" y="1508404"/>
                </a:lnTo>
                <a:lnTo>
                  <a:pt x="2029688" y="0"/>
                </a:lnTo>
                <a:close/>
              </a:path>
            </a:pathLst>
          </a:custGeom>
          <a:solidFill>
            <a:srgbClr val="CC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986155" y="2999157"/>
            <a:ext cx="2030095" cy="1508760"/>
          </a:xfrm>
          <a:prstGeom prst="rect">
            <a:avLst/>
          </a:prstGeom>
          <a:ln w="10079">
            <a:solidFill>
              <a:srgbClr val="2462EA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Décisions</a:t>
            </a:r>
            <a:r>
              <a:rPr sz="1000" spc="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facilitées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3000" b="1" spc="-50" dirty="0">
                <a:solidFill>
                  <a:srgbClr val="2462EA"/>
                </a:solidFill>
                <a:latin typeface="Calibri"/>
                <a:cs typeface="Calibri"/>
              </a:rPr>
              <a:t>6</a:t>
            </a:r>
            <a:endParaRPr sz="3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recommandations</a:t>
            </a:r>
            <a:r>
              <a:rPr sz="1000" spc="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63738A"/>
                </a:solidFill>
                <a:latin typeface="Calibri"/>
                <a:cs typeface="Calibri"/>
              </a:rPr>
              <a:t>générées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55602"/>
            <a:ext cx="1828800" cy="237490"/>
          </a:xfrm>
          <a:custGeom>
            <a:avLst/>
            <a:gdLst/>
            <a:ahLst/>
            <a:cxnLst/>
            <a:rect l="l" t="t" r="r" b="b"/>
            <a:pathLst>
              <a:path w="1828800" h="237490">
                <a:moveTo>
                  <a:pt x="1828431" y="0"/>
                </a:moveTo>
                <a:lnTo>
                  <a:pt x="0" y="0"/>
                </a:lnTo>
                <a:lnTo>
                  <a:pt x="0" y="237235"/>
                </a:lnTo>
                <a:lnTo>
                  <a:pt x="914400" y="237235"/>
                </a:lnTo>
                <a:lnTo>
                  <a:pt x="1828431" y="237235"/>
                </a:lnTo>
                <a:lnTo>
                  <a:pt x="1828431" y="0"/>
                </a:lnTo>
                <a:close/>
              </a:path>
            </a:pathLst>
          </a:custGeom>
          <a:solidFill>
            <a:srgbClr val="ECE8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6844" y="255602"/>
            <a:ext cx="1828800" cy="237490"/>
          </a:xfrm>
          <a:prstGeom prst="rect">
            <a:avLst/>
          </a:prstGeom>
          <a:ln w="6479">
            <a:solidFill>
              <a:srgbClr val="7B39EC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420370">
              <a:lnSpc>
                <a:spcPct val="100000"/>
              </a:lnSpc>
              <a:spcBef>
                <a:spcPts val="455"/>
              </a:spcBef>
            </a:pPr>
            <a:r>
              <a:rPr sz="800" b="1" spc="-10" dirty="0">
                <a:solidFill>
                  <a:srgbClr val="7B39EC"/>
                </a:solidFill>
                <a:latin typeface="Calibri"/>
                <a:cs typeface="Calibri"/>
              </a:rPr>
              <a:t>V</a:t>
            </a:r>
            <a:r>
              <a:rPr sz="800" b="1" spc="-7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A</a:t>
            </a:r>
            <a:r>
              <a:rPr sz="800" b="1" spc="-4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L</a:t>
            </a:r>
            <a:r>
              <a:rPr sz="800" b="1" spc="-4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E</a:t>
            </a:r>
            <a:r>
              <a:rPr sz="800" b="1" spc="-2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U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R</a:t>
            </a:r>
            <a:r>
              <a:rPr sz="800" b="1" spc="28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A</a:t>
            </a:r>
            <a:r>
              <a:rPr sz="800" b="1" spc="-3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J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sz="800" b="1" spc="-2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U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sz="800" b="1" spc="-3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7B39EC"/>
                </a:solidFill>
                <a:latin typeface="Calibri"/>
                <a:cs typeface="Calibri"/>
              </a:rPr>
              <a:t>É</a:t>
            </a:r>
            <a:r>
              <a:rPr sz="800" b="1" spc="-4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7B39EC"/>
                </a:solidFill>
                <a:latin typeface="Calibri"/>
                <a:cs typeface="Calibri"/>
              </a:rPr>
              <a:t>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</a:t>
            </a:r>
            <a:r>
              <a:rPr spc="-55" dirty="0"/>
              <a:t> </a:t>
            </a:r>
            <a:r>
              <a:rPr dirty="0"/>
              <a:t>outil</a:t>
            </a:r>
            <a:r>
              <a:rPr spc="-60" dirty="0"/>
              <a:t> </a:t>
            </a:r>
            <a:r>
              <a:rPr dirty="0"/>
              <a:t>pensé</a:t>
            </a:r>
            <a:r>
              <a:rPr spc="-60" dirty="0"/>
              <a:t> </a:t>
            </a:r>
            <a:r>
              <a:rPr dirty="0"/>
              <a:t>pour</a:t>
            </a:r>
            <a:r>
              <a:rPr spc="-60" dirty="0"/>
              <a:t> </a:t>
            </a:r>
            <a:r>
              <a:rPr dirty="0"/>
              <a:t>chaque</a:t>
            </a:r>
            <a:r>
              <a:rPr spc="-60" dirty="0"/>
              <a:t> </a:t>
            </a:r>
            <a:r>
              <a:rPr spc="-10" dirty="0"/>
              <a:t>acteur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144" y="1113385"/>
            <a:ext cx="416306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0" dirty="0">
                <a:solidFill>
                  <a:srgbClr val="63738A"/>
                </a:solidFill>
                <a:latin typeface="Calibri"/>
                <a:cs typeface="Calibri"/>
              </a:rPr>
              <a:t>Trois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profils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utilisateurs,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des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bénéfices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distincts</a:t>
            </a:r>
            <a:r>
              <a:rPr sz="130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et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mesurables.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0900" y="1383666"/>
            <a:ext cx="2708910" cy="3624579"/>
            <a:chOff x="450900" y="1383666"/>
            <a:chExt cx="2708910" cy="3624579"/>
          </a:xfrm>
        </p:grpSpPr>
        <p:sp>
          <p:nvSpPr>
            <p:cNvPr id="7" name="object 7"/>
            <p:cNvSpPr/>
            <p:nvPr/>
          </p:nvSpPr>
          <p:spPr>
            <a:xfrm>
              <a:off x="457199" y="1389966"/>
              <a:ext cx="2697480" cy="3611879"/>
            </a:xfrm>
            <a:custGeom>
              <a:avLst/>
              <a:gdLst/>
              <a:ahLst/>
              <a:cxnLst/>
              <a:rect l="l" t="t" r="r" b="b"/>
              <a:pathLst>
                <a:path w="2697480" h="3611879">
                  <a:moveTo>
                    <a:pt x="2697124" y="0"/>
                  </a:moveTo>
                  <a:lnTo>
                    <a:pt x="0" y="0"/>
                  </a:lnTo>
                  <a:lnTo>
                    <a:pt x="0" y="3611511"/>
                  </a:lnTo>
                  <a:lnTo>
                    <a:pt x="1348562" y="3611511"/>
                  </a:lnTo>
                  <a:lnTo>
                    <a:pt x="2697124" y="3611511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199" y="1389966"/>
              <a:ext cx="2697480" cy="3611879"/>
            </a:xfrm>
            <a:custGeom>
              <a:avLst/>
              <a:gdLst/>
              <a:ahLst/>
              <a:cxnLst/>
              <a:rect l="l" t="t" r="r" b="b"/>
              <a:pathLst>
                <a:path w="2697480" h="3611879">
                  <a:moveTo>
                    <a:pt x="1348562" y="3611511"/>
                  </a:moveTo>
                  <a:lnTo>
                    <a:pt x="0" y="3611511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3611511"/>
                  </a:lnTo>
                  <a:lnTo>
                    <a:pt x="1348562" y="3611511"/>
                  </a:lnTo>
                  <a:close/>
                </a:path>
              </a:pathLst>
            </a:custGeom>
            <a:ln w="1007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199" y="1389966"/>
              <a:ext cx="45720" cy="3611879"/>
            </a:xfrm>
            <a:custGeom>
              <a:avLst/>
              <a:gdLst/>
              <a:ahLst/>
              <a:cxnLst/>
              <a:rect l="l" t="t" r="r" b="b"/>
              <a:pathLst>
                <a:path w="45720" h="3611879">
                  <a:moveTo>
                    <a:pt x="22682" y="3611511"/>
                  </a:moveTo>
                  <a:lnTo>
                    <a:pt x="0" y="3611511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3611511"/>
                  </a:lnTo>
                  <a:lnTo>
                    <a:pt x="22682" y="3611511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1715" y="1517766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650" y="0"/>
                  </a:moveTo>
                  <a:lnTo>
                    <a:pt x="186350" y="8504"/>
                  </a:lnTo>
                  <a:lnTo>
                    <a:pt x="125641" y="33477"/>
                  </a:lnTo>
                  <a:lnTo>
                    <a:pt x="73671" y="73482"/>
                  </a:lnTo>
                  <a:lnTo>
                    <a:pt x="33845" y="125641"/>
                  </a:lnTo>
                  <a:lnTo>
                    <a:pt x="8550" y="186159"/>
                  </a:lnTo>
                  <a:lnTo>
                    <a:pt x="0" y="251269"/>
                  </a:lnTo>
                  <a:lnTo>
                    <a:pt x="2148" y="284218"/>
                  </a:lnTo>
                  <a:lnTo>
                    <a:pt x="19138" y="347411"/>
                  </a:lnTo>
                  <a:lnTo>
                    <a:pt x="52087" y="404323"/>
                  </a:lnTo>
                  <a:lnTo>
                    <a:pt x="98291" y="450776"/>
                  </a:lnTo>
                  <a:lnTo>
                    <a:pt x="155202" y="483568"/>
                  </a:lnTo>
                  <a:lnTo>
                    <a:pt x="218645" y="500408"/>
                  </a:lnTo>
                  <a:lnTo>
                    <a:pt x="251650" y="502551"/>
                  </a:lnTo>
                  <a:lnTo>
                    <a:pt x="284442" y="500408"/>
                  </a:lnTo>
                  <a:lnTo>
                    <a:pt x="347730" y="483568"/>
                  </a:lnTo>
                  <a:lnTo>
                    <a:pt x="404636" y="450776"/>
                  </a:lnTo>
                  <a:lnTo>
                    <a:pt x="450845" y="404323"/>
                  </a:lnTo>
                  <a:lnTo>
                    <a:pt x="483787" y="347411"/>
                  </a:lnTo>
                  <a:lnTo>
                    <a:pt x="500771" y="284218"/>
                  </a:lnTo>
                  <a:lnTo>
                    <a:pt x="502920" y="251269"/>
                  </a:lnTo>
                  <a:lnTo>
                    <a:pt x="500771" y="218327"/>
                  </a:lnTo>
                  <a:lnTo>
                    <a:pt x="483787" y="155139"/>
                  </a:lnTo>
                  <a:lnTo>
                    <a:pt x="450845" y="98228"/>
                  </a:lnTo>
                  <a:lnTo>
                    <a:pt x="404636" y="51774"/>
                  </a:lnTo>
                  <a:lnTo>
                    <a:pt x="347730" y="18982"/>
                  </a:lnTo>
                  <a:lnTo>
                    <a:pt x="284442" y="2142"/>
                  </a:lnTo>
                  <a:lnTo>
                    <a:pt x="251650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1715" y="1517766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0" y="251269"/>
                  </a:moveTo>
                  <a:lnTo>
                    <a:pt x="2148" y="218327"/>
                  </a:lnTo>
                  <a:lnTo>
                    <a:pt x="8550" y="186159"/>
                  </a:lnTo>
                  <a:lnTo>
                    <a:pt x="33845" y="125641"/>
                  </a:lnTo>
                  <a:lnTo>
                    <a:pt x="73671" y="73482"/>
                  </a:lnTo>
                  <a:lnTo>
                    <a:pt x="125641" y="33477"/>
                  </a:lnTo>
                  <a:lnTo>
                    <a:pt x="186350" y="8504"/>
                  </a:lnTo>
                  <a:lnTo>
                    <a:pt x="251650" y="0"/>
                  </a:lnTo>
                  <a:lnTo>
                    <a:pt x="316626" y="8504"/>
                  </a:lnTo>
                  <a:lnTo>
                    <a:pt x="377278" y="33477"/>
                  </a:lnTo>
                  <a:lnTo>
                    <a:pt x="429259" y="73482"/>
                  </a:lnTo>
                  <a:lnTo>
                    <a:pt x="469087" y="125641"/>
                  </a:lnTo>
                  <a:lnTo>
                    <a:pt x="494371" y="186159"/>
                  </a:lnTo>
                  <a:lnTo>
                    <a:pt x="502920" y="251269"/>
                  </a:lnTo>
                  <a:lnTo>
                    <a:pt x="500771" y="284218"/>
                  </a:lnTo>
                  <a:lnTo>
                    <a:pt x="494371" y="316390"/>
                  </a:lnTo>
                  <a:lnTo>
                    <a:pt x="469087" y="376910"/>
                  </a:lnTo>
                  <a:lnTo>
                    <a:pt x="429260" y="429069"/>
                  </a:lnTo>
                  <a:lnTo>
                    <a:pt x="377278" y="469074"/>
                  </a:lnTo>
                  <a:lnTo>
                    <a:pt x="316626" y="494047"/>
                  </a:lnTo>
                  <a:lnTo>
                    <a:pt x="251650" y="502551"/>
                  </a:lnTo>
                  <a:lnTo>
                    <a:pt x="186350" y="494047"/>
                  </a:lnTo>
                  <a:lnTo>
                    <a:pt x="125641" y="469074"/>
                  </a:lnTo>
                  <a:lnTo>
                    <a:pt x="73671" y="429069"/>
                  </a:lnTo>
                  <a:lnTo>
                    <a:pt x="33845" y="376910"/>
                  </a:lnTo>
                  <a:lnTo>
                    <a:pt x="8550" y="316390"/>
                  </a:lnTo>
                  <a:lnTo>
                    <a:pt x="2148" y="284218"/>
                  </a:lnTo>
                  <a:lnTo>
                    <a:pt x="0" y="251269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1715" y="2505242"/>
              <a:ext cx="2423160" cy="13335"/>
            </a:xfrm>
            <a:custGeom>
              <a:avLst/>
              <a:gdLst/>
              <a:ahLst/>
              <a:cxnLst/>
              <a:rect l="l" t="t" r="r" b="b"/>
              <a:pathLst>
                <a:path w="2423160" h="13335">
                  <a:moveTo>
                    <a:pt x="2422804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1211402" y="13322"/>
                  </a:lnTo>
                  <a:lnTo>
                    <a:pt x="2422804" y="13322"/>
                  </a:lnTo>
                  <a:lnTo>
                    <a:pt x="2422804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1715" y="2505242"/>
              <a:ext cx="2423160" cy="13335"/>
            </a:xfrm>
            <a:custGeom>
              <a:avLst/>
              <a:gdLst/>
              <a:ahLst/>
              <a:cxnLst/>
              <a:rect l="l" t="t" r="r" b="b"/>
              <a:pathLst>
                <a:path w="2423160" h="13335">
                  <a:moveTo>
                    <a:pt x="1211402" y="13322"/>
                  </a:moveTo>
                  <a:lnTo>
                    <a:pt x="0" y="13322"/>
                  </a:lnTo>
                  <a:lnTo>
                    <a:pt x="0" y="0"/>
                  </a:lnTo>
                  <a:lnTo>
                    <a:pt x="2422804" y="0"/>
                  </a:lnTo>
                  <a:lnTo>
                    <a:pt x="2422804" y="13322"/>
                  </a:lnTo>
                  <a:lnTo>
                    <a:pt x="1211402" y="13322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060" y="2608378"/>
              <a:ext cx="104039" cy="1040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060" y="3139022"/>
              <a:ext cx="104039" cy="1040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5060" y="3669297"/>
              <a:ext cx="104039" cy="1040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5060" y="4199586"/>
              <a:ext cx="104039" cy="10403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08864" y="1559137"/>
            <a:ext cx="2640965" cy="2956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05"/>
              </a:spcBef>
            </a:pPr>
            <a:r>
              <a:rPr sz="2350" spc="90" dirty="0">
                <a:latin typeface="MingLiU_HKSCS-ExtB"/>
                <a:cs typeface="MingLiU_HKSCS-ExtB"/>
              </a:rPr>
              <a:t>🏛</a:t>
            </a:r>
            <a:endParaRPr sz="2350">
              <a:latin typeface="MingLiU_HKSCS-ExtB"/>
              <a:cs typeface="MingLiU_HKSCS-ExtB"/>
            </a:endParaRPr>
          </a:p>
          <a:p>
            <a:pPr marL="112395">
              <a:lnSpc>
                <a:spcPct val="100000"/>
              </a:lnSpc>
              <a:spcBef>
                <a:spcPts val="2090"/>
              </a:spcBef>
            </a:pP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Banques</a:t>
            </a:r>
            <a:r>
              <a:rPr sz="1300" b="1" spc="-6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d'Investissement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300">
              <a:latin typeface="Calibri"/>
              <a:cs typeface="Calibri"/>
            </a:endParaRPr>
          </a:p>
          <a:p>
            <a:pPr marL="276860" marR="321310">
              <a:lnSpc>
                <a:spcPct val="119700"/>
              </a:lnSpc>
            </a:pP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Réduction</a:t>
            </a:r>
            <a:r>
              <a:rPr sz="1050" spc="-3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de</a:t>
            </a:r>
            <a:r>
              <a:rPr sz="105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70%</a:t>
            </a:r>
            <a:r>
              <a:rPr sz="1050" spc="-3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du</a:t>
            </a:r>
            <a:r>
              <a:rPr sz="1050" spc="-3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temps</a:t>
            </a:r>
            <a:r>
              <a:rPr sz="1050" spc="-3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d'analyse sectorielle</a:t>
            </a:r>
            <a:endParaRPr sz="1050">
              <a:latin typeface="Calibri"/>
              <a:cs typeface="Calibri"/>
            </a:endParaRPr>
          </a:p>
          <a:p>
            <a:pPr marL="276860" marR="392430">
              <a:lnSpc>
                <a:spcPct val="119700"/>
              </a:lnSpc>
              <a:spcBef>
                <a:spcPts val="1160"/>
              </a:spcBef>
            </a:pP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Identification</a:t>
            </a:r>
            <a:r>
              <a:rPr sz="1050" spc="-3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précoce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des</a:t>
            </a:r>
            <a:r>
              <a:rPr sz="105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risques</a:t>
            </a:r>
            <a:r>
              <a:rPr sz="105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334054"/>
                </a:solidFill>
                <a:latin typeface="Calibri"/>
                <a:cs typeface="Calibri"/>
              </a:rPr>
              <a:t>de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portefeuille</a:t>
            </a:r>
            <a:endParaRPr sz="1050">
              <a:latin typeface="Calibri"/>
              <a:cs typeface="Calibri"/>
            </a:endParaRPr>
          </a:p>
          <a:p>
            <a:pPr marL="276860" marR="1016635">
              <a:lnSpc>
                <a:spcPct val="119700"/>
              </a:lnSpc>
              <a:spcBef>
                <a:spcPts val="1160"/>
              </a:spcBef>
            </a:pP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Rapports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comité</a:t>
            </a:r>
            <a:r>
              <a:rPr sz="1050" spc="-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générés automatiquement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050">
              <a:latin typeface="Calibri"/>
              <a:cs typeface="Calibri"/>
            </a:endParaRPr>
          </a:p>
          <a:p>
            <a:pPr marL="276860">
              <a:lnSpc>
                <a:spcPct val="100000"/>
              </a:lnSpc>
            </a:pP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Benchmark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concurrentiel</a:t>
            </a:r>
            <a:r>
              <a:rPr sz="105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en</a:t>
            </a:r>
            <a:r>
              <a:rPr sz="105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temps</a:t>
            </a:r>
            <a:r>
              <a:rPr sz="105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réel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03904" y="1383666"/>
            <a:ext cx="2708910" cy="3624579"/>
            <a:chOff x="3303904" y="1383666"/>
            <a:chExt cx="2708910" cy="3624579"/>
          </a:xfrm>
        </p:grpSpPr>
        <p:sp>
          <p:nvSpPr>
            <p:cNvPr id="20" name="object 20"/>
            <p:cNvSpPr/>
            <p:nvPr/>
          </p:nvSpPr>
          <p:spPr>
            <a:xfrm>
              <a:off x="3310204" y="1389966"/>
              <a:ext cx="2697480" cy="3611879"/>
            </a:xfrm>
            <a:custGeom>
              <a:avLst/>
              <a:gdLst/>
              <a:ahLst/>
              <a:cxnLst/>
              <a:rect l="l" t="t" r="r" b="b"/>
              <a:pathLst>
                <a:path w="2697479" h="3611879">
                  <a:moveTo>
                    <a:pt x="2697111" y="0"/>
                  </a:moveTo>
                  <a:lnTo>
                    <a:pt x="0" y="0"/>
                  </a:lnTo>
                  <a:lnTo>
                    <a:pt x="0" y="3611511"/>
                  </a:lnTo>
                  <a:lnTo>
                    <a:pt x="1348549" y="3611511"/>
                  </a:lnTo>
                  <a:lnTo>
                    <a:pt x="2697111" y="3611511"/>
                  </a:lnTo>
                  <a:lnTo>
                    <a:pt x="2697111" y="0"/>
                  </a:lnTo>
                  <a:close/>
                </a:path>
              </a:pathLst>
            </a:custGeom>
            <a:solidFill>
              <a:srgbClr val="ECE8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10204" y="1389966"/>
              <a:ext cx="2697480" cy="3611879"/>
            </a:xfrm>
            <a:custGeom>
              <a:avLst/>
              <a:gdLst/>
              <a:ahLst/>
              <a:cxnLst/>
              <a:rect l="l" t="t" r="r" b="b"/>
              <a:pathLst>
                <a:path w="2697479" h="3611879">
                  <a:moveTo>
                    <a:pt x="1348549" y="3611511"/>
                  </a:moveTo>
                  <a:lnTo>
                    <a:pt x="0" y="3611511"/>
                  </a:lnTo>
                  <a:lnTo>
                    <a:pt x="0" y="0"/>
                  </a:lnTo>
                  <a:lnTo>
                    <a:pt x="2697111" y="0"/>
                  </a:lnTo>
                  <a:lnTo>
                    <a:pt x="2697111" y="3611511"/>
                  </a:lnTo>
                  <a:lnTo>
                    <a:pt x="1348549" y="3611511"/>
                  </a:lnTo>
                  <a:close/>
                </a:path>
              </a:pathLst>
            </a:custGeom>
            <a:ln w="1007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10204" y="1389966"/>
              <a:ext cx="45720" cy="3611879"/>
            </a:xfrm>
            <a:custGeom>
              <a:avLst/>
              <a:gdLst/>
              <a:ahLst/>
              <a:cxnLst/>
              <a:rect l="l" t="t" r="r" b="b"/>
              <a:pathLst>
                <a:path w="45720" h="3611879">
                  <a:moveTo>
                    <a:pt x="22669" y="3611511"/>
                  </a:moveTo>
                  <a:lnTo>
                    <a:pt x="0" y="3611511"/>
                  </a:lnTo>
                  <a:lnTo>
                    <a:pt x="0" y="0"/>
                  </a:lnTo>
                  <a:lnTo>
                    <a:pt x="45351" y="0"/>
                  </a:lnTo>
                  <a:lnTo>
                    <a:pt x="45351" y="3611511"/>
                  </a:lnTo>
                  <a:lnTo>
                    <a:pt x="22669" y="3611511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74719" y="1517766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59"/>
                  </a:lnTo>
                  <a:lnTo>
                    <a:pt x="0" y="251269"/>
                  </a:lnTo>
                  <a:lnTo>
                    <a:pt x="2148" y="284218"/>
                  </a:lnTo>
                  <a:lnTo>
                    <a:pt x="19138" y="347411"/>
                  </a:lnTo>
                  <a:lnTo>
                    <a:pt x="52085" y="404323"/>
                  </a:lnTo>
                  <a:lnTo>
                    <a:pt x="98285" y="450776"/>
                  </a:lnTo>
                  <a:lnTo>
                    <a:pt x="155202" y="483568"/>
                  </a:lnTo>
                  <a:lnTo>
                    <a:pt x="218640" y="500408"/>
                  </a:lnTo>
                  <a:lnTo>
                    <a:pt x="251637" y="502551"/>
                  </a:lnTo>
                  <a:lnTo>
                    <a:pt x="284429" y="500408"/>
                  </a:lnTo>
                  <a:lnTo>
                    <a:pt x="347723" y="483568"/>
                  </a:lnTo>
                  <a:lnTo>
                    <a:pt x="404634" y="450776"/>
                  </a:lnTo>
                  <a:lnTo>
                    <a:pt x="450834" y="404323"/>
                  </a:lnTo>
                  <a:lnTo>
                    <a:pt x="483781" y="347411"/>
                  </a:lnTo>
                  <a:lnTo>
                    <a:pt x="500771" y="284218"/>
                  </a:lnTo>
                  <a:lnTo>
                    <a:pt x="502919" y="251269"/>
                  </a:lnTo>
                  <a:lnTo>
                    <a:pt x="500771" y="218327"/>
                  </a:lnTo>
                  <a:lnTo>
                    <a:pt x="483781" y="155139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74719" y="1517766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0" y="251269"/>
                  </a:moveTo>
                  <a:lnTo>
                    <a:pt x="2148" y="218327"/>
                  </a:lnTo>
                  <a:lnTo>
                    <a:pt x="8550" y="186159"/>
                  </a:lnTo>
                  <a:lnTo>
                    <a:pt x="33845" y="125641"/>
                  </a:lnTo>
                  <a:lnTo>
                    <a:pt x="73666" y="73482"/>
                  </a:lnTo>
                  <a:lnTo>
                    <a:pt x="125641" y="33477"/>
                  </a:lnTo>
                  <a:lnTo>
                    <a:pt x="186348" y="8504"/>
                  </a:lnTo>
                  <a:lnTo>
                    <a:pt x="251637" y="0"/>
                  </a:lnTo>
                  <a:lnTo>
                    <a:pt x="316615" y="8504"/>
                  </a:lnTo>
                  <a:lnTo>
                    <a:pt x="377278" y="33477"/>
                  </a:lnTo>
                  <a:lnTo>
                    <a:pt x="429253" y="73482"/>
                  </a:lnTo>
                  <a:lnTo>
                    <a:pt x="469074" y="125641"/>
                  </a:lnTo>
                  <a:lnTo>
                    <a:pt x="494369" y="186159"/>
                  </a:lnTo>
                  <a:lnTo>
                    <a:pt x="502919" y="251269"/>
                  </a:lnTo>
                  <a:lnTo>
                    <a:pt x="500771" y="284218"/>
                  </a:lnTo>
                  <a:lnTo>
                    <a:pt x="494369" y="316390"/>
                  </a:lnTo>
                  <a:lnTo>
                    <a:pt x="469074" y="376910"/>
                  </a:lnTo>
                  <a:lnTo>
                    <a:pt x="429253" y="429069"/>
                  </a:lnTo>
                  <a:lnTo>
                    <a:pt x="377278" y="469074"/>
                  </a:lnTo>
                  <a:lnTo>
                    <a:pt x="316615" y="494047"/>
                  </a:lnTo>
                  <a:lnTo>
                    <a:pt x="251637" y="502551"/>
                  </a:lnTo>
                  <a:lnTo>
                    <a:pt x="186348" y="494047"/>
                  </a:lnTo>
                  <a:lnTo>
                    <a:pt x="125641" y="469074"/>
                  </a:lnTo>
                  <a:lnTo>
                    <a:pt x="73666" y="429069"/>
                  </a:lnTo>
                  <a:lnTo>
                    <a:pt x="33845" y="376910"/>
                  </a:lnTo>
                  <a:lnTo>
                    <a:pt x="8550" y="316390"/>
                  </a:lnTo>
                  <a:lnTo>
                    <a:pt x="2148" y="284218"/>
                  </a:lnTo>
                  <a:lnTo>
                    <a:pt x="0" y="251269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74719" y="2505242"/>
              <a:ext cx="2423160" cy="13335"/>
            </a:xfrm>
            <a:custGeom>
              <a:avLst/>
              <a:gdLst/>
              <a:ahLst/>
              <a:cxnLst/>
              <a:rect l="l" t="t" r="r" b="b"/>
              <a:pathLst>
                <a:path w="2423160" h="13335">
                  <a:moveTo>
                    <a:pt x="2422804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1211402" y="13322"/>
                  </a:lnTo>
                  <a:lnTo>
                    <a:pt x="2422804" y="13322"/>
                  </a:lnTo>
                  <a:lnTo>
                    <a:pt x="2422804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74719" y="2505242"/>
              <a:ext cx="2423160" cy="13335"/>
            </a:xfrm>
            <a:custGeom>
              <a:avLst/>
              <a:gdLst/>
              <a:ahLst/>
              <a:cxnLst/>
              <a:rect l="l" t="t" r="r" b="b"/>
              <a:pathLst>
                <a:path w="2423160" h="13335">
                  <a:moveTo>
                    <a:pt x="1211402" y="13322"/>
                  </a:moveTo>
                  <a:lnTo>
                    <a:pt x="0" y="13322"/>
                  </a:lnTo>
                  <a:lnTo>
                    <a:pt x="0" y="0"/>
                  </a:lnTo>
                  <a:lnTo>
                    <a:pt x="2422804" y="0"/>
                  </a:lnTo>
                  <a:lnTo>
                    <a:pt x="2422804" y="13322"/>
                  </a:lnTo>
                  <a:lnTo>
                    <a:pt x="1211402" y="13322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68064" y="2608378"/>
              <a:ext cx="104039" cy="1040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68064" y="3139022"/>
              <a:ext cx="104039" cy="10403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68064" y="3669297"/>
              <a:ext cx="104039" cy="1040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68064" y="4199586"/>
              <a:ext cx="104039" cy="10403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361855" y="1559137"/>
            <a:ext cx="2640965" cy="3052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05"/>
              </a:spcBef>
            </a:pPr>
            <a:r>
              <a:rPr sz="2350" spc="90" dirty="0">
                <a:latin typeface="MingLiU_HKSCS-ExtB"/>
                <a:cs typeface="MingLiU_HKSCS-ExtB"/>
              </a:rPr>
              <a:t>🚀</a:t>
            </a:r>
            <a:endParaRPr sz="2350">
              <a:latin typeface="MingLiU_HKSCS-ExtB"/>
              <a:cs typeface="MingLiU_HKSCS-ExtB"/>
            </a:endParaRPr>
          </a:p>
          <a:p>
            <a:pPr marL="112395">
              <a:lnSpc>
                <a:spcPct val="100000"/>
              </a:lnSpc>
              <a:spcBef>
                <a:spcPts val="2090"/>
              </a:spcBef>
            </a:pP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Fonds</a:t>
            </a:r>
            <a:r>
              <a:rPr sz="1300" b="1" spc="-4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de</a:t>
            </a:r>
            <a:r>
              <a:rPr sz="1300" b="1" spc="-3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E1629"/>
                </a:solidFill>
                <a:latin typeface="Calibri"/>
                <a:cs typeface="Calibri"/>
              </a:rPr>
              <a:t>Venture</a:t>
            </a:r>
            <a:r>
              <a:rPr sz="1300" b="1" spc="-2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Capital</a:t>
            </a:r>
            <a:endParaRPr sz="1300">
              <a:latin typeface="Calibri"/>
              <a:cs typeface="Calibri"/>
            </a:endParaRPr>
          </a:p>
          <a:p>
            <a:pPr marL="276860" marR="205740">
              <a:lnSpc>
                <a:spcPts val="4180"/>
              </a:lnSpc>
              <a:spcBef>
                <a:spcPts val="525"/>
              </a:spcBef>
            </a:pP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Détection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des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startups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à</a:t>
            </a:r>
            <a:r>
              <a:rPr sz="1050" spc="-3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fort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potentiel Analyse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comparative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des</a:t>
            </a:r>
            <a:r>
              <a:rPr sz="105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marchés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cibles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Due</a:t>
            </a:r>
            <a:r>
              <a:rPr sz="105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diligence</a:t>
            </a:r>
            <a:r>
              <a:rPr sz="1050" spc="-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sectorielle accélérée</a:t>
            </a:r>
            <a:endParaRPr sz="1050">
              <a:latin typeface="Calibri"/>
              <a:cs typeface="Calibri"/>
            </a:endParaRPr>
          </a:p>
          <a:p>
            <a:pPr marL="276860" marR="727075">
              <a:lnSpc>
                <a:spcPct val="119700"/>
              </a:lnSpc>
              <a:spcBef>
                <a:spcPts val="1275"/>
              </a:spcBef>
            </a:pP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Suivi</a:t>
            </a:r>
            <a:r>
              <a:rPr sz="1050" spc="-3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performance</a:t>
            </a:r>
            <a:r>
              <a:rPr sz="1050" spc="-3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portefeuille automatisé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156895" y="1383666"/>
            <a:ext cx="2708910" cy="3624579"/>
            <a:chOff x="6156895" y="1383666"/>
            <a:chExt cx="2708910" cy="3624579"/>
          </a:xfrm>
        </p:grpSpPr>
        <p:sp>
          <p:nvSpPr>
            <p:cNvPr id="33" name="object 33"/>
            <p:cNvSpPr/>
            <p:nvPr/>
          </p:nvSpPr>
          <p:spPr>
            <a:xfrm>
              <a:off x="6163195" y="1389966"/>
              <a:ext cx="2697480" cy="3611879"/>
            </a:xfrm>
            <a:custGeom>
              <a:avLst/>
              <a:gdLst/>
              <a:ahLst/>
              <a:cxnLst/>
              <a:rect l="l" t="t" r="r" b="b"/>
              <a:pathLst>
                <a:path w="2697479" h="3611879">
                  <a:moveTo>
                    <a:pt x="2697124" y="0"/>
                  </a:moveTo>
                  <a:lnTo>
                    <a:pt x="0" y="0"/>
                  </a:lnTo>
                  <a:lnTo>
                    <a:pt x="0" y="3611511"/>
                  </a:lnTo>
                  <a:lnTo>
                    <a:pt x="1348562" y="3611511"/>
                  </a:lnTo>
                  <a:lnTo>
                    <a:pt x="2697124" y="3611511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63195" y="1389966"/>
              <a:ext cx="2697480" cy="3611879"/>
            </a:xfrm>
            <a:custGeom>
              <a:avLst/>
              <a:gdLst/>
              <a:ahLst/>
              <a:cxnLst/>
              <a:rect l="l" t="t" r="r" b="b"/>
              <a:pathLst>
                <a:path w="2697479" h="3611879">
                  <a:moveTo>
                    <a:pt x="1348562" y="3611511"/>
                  </a:moveTo>
                  <a:lnTo>
                    <a:pt x="0" y="3611511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3611511"/>
                  </a:lnTo>
                  <a:lnTo>
                    <a:pt x="1348562" y="3611511"/>
                  </a:lnTo>
                  <a:close/>
                </a:path>
              </a:pathLst>
            </a:custGeom>
            <a:ln w="1007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163195" y="1389966"/>
              <a:ext cx="45720" cy="3611879"/>
            </a:xfrm>
            <a:custGeom>
              <a:avLst/>
              <a:gdLst/>
              <a:ahLst/>
              <a:cxnLst/>
              <a:rect l="l" t="t" r="r" b="b"/>
              <a:pathLst>
                <a:path w="45720" h="3611879">
                  <a:moveTo>
                    <a:pt x="22682" y="3611511"/>
                  </a:moveTo>
                  <a:lnTo>
                    <a:pt x="0" y="3611511"/>
                  </a:lnTo>
                  <a:lnTo>
                    <a:pt x="0" y="0"/>
                  </a:lnTo>
                  <a:lnTo>
                    <a:pt x="45364" y="0"/>
                  </a:lnTo>
                  <a:lnTo>
                    <a:pt x="45364" y="3611511"/>
                  </a:lnTo>
                  <a:lnTo>
                    <a:pt x="22682" y="3611511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27724" y="1517766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269" y="0"/>
                  </a:moveTo>
                  <a:lnTo>
                    <a:pt x="186293" y="8504"/>
                  </a:lnTo>
                  <a:lnTo>
                    <a:pt x="125641" y="33477"/>
                  </a:lnTo>
                  <a:lnTo>
                    <a:pt x="73660" y="73482"/>
                  </a:lnTo>
                  <a:lnTo>
                    <a:pt x="33832" y="125641"/>
                  </a:lnTo>
                  <a:lnTo>
                    <a:pt x="8548" y="186159"/>
                  </a:lnTo>
                  <a:lnTo>
                    <a:pt x="0" y="251269"/>
                  </a:lnTo>
                  <a:lnTo>
                    <a:pt x="2148" y="284218"/>
                  </a:lnTo>
                  <a:lnTo>
                    <a:pt x="19132" y="347411"/>
                  </a:lnTo>
                  <a:lnTo>
                    <a:pt x="52074" y="404323"/>
                  </a:lnTo>
                  <a:lnTo>
                    <a:pt x="98283" y="450776"/>
                  </a:lnTo>
                  <a:lnTo>
                    <a:pt x="155189" y="483568"/>
                  </a:lnTo>
                  <a:lnTo>
                    <a:pt x="218477" y="500408"/>
                  </a:lnTo>
                  <a:lnTo>
                    <a:pt x="251269" y="502551"/>
                  </a:lnTo>
                  <a:lnTo>
                    <a:pt x="284274" y="500408"/>
                  </a:lnTo>
                  <a:lnTo>
                    <a:pt x="347717" y="483568"/>
                  </a:lnTo>
                  <a:lnTo>
                    <a:pt x="404628" y="450776"/>
                  </a:lnTo>
                  <a:lnTo>
                    <a:pt x="450832" y="404323"/>
                  </a:lnTo>
                  <a:lnTo>
                    <a:pt x="483781" y="347411"/>
                  </a:lnTo>
                  <a:lnTo>
                    <a:pt x="500771" y="284218"/>
                  </a:lnTo>
                  <a:lnTo>
                    <a:pt x="502920" y="251269"/>
                  </a:lnTo>
                  <a:lnTo>
                    <a:pt x="500771" y="218327"/>
                  </a:lnTo>
                  <a:lnTo>
                    <a:pt x="483781" y="155139"/>
                  </a:lnTo>
                  <a:lnTo>
                    <a:pt x="450832" y="98228"/>
                  </a:lnTo>
                  <a:lnTo>
                    <a:pt x="404628" y="51774"/>
                  </a:lnTo>
                  <a:lnTo>
                    <a:pt x="347717" y="18982"/>
                  </a:lnTo>
                  <a:lnTo>
                    <a:pt x="284274" y="2142"/>
                  </a:lnTo>
                  <a:lnTo>
                    <a:pt x="251269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27724" y="1517766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0" y="251269"/>
                  </a:moveTo>
                  <a:lnTo>
                    <a:pt x="2148" y="218327"/>
                  </a:lnTo>
                  <a:lnTo>
                    <a:pt x="8548" y="186159"/>
                  </a:lnTo>
                  <a:lnTo>
                    <a:pt x="33832" y="125641"/>
                  </a:lnTo>
                  <a:lnTo>
                    <a:pt x="73660" y="73482"/>
                  </a:lnTo>
                  <a:lnTo>
                    <a:pt x="125641" y="33477"/>
                  </a:lnTo>
                  <a:lnTo>
                    <a:pt x="186293" y="8504"/>
                  </a:lnTo>
                  <a:lnTo>
                    <a:pt x="251269" y="0"/>
                  </a:lnTo>
                  <a:lnTo>
                    <a:pt x="316569" y="8504"/>
                  </a:lnTo>
                  <a:lnTo>
                    <a:pt x="377278" y="33477"/>
                  </a:lnTo>
                  <a:lnTo>
                    <a:pt x="429248" y="73482"/>
                  </a:lnTo>
                  <a:lnTo>
                    <a:pt x="469074" y="125641"/>
                  </a:lnTo>
                  <a:lnTo>
                    <a:pt x="494369" y="186159"/>
                  </a:lnTo>
                  <a:lnTo>
                    <a:pt x="502920" y="251269"/>
                  </a:lnTo>
                  <a:lnTo>
                    <a:pt x="500771" y="284218"/>
                  </a:lnTo>
                  <a:lnTo>
                    <a:pt x="494369" y="316390"/>
                  </a:lnTo>
                  <a:lnTo>
                    <a:pt x="469074" y="376910"/>
                  </a:lnTo>
                  <a:lnTo>
                    <a:pt x="429248" y="429069"/>
                  </a:lnTo>
                  <a:lnTo>
                    <a:pt x="377278" y="469074"/>
                  </a:lnTo>
                  <a:lnTo>
                    <a:pt x="316569" y="494047"/>
                  </a:lnTo>
                  <a:lnTo>
                    <a:pt x="251269" y="502551"/>
                  </a:lnTo>
                  <a:lnTo>
                    <a:pt x="186293" y="494047"/>
                  </a:lnTo>
                  <a:lnTo>
                    <a:pt x="125641" y="469074"/>
                  </a:lnTo>
                  <a:lnTo>
                    <a:pt x="73660" y="429069"/>
                  </a:lnTo>
                  <a:lnTo>
                    <a:pt x="33832" y="376910"/>
                  </a:lnTo>
                  <a:lnTo>
                    <a:pt x="8548" y="316390"/>
                  </a:lnTo>
                  <a:lnTo>
                    <a:pt x="2148" y="284218"/>
                  </a:lnTo>
                  <a:lnTo>
                    <a:pt x="0" y="251269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27724" y="2505242"/>
              <a:ext cx="2423160" cy="13335"/>
            </a:xfrm>
            <a:custGeom>
              <a:avLst/>
              <a:gdLst/>
              <a:ahLst/>
              <a:cxnLst/>
              <a:rect l="l" t="t" r="r" b="b"/>
              <a:pathLst>
                <a:path w="2423159" h="13335">
                  <a:moveTo>
                    <a:pt x="2422791" y="0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1211389" y="13322"/>
                  </a:lnTo>
                  <a:lnTo>
                    <a:pt x="2422791" y="13322"/>
                  </a:lnTo>
                  <a:lnTo>
                    <a:pt x="2422791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327724" y="2505242"/>
              <a:ext cx="2423160" cy="13335"/>
            </a:xfrm>
            <a:custGeom>
              <a:avLst/>
              <a:gdLst/>
              <a:ahLst/>
              <a:cxnLst/>
              <a:rect l="l" t="t" r="r" b="b"/>
              <a:pathLst>
                <a:path w="2423159" h="13335">
                  <a:moveTo>
                    <a:pt x="1211389" y="13322"/>
                  </a:moveTo>
                  <a:lnTo>
                    <a:pt x="0" y="13322"/>
                  </a:lnTo>
                  <a:lnTo>
                    <a:pt x="0" y="0"/>
                  </a:lnTo>
                  <a:lnTo>
                    <a:pt x="2422791" y="0"/>
                  </a:lnTo>
                  <a:lnTo>
                    <a:pt x="2422791" y="13322"/>
                  </a:lnTo>
                  <a:lnTo>
                    <a:pt x="1211389" y="13322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21056" y="2608378"/>
              <a:ext cx="104039" cy="10403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21056" y="3139022"/>
              <a:ext cx="104039" cy="10403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21056" y="3669297"/>
              <a:ext cx="104039" cy="10403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21056" y="4199586"/>
              <a:ext cx="104039" cy="104039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6214860" y="1559137"/>
            <a:ext cx="2640965" cy="2956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05"/>
              </a:spcBef>
            </a:pPr>
            <a:r>
              <a:rPr sz="2350" spc="90" dirty="0">
                <a:latin typeface="MingLiU_HKSCS-ExtB"/>
                <a:cs typeface="MingLiU_HKSCS-ExtB"/>
              </a:rPr>
              <a:t>📊</a:t>
            </a:r>
            <a:endParaRPr sz="2350">
              <a:latin typeface="MingLiU_HKSCS-ExtB"/>
              <a:cs typeface="MingLiU_HKSCS-ExtB"/>
            </a:endParaRPr>
          </a:p>
          <a:p>
            <a:pPr marL="112395">
              <a:lnSpc>
                <a:spcPct val="100000"/>
              </a:lnSpc>
              <a:spcBef>
                <a:spcPts val="2090"/>
              </a:spcBef>
            </a:pP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Analystes</a:t>
            </a:r>
            <a:r>
              <a:rPr sz="1300" b="1" spc="-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Financiers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300">
              <a:latin typeface="Calibri"/>
              <a:cs typeface="Calibri"/>
            </a:endParaRPr>
          </a:p>
          <a:p>
            <a:pPr marL="276860" marR="744220">
              <a:lnSpc>
                <a:spcPct val="119700"/>
              </a:lnSpc>
            </a:pP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Accès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immédiat</a:t>
            </a:r>
            <a:r>
              <a:rPr sz="105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à</a:t>
            </a:r>
            <a:r>
              <a:rPr sz="105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50+</a:t>
            </a:r>
            <a:r>
              <a:rPr sz="105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sources centralisées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050">
              <a:latin typeface="Calibri"/>
              <a:cs typeface="Calibri"/>
            </a:endParaRPr>
          </a:p>
          <a:p>
            <a:pPr marL="276860">
              <a:lnSpc>
                <a:spcPct val="100000"/>
              </a:lnSpc>
            </a:pP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Dashboards</a:t>
            </a:r>
            <a:r>
              <a:rPr sz="1050" spc="-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personnalisés</a:t>
            </a:r>
            <a:r>
              <a:rPr sz="1050" spc="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par</a:t>
            </a:r>
            <a:r>
              <a:rPr sz="1050" spc="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secteur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050">
              <a:latin typeface="Calibri"/>
              <a:cs typeface="Calibri"/>
            </a:endParaRPr>
          </a:p>
          <a:p>
            <a:pPr marL="276860" marR="458470">
              <a:lnSpc>
                <a:spcPct val="119700"/>
              </a:lnSpc>
            </a:pP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Alertes</a:t>
            </a:r>
            <a:r>
              <a:rPr sz="1050" spc="-1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proactives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sans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 surveillance manuelle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050">
              <a:latin typeface="Calibri"/>
              <a:cs typeface="Calibri"/>
            </a:endParaRPr>
          </a:p>
          <a:p>
            <a:pPr marL="27686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IA</a:t>
            </a:r>
            <a:r>
              <a:rPr sz="1050" spc="-3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comme</a:t>
            </a:r>
            <a:r>
              <a:rPr sz="105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assistant</a:t>
            </a:r>
            <a:r>
              <a:rPr sz="1050" spc="-25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34054"/>
                </a:solidFill>
                <a:latin typeface="Calibri"/>
                <a:cs typeface="Calibri"/>
              </a:rPr>
              <a:t>de</a:t>
            </a:r>
            <a:r>
              <a:rPr sz="1050" spc="-3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Calibri"/>
                <a:cs typeface="Calibri"/>
              </a:rPr>
              <a:t>recherche</a:t>
            </a:r>
            <a:r>
              <a:rPr sz="1050" spc="-30" dirty="0">
                <a:solidFill>
                  <a:srgbClr val="334054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334054"/>
                </a:solidFill>
                <a:latin typeface="Calibri"/>
                <a:cs typeface="Calibri"/>
              </a:rPr>
              <a:t>dédié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6844" y="255602"/>
            <a:ext cx="1828800" cy="237490"/>
          </a:xfrm>
          <a:custGeom>
            <a:avLst/>
            <a:gdLst/>
            <a:ahLst/>
            <a:cxnLst/>
            <a:rect l="l" t="t" r="r" b="b"/>
            <a:pathLst>
              <a:path w="1828800" h="237490">
                <a:moveTo>
                  <a:pt x="1828431" y="0"/>
                </a:moveTo>
                <a:lnTo>
                  <a:pt x="0" y="0"/>
                </a:lnTo>
                <a:lnTo>
                  <a:pt x="0" y="237235"/>
                </a:lnTo>
                <a:lnTo>
                  <a:pt x="914400" y="237235"/>
                </a:lnTo>
                <a:lnTo>
                  <a:pt x="1828431" y="237235"/>
                </a:lnTo>
                <a:lnTo>
                  <a:pt x="1828431" y="0"/>
                </a:lnTo>
                <a:close/>
              </a:path>
            </a:pathLst>
          </a:custGeom>
          <a:solidFill>
            <a:srgbClr val="CC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6844" y="255602"/>
            <a:ext cx="1828800" cy="237490"/>
          </a:xfrm>
          <a:prstGeom prst="rect">
            <a:avLst/>
          </a:prstGeom>
          <a:ln w="6479">
            <a:solidFill>
              <a:srgbClr val="0C9387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455"/>
              </a:spcBef>
            </a:pP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P</a:t>
            </a:r>
            <a:r>
              <a:rPr sz="800" b="1" spc="-4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E</a:t>
            </a:r>
            <a:r>
              <a:rPr sz="800" b="1" spc="-2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R</a:t>
            </a:r>
            <a:r>
              <a:rPr sz="800" b="1" spc="-4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S</a:t>
            </a:r>
            <a:r>
              <a:rPr sz="80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P</a:t>
            </a:r>
            <a:r>
              <a:rPr sz="800" b="1" spc="-4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E</a:t>
            </a:r>
            <a:r>
              <a:rPr sz="800" b="1" spc="-4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C</a:t>
            </a:r>
            <a:r>
              <a:rPr sz="80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T</a:t>
            </a:r>
            <a:r>
              <a:rPr sz="80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I</a:t>
            </a:r>
            <a:r>
              <a:rPr sz="80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0C9387"/>
                </a:solidFill>
                <a:latin typeface="Calibri"/>
                <a:cs typeface="Calibri"/>
              </a:rPr>
              <a:t>V</a:t>
            </a:r>
            <a:r>
              <a:rPr sz="800" b="1" spc="-4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E</a:t>
            </a:r>
            <a:r>
              <a:rPr sz="800" b="1" spc="-4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S</a:t>
            </a:r>
            <a:r>
              <a:rPr sz="800" b="1" spc="29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F</a:t>
            </a:r>
            <a:r>
              <a:rPr sz="80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U</a:t>
            </a:r>
            <a:r>
              <a:rPr sz="80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T</a:t>
            </a:r>
            <a:r>
              <a:rPr sz="800" b="1" spc="-35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U</a:t>
            </a:r>
            <a:r>
              <a:rPr sz="800" b="1" spc="-3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R</a:t>
            </a:r>
            <a:r>
              <a:rPr sz="800" b="1" spc="-4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C9387"/>
                </a:solidFill>
                <a:latin typeface="Calibri"/>
                <a:cs typeface="Calibri"/>
              </a:rPr>
              <a:t>E</a:t>
            </a:r>
            <a:r>
              <a:rPr sz="800" b="1" spc="-40" dirty="0">
                <a:solidFill>
                  <a:srgbClr val="0C9387"/>
                </a:solidFill>
                <a:latin typeface="Calibri"/>
                <a:cs typeface="Calibri"/>
              </a:rPr>
              <a:t> </a:t>
            </a:r>
            <a:r>
              <a:rPr sz="800" b="1" spc="-50" dirty="0">
                <a:solidFill>
                  <a:srgbClr val="0C9387"/>
                </a:solidFill>
                <a:latin typeface="Calibri"/>
                <a:cs typeface="Calibri"/>
              </a:rPr>
              <a:t>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</a:t>
            </a:r>
            <a:r>
              <a:rPr spc="-80" dirty="0"/>
              <a:t> </a:t>
            </a:r>
            <a:r>
              <a:rPr dirty="0"/>
              <a:t>roadmap</a:t>
            </a:r>
            <a:r>
              <a:rPr spc="-80" dirty="0"/>
              <a:t> </a:t>
            </a:r>
            <a:r>
              <a:rPr spc="-10" dirty="0"/>
              <a:t>d'innovation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4144" y="1113385"/>
            <a:ext cx="398462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Quatre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axes</a:t>
            </a:r>
            <a:r>
              <a:rPr sz="1300" spc="-4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de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développement</a:t>
            </a:r>
            <a:r>
              <a:rPr sz="130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pour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les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38A"/>
                </a:solidFill>
                <a:latin typeface="Calibri"/>
                <a:cs typeface="Calibri"/>
              </a:rPr>
              <a:t>18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prochains</a:t>
            </a:r>
            <a:r>
              <a:rPr sz="13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38A"/>
                </a:solidFill>
                <a:latin typeface="Calibri"/>
                <a:cs typeface="Calibri"/>
              </a:rPr>
              <a:t>mois.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48714" y="1357162"/>
            <a:ext cx="6715759" cy="796290"/>
            <a:chOff x="1148714" y="1357162"/>
            <a:chExt cx="6715759" cy="796290"/>
          </a:xfrm>
        </p:grpSpPr>
        <p:sp>
          <p:nvSpPr>
            <p:cNvPr id="7" name="object 7"/>
            <p:cNvSpPr/>
            <p:nvPr/>
          </p:nvSpPr>
          <p:spPr>
            <a:xfrm>
              <a:off x="1153794" y="1362242"/>
              <a:ext cx="6705600" cy="786130"/>
            </a:xfrm>
            <a:custGeom>
              <a:avLst/>
              <a:gdLst/>
              <a:ahLst/>
              <a:cxnLst/>
              <a:rect l="l" t="t" r="r" b="b"/>
              <a:pathLst>
                <a:path w="6705600" h="786130">
                  <a:moveTo>
                    <a:pt x="6705358" y="0"/>
                  </a:moveTo>
                  <a:lnTo>
                    <a:pt x="0" y="0"/>
                  </a:lnTo>
                  <a:lnTo>
                    <a:pt x="0" y="785875"/>
                  </a:lnTo>
                  <a:lnTo>
                    <a:pt x="3352685" y="785875"/>
                  </a:lnTo>
                  <a:lnTo>
                    <a:pt x="6705358" y="785875"/>
                  </a:lnTo>
                  <a:lnTo>
                    <a:pt x="6705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53794" y="1362242"/>
              <a:ext cx="6705600" cy="786130"/>
            </a:xfrm>
            <a:custGeom>
              <a:avLst/>
              <a:gdLst/>
              <a:ahLst/>
              <a:cxnLst/>
              <a:rect l="l" t="t" r="r" b="b"/>
              <a:pathLst>
                <a:path w="6705600" h="786130">
                  <a:moveTo>
                    <a:pt x="3352685" y="785875"/>
                  </a:moveTo>
                  <a:lnTo>
                    <a:pt x="0" y="785875"/>
                  </a:lnTo>
                  <a:lnTo>
                    <a:pt x="0" y="0"/>
                  </a:lnTo>
                  <a:lnTo>
                    <a:pt x="6705358" y="0"/>
                  </a:lnTo>
                  <a:lnTo>
                    <a:pt x="6705358" y="785875"/>
                  </a:lnTo>
                  <a:lnTo>
                    <a:pt x="3352685" y="785875"/>
                  </a:lnTo>
                  <a:close/>
                </a:path>
              </a:pathLst>
            </a:custGeom>
            <a:ln w="1007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17866" y="1504412"/>
            <a:ext cx="34226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90" dirty="0">
                <a:latin typeface="MingLiU_HKSCS-ExtB"/>
                <a:cs typeface="MingLiU_HKSCS-ExtB"/>
              </a:rPr>
              <a:t>🤖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3062" y="1397547"/>
            <a:ext cx="5840095" cy="72263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IA</a:t>
            </a:r>
            <a:r>
              <a:rPr sz="1300" b="1" spc="-2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Avancée</a:t>
            </a:r>
            <a:r>
              <a:rPr sz="1300" b="1" spc="-2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&amp;</a:t>
            </a:r>
            <a:r>
              <a:rPr sz="1300" b="1" spc="-1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Prédictions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30"/>
              </a:spcBef>
            </a:pP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Modèles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de</a:t>
            </a:r>
            <a:r>
              <a:rPr sz="105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prédiction macroéconomique,</a:t>
            </a:r>
            <a:r>
              <a:rPr sz="105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deep</a:t>
            </a:r>
            <a:r>
              <a:rPr sz="105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learning</a:t>
            </a:r>
            <a:r>
              <a:rPr sz="105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sur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séries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 temporelles,</a:t>
            </a:r>
            <a:r>
              <a:rPr sz="105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amélioration</a:t>
            </a:r>
            <a:r>
              <a:rPr sz="105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de</a:t>
            </a:r>
            <a:r>
              <a:rPr sz="105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la</a:t>
            </a:r>
            <a:r>
              <a:rPr sz="105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précision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de</a:t>
            </a:r>
            <a:r>
              <a:rPr sz="105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+40%.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624254" y="1556818"/>
            <a:ext cx="378460" cy="378460"/>
            <a:chOff x="7624254" y="1556818"/>
            <a:chExt cx="378460" cy="378460"/>
          </a:xfrm>
        </p:grpSpPr>
        <p:sp>
          <p:nvSpPr>
            <p:cNvPr id="12" name="object 12"/>
            <p:cNvSpPr/>
            <p:nvPr/>
          </p:nvSpPr>
          <p:spPr>
            <a:xfrm>
              <a:off x="7630553" y="1563118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45" y="6165"/>
                  </a:lnTo>
                  <a:lnTo>
                    <a:pt x="91439" y="24485"/>
                  </a:lnTo>
                  <a:lnTo>
                    <a:pt x="53647" y="53643"/>
                  </a:lnTo>
                  <a:lnTo>
                    <a:pt x="24485" y="91440"/>
                  </a:lnTo>
                  <a:lnTo>
                    <a:pt x="6165" y="135540"/>
                  </a:lnTo>
                  <a:lnTo>
                    <a:pt x="0" y="182880"/>
                  </a:lnTo>
                  <a:lnTo>
                    <a:pt x="1547" y="206788"/>
                  </a:lnTo>
                  <a:lnTo>
                    <a:pt x="13823" y="252847"/>
                  </a:lnTo>
                  <a:lnTo>
                    <a:pt x="37886" y="294200"/>
                  </a:lnTo>
                  <a:lnTo>
                    <a:pt x="71566" y="327885"/>
                  </a:lnTo>
                  <a:lnTo>
                    <a:pt x="112919" y="351942"/>
                  </a:lnTo>
                  <a:lnTo>
                    <a:pt x="158978" y="364213"/>
                  </a:lnTo>
                  <a:lnTo>
                    <a:pt x="182879" y="365760"/>
                  </a:lnTo>
                  <a:lnTo>
                    <a:pt x="206788" y="364213"/>
                  </a:lnTo>
                  <a:lnTo>
                    <a:pt x="252847" y="351942"/>
                  </a:lnTo>
                  <a:lnTo>
                    <a:pt x="294200" y="327885"/>
                  </a:lnTo>
                  <a:lnTo>
                    <a:pt x="327885" y="294200"/>
                  </a:lnTo>
                  <a:lnTo>
                    <a:pt x="351947" y="252847"/>
                  </a:lnTo>
                  <a:lnTo>
                    <a:pt x="364214" y="206788"/>
                  </a:lnTo>
                  <a:lnTo>
                    <a:pt x="365759" y="182880"/>
                  </a:lnTo>
                  <a:lnTo>
                    <a:pt x="364214" y="158973"/>
                  </a:lnTo>
                  <a:lnTo>
                    <a:pt x="351947" y="112917"/>
                  </a:lnTo>
                  <a:lnTo>
                    <a:pt x="327885" y="71564"/>
                  </a:lnTo>
                  <a:lnTo>
                    <a:pt x="294200" y="37881"/>
                  </a:lnTo>
                  <a:lnTo>
                    <a:pt x="252847" y="13823"/>
                  </a:lnTo>
                  <a:lnTo>
                    <a:pt x="206788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30553" y="1563118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80"/>
                  </a:moveTo>
                  <a:lnTo>
                    <a:pt x="1547" y="158973"/>
                  </a:lnTo>
                  <a:lnTo>
                    <a:pt x="6165" y="135540"/>
                  </a:lnTo>
                  <a:lnTo>
                    <a:pt x="24485" y="91440"/>
                  </a:lnTo>
                  <a:lnTo>
                    <a:pt x="53647" y="53643"/>
                  </a:lnTo>
                  <a:lnTo>
                    <a:pt x="91439" y="24485"/>
                  </a:lnTo>
                  <a:lnTo>
                    <a:pt x="135545" y="6165"/>
                  </a:lnTo>
                  <a:lnTo>
                    <a:pt x="182879" y="0"/>
                  </a:lnTo>
                  <a:lnTo>
                    <a:pt x="230224" y="6165"/>
                  </a:lnTo>
                  <a:lnTo>
                    <a:pt x="274320" y="24485"/>
                  </a:lnTo>
                  <a:lnTo>
                    <a:pt x="312123" y="53643"/>
                  </a:lnTo>
                  <a:lnTo>
                    <a:pt x="341287" y="91440"/>
                  </a:lnTo>
                  <a:lnTo>
                    <a:pt x="359600" y="135540"/>
                  </a:lnTo>
                  <a:lnTo>
                    <a:pt x="365759" y="182880"/>
                  </a:lnTo>
                  <a:lnTo>
                    <a:pt x="364214" y="206788"/>
                  </a:lnTo>
                  <a:lnTo>
                    <a:pt x="359600" y="230224"/>
                  </a:lnTo>
                  <a:lnTo>
                    <a:pt x="341287" y="274320"/>
                  </a:lnTo>
                  <a:lnTo>
                    <a:pt x="312123" y="312123"/>
                  </a:lnTo>
                  <a:lnTo>
                    <a:pt x="274320" y="341287"/>
                  </a:lnTo>
                  <a:lnTo>
                    <a:pt x="230224" y="359595"/>
                  </a:lnTo>
                  <a:lnTo>
                    <a:pt x="182879" y="365760"/>
                  </a:lnTo>
                  <a:lnTo>
                    <a:pt x="135545" y="359595"/>
                  </a:lnTo>
                  <a:lnTo>
                    <a:pt x="91439" y="341287"/>
                  </a:lnTo>
                  <a:lnTo>
                    <a:pt x="53647" y="312123"/>
                  </a:lnTo>
                  <a:lnTo>
                    <a:pt x="24485" y="274320"/>
                  </a:lnTo>
                  <a:lnTo>
                    <a:pt x="6165" y="230224"/>
                  </a:lnTo>
                  <a:lnTo>
                    <a:pt x="1547" y="206788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59344" y="1633945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48714" y="2253197"/>
            <a:ext cx="6715759" cy="796290"/>
            <a:chOff x="1148714" y="2253197"/>
            <a:chExt cx="6715759" cy="796290"/>
          </a:xfrm>
        </p:grpSpPr>
        <p:sp>
          <p:nvSpPr>
            <p:cNvPr id="16" name="object 16"/>
            <p:cNvSpPr/>
            <p:nvPr/>
          </p:nvSpPr>
          <p:spPr>
            <a:xfrm>
              <a:off x="1153794" y="2258277"/>
              <a:ext cx="6705600" cy="786130"/>
            </a:xfrm>
            <a:custGeom>
              <a:avLst/>
              <a:gdLst/>
              <a:ahLst/>
              <a:cxnLst/>
              <a:rect l="l" t="t" r="r" b="b"/>
              <a:pathLst>
                <a:path w="6705600" h="786130">
                  <a:moveTo>
                    <a:pt x="6705358" y="0"/>
                  </a:moveTo>
                  <a:lnTo>
                    <a:pt x="0" y="0"/>
                  </a:lnTo>
                  <a:lnTo>
                    <a:pt x="0" y="785888"/>
                  </a:lnTo>
                  <a:lnTo>
                    <a:pt x="3352685" y="785888"/>
                  </a:lnTo>
                  <a:lnTo>
                    <a:pt x="6705358" y="785888"/>
                  </a:lnTo>
                  <a:lnTo>
                    <a:pt x="6705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53794" y="2258277"/>
              <a:ext cx="6705600" cy="786130"/>
            </a:xfrm>
            <a:custGeom>
              <a:avLst/>
              <a:gdLst/>
              <a:ahLst/>
              <a:cxnLst/>
              <a:rect l="l" t="t" r="r" b="b"/>
              <a:pathLst>
                <a:path w="6705600" h="786130">
                  <a:moveTo>
                    <a:pt x="3352685" y="785888"/>
                  </a:moveTo>
                  <a:lnTo>
                    <a:pt x="0" y="785888"/>
                  </a:lnTo>
                  <a:lnTo>
                    <a:pt x="0" y="0"/>
                  </a:lnTo>
                  <a:lnTo>
                    <a:pt x="6705358" y="0"/>
                  </a:lnTo>
                  <a:lnTo>
                    <a:pt x="6705358" y="785888"/>
                  </a:lnTo>
                  <a:lnTo>
                    <a:pt x="3352685" y="785888"/>
                  </a:lnTo>
                  <a:close/>
                </a:path>
              </a:pathLst>
            </a:custGeom>
            <a:ln w="1007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90536" y="2455102"/>
            <a:ext cx="29146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17866" y="2400448"/>
            <a:ext cx="34226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90" dirty="0">
                <a:latin typeface="MingLiU_HKSCS-ExtB"/>
                <a:cs typeface="MingLiU_HKSCS-ExtB"/>
              </a:rPr>
              <a:t>💬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93062" y="2294380"/>
            <a:ext cx="5505450" cy="72199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Chatbot</a:t>
            </a:r>
            <a:r>
              <a:rPr sz="1300" b="1" spc="-4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Stratégique</a:t>
            </a:r>
            <a:r>
              <a:rPr sz="1300" b="1" spc="-4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0E1629"/>
                </a:solidFill>
                <a:latin typeface="Calibri"/>
                <a:cs typeface="Calibri"/>
              </a:rPr>
              <a:t>IA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25"/>
              </a:spcBef>
            </a:pP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Assistant</a:t>
            </a:r>
            <a:r>
              <a:rPr sz="105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conversationnel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spécialisé</a:t>
            </a:r>
            <a:r>
              <a:rPr sz="105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finance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et</a:t>
            </a:r>
            <a:r>
              <a:rPr sz="105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investissement.</a:t>
            </a:r>
            <a:r>
              <a:rPr sz="105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Questions</a:t>
            </a:r>
            <a:r>
              <a:rPr sz="105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en</a:t>
            </a:r>
            <a:r>
              <a:rPr sz="105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langage</a:t>
            </a:r>
            <a:r>
              <a:rPr sz="105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naturel,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réponses sourcées</a:t>
            </a:r>
            <a:r>
              <a:rPr sz="105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et</a:t>
            </a:r>
            <a:r>
              <a:rPr sz="105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traçables.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624254" y="2453222"/>
            <a:ext cx="378460" cy="378460"/>
            <a:chOff x="7624254" y="2453222"/>
            <a:chExt cx="378460" cy="378460"/>
          </a:xfrm>
        </p:grpSpPr>
        <p:sp>
          <p:nvSpPr>
            <p:cNvPr id="22" name="object 22"/>
            <p:cNvSpPr/>
            <p:nvPr/>
          </p:nvSpPr>
          <p:spPr>
            <a:xfrm>
              <a:off x="7630553" y="2459522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45" y="6165"/>
                  </a:lnTo>
                  <a:lnTo>
                    <a:pt x="91439" y="24485"/>
                  </a:lnTo>
                  <a:lnTo>
                    <a:pt x="53647" y="53638"/>
                  </a:lnTo>
                  <a:lnTo>
                    <a:pt x="24485" y="91439"/>
                  </a:lnTo>
                  <a:lnTo>
                    <a:pt x="6165" y="135540"/>
                  </a:lnTo>
                  <a:lnTo>
                    <a:pt x="0" y="182880"/>
                  </a:lnTo>
                  <a:lnTo>
                    <a:pt x="1547" y="206786"/>
                  </a:lnTo>
                  <a:lnTo>
                    <a:pt x="13823" y="252842"/>
                  </a:lnTo>
                  <a:lnTo>
                    <a:pt x="37886" y="294200"/>
                  </a:lnTo>
                  <a:lnTo>
                    <a:pt x="71566" y="327880"/>
                  </a:lnTo>
                  <a:lnTo>
                    <a:pt x="112919" y="351936"/>
                  </a:lnTo>
                  <a:lnTo>
                    <a:pt x="158978" y="364212"/>
                  </a:lnTo>
                  <a:lnTo>
                    <a:pt x="182879" y="365760"/>
                  </a:lnTo>
                  <a:lnTo>
                    <a:pt x="206788" y="364212"/>
                  </a:lnTo>
                  <a:lnTo>
                    <a:pt x="252847" y="351936"/>
                  </a:lnTo>
                  <a:lnTo>
                    <a:pt x="294200" y="327880"/>
                  </a:lnTo>
                  <a:lnTo>
                    <a:pt x="327885" y="294200"/>
                  </a:lnTo>
                  <a:lnTo>
                    <a:pt x="351947" y="252842"/>
                  </a:lnTo>
                  <a:lnTo>
                    <a:pt x="364214" y="206786"/>
                  </a:lnTo>
                  <a:lnTo>
                    <a:pt x="365759" y="182880"/>
                  </a:lnTo>
                  <a:lnTo>
                    <a:pt x="364214" y="158973"/>
                  </a:lnTo>
                  <a:lnTo>
                    <a:pt x="351947" y="112917"/>
                  </a:lnTo>
                  <a:lnTo>
                    <a:pt x="327885" y="71559"/>
                  </a:lnTo>
                  <a:lnTo>
                    <a:pt x="294200" y="37879"/>
                  </a:lnTo>
                  <a:lnTo>
                    <a:pt x="252847" y="13823"/>
                  </a:lnTo>
                  <a:lnTo>
                    <a:pt x="206788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30553" y="2459522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80"/>
                  </a:moveTo>
                  <a:lnTo>
                    <a:pt x="1547" y="158973"/>
                  </a:lnTo>
                  <a:lnTo>
                    <a:pt x="6165" y="135540"/>
                  </a:lnTo>
                  <a:lnTo>
                    <a:pt x="24485" y="91439"/>
                  </a:lnTo>
                  <a:lnTo>
                    <a:pt x="53647" y="53638"/>
                  </a:lnTo>
                  <a:lnTo>
                    <a:pt x="91439" y="24485"/>
                  </a:lnTo>
                  <a:lnTo>
                    <a:pt x="135545" y="6165"/>
                  </a:lnTo>
                  <a:lnTo>
                    <a:pt x="182879" y="0"/>
                  </a:lnTo>
                  <a:lnTo>
                    <a:pt x="230224" y="6165"/>
                  </a:lnTo>
                  <a:lnTo>
                    <a:pt x="274320" y="24485"/>
                  </a:lnTo>
                  <a:lnTo>
                    <a:pt x="312123" y="53638"/>
                  </a:lnTo>
                  <a:lnTo>
                    <a:pt x="341287" y="91439"/>
                  </a:lnTo>
                  <a:lnTo>
                    <a:pt x="359600" y="135540"/>
                  </a:lnTo>
                  <a:lnTo>
                    <a:pt x="365759" y="182880"/>
                  </a:lnTo>
                  <a:lnTo>
                    <a:pt x="364214" y="206786"/>
                  </a:lnTo>
                  <a:lnTo>
                    <a:pt x="359600" y="230219"/>
                  </a:lnTo>
                  <a:lnTo>
                    <a:pt x="341287" y="274319"/>
                  </a:lnTo>
                  <a:lnTo>
                    <a:pt x="312123" y="312121"/>
                  </a:lnTo>
                  <a:lnTo>
                    <a:pt x="274320" y="341274"/>
                  </a:lnTo>
                  <a:lnTo>
                    <a:pt x="230224" y="359594"/>
                  </a:lnTo>
                  <a:lnTo>
                    <a:pt x="182879" y="365760"/>
                  </a:lnTo>
                  <a:lnTo>
                    <a:pt x="135545" y="359594"/>
                  </a:lnTo>
                  <a:lnTo>
                    <a:pt x="91439" y="341274"/>
                  </a:lnTo>
                  <a:lnTo>
                    <a:pt x="53647" y="312121"/>
                  </a:lnTo>
                  <a:lnTo>
                    <a:pt x="24485" y="274319"/>
                  </a:lnTo>
                  <a:lnTo>
                    <a:pt x="6165" y="230219"/>
                  </a:lnTo>
                  <a:lnTo>
                    <a:pt x="1547" y="206786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759344" y="2530337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48714" y="3149246"/>
            <a:ext cx="6715759" cy="796290"/>
            <a:chOff x="1148714" y="3149246"/>
            <a:chExt cx="6715759" cy="796290"/>
          </a:xfrm>
        </p:grpSpPr>
        <p:sp>
          <p:nvSpPr>
            <p:cNvPr id="26" name="object 26"/>
            <p:cNvSpPr/>
            <p:nvPr/>
          </p:nvSpPr>
          <p:spPr>
            <a:xfrm>
              <a:off x="1153794" y="3154326"/>
              <a:ext cx="6705600" cy="786130"/>
            </a:xfrm>
            <a:custGeom>
              <a:avLst/>
              <a:gdLst/>
              <a:ahLst/>
              <a:cxnLst/>
              <a:rect l="l" t="t" r="r" b="b"/>
              <a:pathLst>
                <a:path w="6705600" h="786129">
                  <a:moveTo>
                    <a:pt x="6705358" y="0"/>
                  </a:moveTo>
                  <a:lnTo>
                    <a:pt x="0" y="0"/>
                  </a:lnTo>
                  <a:lnTo>
                    <a:pt x="0" y="785876"/>
                  </a:lnTo>
                  <a:lnTo>
                    <a:pt x="3352685" y="785876"/>
                  </a:lnTo>
                  <a:lnTo>
                    <a:pt x="6705358" y="785876"/>
                  </a:lnTo>
                  <a:lnTo>
                    <a:pt x="6705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53794" y="3154326"/>
              <a:ext cx="6705600" cy="786130"/>
            </a:xfrm>
            <a:custGeom>
              <a:avLst/>
              <a:gdLst/>
              <a:ahLst/>
              <a:cxnLst/>
              <a:rect l="l" t="t" r="r" b="b"/>
              <a:pathLst>
                <a:path w="6705600" h="786129">
                  <a:moveTo>
                    <a:pt x="3352685" y="785876"/>
                  </a:moveTo>
                  <a:lnTo>
                    <a:pt x="0" y="785876"/>
                  </a:lnTo>
                  <a:lnTo>
                    <a:pt x="0" y="0"/>
                  </a:lnTo>
                  <a:lnTo>
                    <a:pt x="6705358" y="0"/>
                  </a:lnTo>
                  <a:lnTo>
                    <a:pt x="6705358" y="785876"/>
                  </a:lnTo>
                  <a:lnTo>
                    <a:pt x="3352685" y="785876"/>
                  </a:lnTo>
                  <a:close/>
                </a:path>
              </a:pathLst>
            </a:custGeom>
            <a:ln w="1007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90536" y="3351138"/>
            <a:ext cx="29146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17866" y="3296497"/>
            <a:ext cx="34226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90" dirty="0">
                <a:latin typeface="MingLiU_HKSCS-ExtB"/>
                <a:cs typeface="MingLiU_HKSCS-ExtB"/>
              </a:rPr>
              <a:t>🌍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93062" y="3289225"/>
            <a:ext cx="567309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Monitoring</a:t>
            </a:r>
            <a:r>
              <a:rPr sz="1300" b="1" spc="-5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Mondial</a:t>
            </a:r>
            <a:r>
              <a:rPr sz="1300" b="1" spc="-3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0E1629"/>
                </a:solidFill>
                <a:latin typeface="Calibri"/>
                <a:cs typeface="Calibri"/>
              </a:rPr>
              <a:t>Temps</a:t>
            </a:r>
            <a:r>
              <a:rPr sz="1300" b="1" spc="-3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E1629"/>
                </a:solidFill>
                <a:latin typeface="Calibri"/>
                <a:cs typeface="Calibri"/>
              </a:rPr>
              <a:t>Réel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Extension</a:t>
            </a:r>
            <a:r>
              <a:rPr sz="105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à 50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marchés internationaux. Couverture</a:t>
            </a:r>
            <a:r>
              <a:rPr sz="105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Afrique,</a:t>
            </a:r>
            <a:r>
              <a:rPr sz="1050" spc="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63738A"/>
                </a:solidFill>
                <a:latin typeface="Calibri"/>
                <a:cs typeface="Calibri"/>
              </a:rPr>
              <a:t>Moyen-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Orient,</a:t>
            </a:r>
            <a:r>
              <a:rPr sz="105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Europe</a:t>
            </a:r>
            <a:r>
              <a:rPr sz="105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et</a:t>
            </a:r>
            <a:r>
              <a:rPr sz="105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Amérique</a:t>
            </a:r>
            <a:r>
              <a:rPr sz="105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du</a:t>
            </a:r>
            <a:r>
              <a:rPr sz="105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Nord.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624254" y="3349257"/>
            <a:ext cx="378460" cy="378460"/>
            <a:chOff x="7624254" y="3349257"/>
            <a:chExt cx="378460" cy="378460"/>
          </a:xfrm>
        </p:grpSpPr>
        <p:sp>
          <p:nvSpPr>
            <p:cNvPr id="32" name="object 32"/>
            <p:cNvSpPr/>
            <p:nvPr/>
          </p:nvSpPr>
          <p:spPr>
            <a:xfrm>
              <a:off x="7630553" y="3355557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45" y="6165"/>
                  </a:lnTo>
                  <a:lnTo>
                    <a:pt x="91439" y="24485"/>
                  </a:lnTo>
                  <a:lnTo>
                    <a:pt x="53647" y="53643"/>
                  </a:lnTo>
                  <a:lnTo>
                    <a:pt x="24485" y="91440"/>
                  </a:lnTo>
                  <a:lnTo>
                    <a:pt x="6165" y="135540"/>
                  </a:lnTo>
                  <a:lnTo>
                    <a:pt x="0" y="182880"/>
                  </a:lnTo>
                  <a:lnTo>
                    <a:pt x="1547" y="206788"/>
                  </a:lnTo>
                  <a:lnTo>
                    <a:pt x="13823" y="252847"/>
                  </a:lnTo>
                  <a:lnTo>
                    <a:pt x="37886" y="294200"/>
                  </a:lnTo>
                  <a:lnTo>
                    <a:pt x="71566" y="327885"/>
                  </a:lnTo>
                  <a:lnTo>
                    <a:pt x="112919" y="351942"/>
                  </a:lnTo>
                  <a:lnTo>
                    <a:pt x="158978" y="364213"/>
                  </a:lnTo>
                  <a:lnTo>
                    <a:pt x="182879" y="365760"/>
                  </a:lnTo>
                  <a:lnTo>
                    <a:pt x="206788" y="364213"/>
                  </a:lnTo>
                  <a:lnTo>
                    <a:pt x="252847" y="351942"/>
                  </a:lnTo>
                  <a:lnTo>
                    <a:pt x="294200" y="327885"/>
                  </a:lnTo>
                  <a:lnTo>
                    <a:pt x="327885" y="294200"/>
                  </a:lnTo>
                  <a:lnTo>
                    <a:pt x="351947" y="252847"/>
                  </a:lnTo>
                  <a:lnTo>
                    <a:pt x="364214" y="206788"/>
                  </a:lnTo>
                  <a:lnTo>
                    <a:pt x="365759" y="182880"/>
                  </a:lnTo>
                  <a:lnTo>
                    <a:pt x="364214" y="158973"/>
                  </a:lnTo>
                  <a:lnTo>
                    <a:pt x="351947" y="112917"/>
                  </a:lnTo>
                  <a:lnTo>
                    <a:pt x="327885" y="71564"/>
                  </a:lnTo>
                  <a:lnTo>
                    <a:pt x="294200" y="37881"/>
                  </a:lnTo>
                  <a:lnTo>
                    <a:pt x="252847" y="13823"/>
                  </a:lnTo>
                  <a:lnTo>
                    <a:pt x="206788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630553" y="3355557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80"/>
                  </a:moveTo>
                  <a:lnTo>
                    <a:pt x="1547" y="158973"/>
                  </a:lnTo>
                  <a:lnTo>
                    <a:pt x="6165" y="135540"/>
                  </a:lnTo>
                  <a:lnTo>
                    <a:pt x="24485" y="91440"/>
                  </a:lnTo>
                  <a:lnTo>
                    <a:pt x="53647" y="53643"/>
                  </a:lnTo>
                  <a:lnTo>
                    <a:pt x="91439" y="24485"/>
                  </a:lnTo>
                  <a:lnTo>
                    <a:pt x="135545" y="6165"/>
                  </a:lnTo>
                  <a:lnTo>
                    <a:pt x="182879" y="0"/>
                  </a:lnTo>
                  <a:lnTo>
                    <a:pt x="230224" y="6165"/>
                  </a:lnTo>
                  <a:lnTo>
                    <a:pt x="274320" y="24485"/>
                  </a:lnTo>
                  <a:lnTo>
                    <a:pt x="312123" y="53643"/>
                  </a:lnTo>
                  <a:lnTo>
                    <a:pt x="341287" y="91440"/>
                  </a:lnTo>
                  <a:lnTo>
                    <a:pt x="359600" y="135540"/>
                  </a:lnTo>
                  <a:lnTo>
                    <a:pt x="365759" y="182880"/>
                  </a:lnTo>
                  <a:lnTo>
                    <a:pt x="364214" y="206788"/>
                  </a:lnTo>
                  <a:lnTo>
                    <a:pt x="359600" y="230224"/>
                  </a:lnTo>
                  <a:lnTo>
                    <a:pt x="341287" y="274320"/>
                  </a:lnTo>
                  <a:lnTo>
                    <a:pt x="312123" y="312123"/>
                  </a:lnTo>
                  <a:lnTo>
                    <a:pt x="274320" y="341287"/>
                  </a:lnTo>
                  <a:lnTo>
                    <a:pt x="230224" y="359595"/>
                  </a:lnTo>
                  <a:lnTo>
                    <a:pt x="182879" y="365760"/>
                  </a:lnTo>
                  <a:lnTo>
                    <a:pt x="135545" y="359595"/>
                  </a:lnTo>
                  <a:lnTo>
                    <a:pt x="91439" y="341287"/>
                  </a:lnTo>
                  <a:lnTo>
                    <a:pt x="53647" y="312123"/>
                  </a:lnTo>
                  <a:lnTo>
                    <a:pt x="24485" y="274320"/>
                  </a:lnTo>
                  <a:lnTo>
                    <a:pt x="6165" y="230224"/>
                  </a:lnTo>
                  <a:lnTo>
                    <a:pt x="1547" y="206788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0C93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59344" y="3426385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148714" y="4045282"/>
            <a:ext cx="6715759" cy="796290"/>
            <a:chOff x="1148714" y="4045282"/>
            <a:chExt cx="6715759" cy="796290"/>
          </a:xfrm>
        </p:grpSpPr>
        <p:sp>
          <p:nvSpPr>
            <p:cNvPr id="36" name="object 36"/>
            <p:cNvSpPr/>
            <p:nvPr/>
          </p:nvSpPr>
          <p:spPr>
            <a:xfrm>
              <a:off x="1153794" y="4050362"/>
              <a:ext cx="6705600" cy="786130"/>
            </a:xfrm>
            <a:custGeom>
              <a:avLst/>
              <a:gdLst/>
              <a:ahLst/>
              <a:cxnLst/>
              <a:rect l="l" t="t" r="r" b="b"/>
              <a:pathLst>
                <a:path w="6705600" h="786129">
                  <a:moveTo>
                    <a:pt x="6705358" y="0"/>
                  </a:moveTo>
                  <a:lnTo>
                    <a:pt x="0" y="0"/>
                  </a:lnTo>
                  <a:lnTo>
                    <a:pt x="0" y="785875"/>
                  </a:lnTo>
                  <a:lnTo>
                    <a:pt x="3352685" y="785875"/>
                  </a:lnTo>
                  <a:lnTo>
                    <a:pt x="6705358" y="785875"/>
                  </a:lnTo>
                  <a:lnTo>
                    <a:pt x="6705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153794" y="4050362"/>
              <a:ext cx="6705600" cy="786130"/>
            </a:xfrm>
            <a:custGeom>
              <a:avLst/>
              <a:gdLst/>
              <a:ahLst/>
              <a:cxnLst/>
              <a:rect l="l" t="t" r="r" b="b"/>
              <a:pathLst>
                <a:path w="6705600" h="786129">
                  <a:moveTo>
                    <a:pt x="3352685" y="785875"/>
                  </a:moveTo>
                  <a:lnTo>
                    <a:pt x="0" y="785875"/>
                  </a:lnTo>
                  <a:lnTo>
                    <a:pt x="0" y="0"/>
                  </a:lnTo>
                  <a:lnTo>
                    <a:pt x="6705358" y="0"/>
                  </a:lnTo>
                  <a:lnTo>
                    <a:pt x="6705358" y="785875"/>
                  </a:lnTo>
                  <a:lnTo>
                    <a:pt x="3352685" y="785875"/>
                  </a:lnTo>
                  <a:close/>
                </a:path>
              </a:pathLst>
            </a:custGeom>
            <a:ln w="10079">
              <a:solidFill>
                <a:srgbClr val="CAD4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90536" y="4247186"/>
            <a:ext cx="29146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317866" y="4192888"/>
            <a:ext cx="34226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90" dirty="0">
                <a:latin typeface="MingLiU_HKSCS-ExtB"/>
                <a:cs typeface="MingLiU_HKSCS-ExtB"/>
              </a:rPr>
              <a:t>📈</a:t>
            </a:r>
            <a:endParaRPr sz="2350">
              <a:latin typeface="MingLiU_HKSCS-ExtB"/>
              <a:cs typeface="MingLiU_HKSCS-ExtB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793062" y="4086265"/>
            <a:ext cx="5645785" cy="64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98925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E1629"/>
                </a:solidFill>
                <a:latin typeface="Calibri"/>
                <a:cs typeface="Calibri"/>
              </a:rPr>
              <a:t>Analyse</a:t>
            </a:r>
            <a:r>
              <a:rPr sz="1300" b="1" spc="-35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Prédictive</a:t>
            </a:r>
            <a:r>
              <a:rPr sz="1300" b="1" spc="-30" dirty="0">
                <a:solidFill>
                  <a:srgbClr val="0E1629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0E1629"/>
                </a:solidFill>
                <a:latin typeface="Calibri"/>
                <a:cs typeface="Calibri"/>
              </a:rPr>
              <a:t>des </a:t>
            </a:r>
            <a:r>
              <a:rPr sz="1300" b="1" spc="-10" dirty="0">
                <a:solidFill>
                  <a:srgbClr val="0E1629"/>
                </a:solidFill>
                <a:latin typeface="Calibri"/>
                <a:cs typeface="Calibri"/>
              </a:rPr>
              <a:t>Investissements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IA</a:t>
            </a:r>
            <a:r>
              <a:rPr sz="105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de</a:t>
            </a:r>
            <a:r>
              <a:rPr sz="105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recommendation</a:t>
            </a:r>
            <a:r>
              <a:rPr sz="105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de</a:t>
            </a:r>
            <a:r>
              <a:rPr sz="1050" spc="-3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portefeuille,</a:t>
            </a:r>
            <a:r>
              <a:rPr sz="105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simulation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 d'impact,</a:t>
            </a:r>
            <a:r>
              <a:rPr sz="105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optimisation</a:t>
            </a:r>
            <a:r>
              <a:rPr sz="105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du</a:t>
            </a:r>
            <a:r>
              <a:rPr sz="105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rendement</a:t>
            </a:r>
            <a:r>
              <a:rPr sz="1050" spc="-2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ajusté</a:t>
            </a:r>
            <a:r>
              <a:rPr sz="105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38A"/>
                </a:solidFill>
                <a:latin typeface="Calibri"/>
                <a:cs typeface="Calibri"/>
              </a:rPr>
              <a:t>au</a:t>
            </a:r>
            <a:r>
              <a:rPr sz="105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38A"/>
                </a:solidFill>
                <a:latin typeface="Calibri"/>
                <a:cs typeface="Calibri"/>
              </a:rPr>
              <a:t>risque.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624254" y="4245306"/>
            <a:ext cx="378460" cy="378460"/>
            <a:chOff x="7624254" y="4245306"/>
            <a:chExt cx="378460" cy="378460"/>
          </a:xfrm>
        </p:grpSpPr>
        <p:sp>
          <p:nvSpPr>
            <p:cNvPr id="42" name="object 42"/>
            <p:cNvSpPr/>
            <p:nvPr/>
          </p:nvSpPr>
          <p:spPr>
            <a:xfrm>
              <a:off x="7630553" y="425160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45" y="6164"/>
                  </a:lnTo>
                  <a:lnTo>
                    <a:pt x="91439" y="24472"/>
                  </a:lnTo>
                  <a:lnTo>
                    <a:pt x="53647" y="53636"/>
                  </a:lnTo>
                  <a:lnTo>
                    <a:pt x="24485" y="91440"/>
                  </a:lnTo>
                  <a:lnTo>
                    <a:pt x="6165" y="135535"/>
                  </a:lnTo>
                  <a:lnTo>
                    <a:pt x="0" y="182880"/>
                  </a:lnTo>
                  <a:lnTo>
                    <a:pt x="1547" y="206781"/>
                  </a:lnTo>
                  <a:lnTo>
                    <a:pt x="13823" y="252840"/>
                  </a:lnTo>
                  <a:lnTo>
                    <a:pt x="37886" y="294195"/>
                  </a:lnTo>
                  <a:lnTo>
                    <a:pt x="71566" y="327878"/>
                  </a:lnTo>
                  <a:lnTo>
                    <a:pt x="112919" y="351936"/>
                  </a:lnTo>
                  <a:lnTo>
                    <a:pt x="158978" y="364212"/>
                  </a:lnTo>
                  <a:lnTo>
                    <a:pt x="182879" y="365760"/>
                  </a:lnTo>
                  <a:lnTo>
                    <a:pt x="206788" y="364212"/>
                  </a:lnTo>
                  <a:lnTo>
                    <a:pt x="252847" y="351936"/>
                  </a:lnTo>
                  <a:lnTo>
                    <a:pt x="294200" y="327878"/>
                  </a:lnTo>
                  <a:lnTo>
                    <a:pt x="327885" y="294195"/>
                  </a:lnTo>
                  <a:lnTo>
                    <a:pt x="351947" y="252840"/>
                  </a:lnTo>
                  <a:lnTo>
                    <a:pt x="364214" y="206781"/>
                  </a:lnTo>
                  <a:lnTo>
                    <a:pt x="365759" y="182880"/>
                  </a:lnTo>
                  <a:lnTo>
                    <a:pt x="364214" y="158971"/>
                  </a:lnTo>
                  <a:lnTo>
                    <a:pt x="351947" y="112912"/>
                  </a:lnTo>
                  <a:lnTo>
                    <a:pt x="327885" y="71559"/>
                  </a:lnTo>
                  <a:lnTo>
                    <a:pt x="294200" y="37874"/>
                  </a:lnTo>
                  <a:lnTo>
                    <a:pt x="252847" y="13817"/>
                  </a:lnTo>
                  <a:lnTo>
                    <a:pt x="206788" y="1546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30553" y="425160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80"/>
                  </a:moveTo>
                  <a:lnTo>
                    <a:pt x="1547" y="158971"/>
                  </a:lnTo>
                  <a:lnTo>
                    <a:pt x="6165" y="135535"/>
                  </a:lnTo>
                  <a:lnTo>
                    <a:pt x="24485" y="91440"/>
                  </a:lnTo>
                  <a:lnTo>
                    <a:pt x="53647" y="53636"/>
                  </a:lnTo>
                  <a:lnTo>
                    <a:pt x="91439" y="24472"/>
                  </a:lnTo>
                  <a:lnTo>
                    <a:pt x="135545" y="6164"/>
                  </a:lnTo>
                  <a:lnTo>
                    <a:pt x="182879" y="0"/>
                  </a:lnTo>
                  <a:lnTo>
                    <a:pt x="230224" y="6164"/>
                  </a:lnTo>
                  <a:lnTo>
                    <a:pt x="274320" y="24472"/>
                  </a:lnTo>
                  <a:lnTo>
                    <a:pt x="312123" y="53636"/>
                  </a:lnTo>
                  <a:lnTo>
                    <a:pt x="341287" y="91440"/>
                  </a:lnTo>
                  <a:lnTo>
                    <a:pt x="359600" y="135535"/>
                  </a:lnTo>
                  <a:lnTo>
                    <a:pt x="365759" y="182880"/>
                  </a:lnTo>
                  <a:lnTo>
                    <a:pt x="364214" y="206781"/>
                  </a:lnTo>
                  <a:lnTo>
                    <a:pt x="359600" y="230214"/>
                  </a:lnTo>
                  <a:lnTo>
                    <a:pt x="341287" y="274320"/>
                  </a:lnTo>
                  <a:lnTo>
                    <a:pt x="312123" y="312116"/>
                  </a:lnTo>
                  <a:lnTo>
                    <a:pt x="274320" y="341274"/>
                  </a:lnTo>
                  <a:lnTo>
                    <a:pt x="230224" y="359594"/>
                  </a:lnTo>
                  <a:lnTo>
                    <a:pt x="182879" y="365760"/>
                  </a:lnTo>
                  <a:lnTo>
                    <a:pt x="135545" y="359594"/>
                  </a:lnTo>
                  <a:lnTo>
                    <a:pt x="91439" y="341274"/>
                  </a:lnTo>
                  <a:lnTo>
                    <a:pt x="53647" y="312116"/>
                  </a:lnTo>
                  <a:lnTo>
                    <a:pt x="24485" y="274320"/>
                  </a:lnTo>
                  <a:lnTo>
                    <a:pt x="6165" y="230214"/>
                  </a:lnTo>
                  <a:lnTo>
                    <a:pt x="1547" y="206781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759344" y="4322421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53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3F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/>
          <p:cNvSpPr/>
          <p:nvPr/>
        </p:nvSpPr>
        <p:spPr>
          <a:xfrm>
            <a:off x="1399896" y="1011259"/>
            <a:ext cx="45720" cy="2377440"/>
          </a:xfrm>
          <a:custGeom>
            <a:avLst/>
            <a:gdLst/>
            <a:ahLst/>
            <a:cxnLst/>
            <a:rect l="l" t="t" r="r" b="b"/>
            <a:pathLst>
              <a:path w="45720" h="2377440">
                <a:moveTo>
                  <a:pt x="22682" y="2377071"/>
                </a:moveTo>
                <a:lnTo>
                  <a:pt x="0" y="2377071"/>
                </a:lnTo>
                <a:lnTo>
                  <a:pt x="0" y="0"/>
                </a:lnTo>
                <a:lnTo>
                  <a:pt x="45364" y="0"/>
                </a:lnTo>
                <a:lnTo>
                  <a:pt x="45364" y="2377071"/>
                </a:lnTo>
                <a:lnTo>
                  <a:pt x="22682" y="2377071"/>
                </a:lnTo>
                <a:close/>
              </a:path>
            </a:pathLst>
          </a:custGeom>
          <a:ln w="12599">
            <a:solidFill>
              <a:srgbClr val="2462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1533460" y="989655"/>
            <a:ext cx="1835150" cy="253365"/>
            <a:chOff x="590764" y="1166762"/>
            <a:chExt cx="1835150" cy="253365"/>
          </a:xfrm>
        </p:grpSpPr>
        <p:sp>
          <p:nvSpPr>
            <p:cNvPr id="28" name="object 28"/>
            <p:cNvSpPr/>
            <p:nvPr/>
          </p:nvSpPr>
          <p:spPr>
            <a:xfrm>
              <a:off x="594004" y="1170002"/>
              <a:ext cx="1828800" cy="247015"/>
            </a:xfrm>
            <a:custGeom>
              <a:avLst/>
              <a:gdLst/>
              <a:ahLst/>
              <a:cxnLst/>
              <a:rect l="l" t="t" r="r" b="b"/>
              <a:pathLst>
                <a:path w="1828800" h="247015">
                  <a:moveTo>
                    <a:pt x="1828431" y="0"/>
                  </a:moveTo>
                  <a:lnTo>
                    <a:pt x="0" y="0"/>
                  </a:lnTo>
                  <a:lnTo>
                    <a:pt x="0" y="246595"/>
                  </a:lnTo>
                  <a:lnTo>
                    <a:pt x="914400" y="246595"/>
                  </a:lnTo>
                  <a:lnTo>
                    <a:pt x="1828431" y="246595"/>
                  </a:lnTo>
                  <a:lnTo>
                    <a:pt x="1828431" y="0"/>
                  </a:lnTo>
                  <a:close/>
                </a:path>
              </a:pathLst>
            </a:custGeom>
            <a:solidFill>
              <a:srgbClr val="1D39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4004" y="1170002"/>
              <a:ext cx="1828800" cy="247015"/>
            </a:xfrm>
            <a:custGeom>
              <a:avLst/>
              <a:gdLst/>
              <a:ahLst/>
              <a:cxnLst/>
              <a:rect l="l" t="t" r="r" b="b"/>
              <a:pathLst>
                <a:path w="1828800" h="247015">
                  <a:moveTo>
                    <a:pt x="914400" y="246595"/>
                  </a:moveTo>
                  <a:lnTo>
                    <a:pt x="0" y="246595"/>
                  </a:lnTo>
                  <a:lnTo>
                    <a:pt x="0" y="0"/>
                  </a:lnTo>
                  <a:lnTo>
                    <a:pt x="1828431" y="0"/>
                  </a:lnTo>
                  <a:lnTo>
                    <a:pt x="1828431" y="246595"/>
                  </a:lnTo>
                  <a:lnTo>
                    <a:pt x="914400" y="246595"/>
                  </a:lnTo>
                  <a:close/>
                </a:path>
              </a:pathLst>
            </a:custGeom>
            <a:ln w="6479">
              <a:solidFill>
                <a:srgbClr val="1D3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1524000" y="1349193"/>
            <a:ext cx="439483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E1E3C"/>
                </a:solidFill>
              </a:rPr>
              <a:t>Innovation</a:t>
            </a:r>
            <a:r>
              <a:rPr spc="-30" dirty="0">
                <a:solidFill>
                  <a:srgbClr val="0E1E3C"/>
                </a:solidFill>
              </a:rPr>
              <a:t> </a:t>
            </a:r>
            <a:r>
              <a:rPr dirty="0">
                <a:solidFill>
                  <a:srgbClr val="0E1E3C"/>
                </a:solidFill>
              </a:rPr>
              <a:t>·</a:t>
            </a:r>
            <a:r>
              <a:rPr spc="-30" dirty="0">
                <a:solidFill>
                  <a:srgbClr val="0E1E3C"/>
                </a:solidFill>
              </a:rPr>
              <a:t> </a:t>
            </a:r>
            <a:r>
              <a:rPr dirty="0">
                <a:solidFill>
                  <a:srgbClr val="0E1E3C"/>
                </a:solidFill>
              </a:rPr>
              <a:t>IA</a:t>
            </a:r>
            <a:r>
              <a:rPr spc="-25" dirty="0">
                <a:solidFill>
                  <a:srgbClr val="0E1E3C"/>
                </a:solidFill>
              </a:rPr>
              <a:t> </a:t>
            </a:r>
            <a:r>
              <a:rPr dirty="0">
                <a:solidFill>
                  <a:srgbClr val="0E1E3C"/>
                </a:solidFill>
              </a:rPr>
              <a:t>·</a:t>
            </a:r>
            <a:r>
              <a:rPr spc="-30" dirty="0">
                <a:solidFill>
                  <a:srgbClr val="0E1E3C"/>
                </a:solidFill>
              </a:rPr>
              <a:t> </a:t>
            </a:r>
            <a:r>
              <a:rPr spc="-10" dirty="0">
                <a:solidFill>
                  <a:srgbClr val="0E1E3C"/>
                </a:solidFill>
              </a:rPr>
              <a:t>Automatisation</a:t>
            </a:r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0756" y="2394911"/>
            <a:ext cx="122403" cy="12240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0756" y="2760671"/>
            <a:ext cx="122403" cy="12240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0756" y="3126799"/>
            <a:ext cx="122403" cy="122391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0756" y="3492559"/>
            <a:ext cx="122403" cy="122391"/>
          </a:xfrm>
          <a:prstGeom prst="rect">
            <a:avLst/>
          </a:prstGeom>
        </p:spPr>
      </p:pic>
      <p:sp>
        <p:nvSpPr>
          <p:cNvPr id="35" name="object 35"/>
          <p:cNvSpPr txBox="1">
            <a:spLocks noGrp="1"/>
          </p:cNvSpPr>
          <p:nvPr>
            <p:ph type="body" idx="1"/>
          </p:nvPr>
        </p:nvSpPr>
        <p:spPr>
          <a:xfrm>
            <a:off x="1524000" y="1821519"/>
            <a:ext cx="3776345" cy="191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Aide</a:t>
            </a:r>
            <a:r>
              <a:rPr spc="-35" dirty="0"/>
              <a:t> </a:t>
            </a:r>
            <a:r>
              <a:rPr dirty="0"/>
              <a:t>à</a:t>
            </a:r>
            <a:r>
              <a:rPr spc="-30" dirty="0"/>
              <a:t> </a:t>
            </a:r>
            <a:r>
              <a:rPr dirty="0"/>
              <a:t>la</a:t>
            </a:r>
            <a:r>
              <a:rPr spc="-30" dirty="0"/>
              <a:t> </a:t>
            </a:r>
            <a:r>
              <a:rPr dirty="0"/>
              <a:t>Décision</a:t>
            </a:r>
            <a:r>
              <a:rPr spc="-25" dirty="0"/>
              <a:t> </a:t>
            </a:r>
            <a:r>
              <a:rPr spc="-10" dirty="0"/>
              <a:t>Stratégique</a:t>
            </a:r>
          </a:p>
          <a:p>
            <a:pPr marL="204470" marR="558165">
              <a:lnSpc>
                <a:spcPct val="192000"/>
              </a:lnSpc>
              <a:spcBef>
                <a:spcPts val="459"/>
              </a:spcBef>
            </a:pP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9</a:t>
            </a:r>
            <a:r>
              <a:rPr sz="1250" b="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spc="-10" dirty="0">
                <a:solidFill>
                  <a:schemeClr val="tx1"/>
                </a:solidFill>
                <a:latin typeface="Calibri"/>
                <a:cs typeface="Calibri"/>
              </a:rPr>
              <a:t>secteurs</a:t>
            </a:r>
            <a:r>
              <a:rPr sz="1250" b="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·</a:t>
            </a:r>
            <a:r>
              <a:rPr sz="1250" b="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50+</a:t>
            </a:r>
            <a:r>
              <a:rPr sz="1250" b="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spc="-10" dirty="0">
                <a:solidFill>
                  <a:schemeClr val="tx1"/>
                </a:solidFill>
                <a:latin typeface="Calibri"/>
                <a:cs typeface="Calibri"/>
              </a:rPr>
              <a:t>sources</a:t>
            </a:r>
            <a:r>
              <a:rPr sz="1250" b="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·</a:t>
            </a:r>
            <a:r>
              <a:rPr sz="1250" b="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Analyse</a:t>
            </a:r>
            <a:r>
              <a:rPr sz="1250" b="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temps</a:t>
            </a:r>
            <a:r>
              <a:rPr sz="1250" b="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spc="-20" dirty="0">
                <a:solidFill>
                  <a:schemeClr val="tx1"/>
                </a:solidFill>
                <a:latin typeface="Calibri"/>
                <a:cs typeface="Calibri"/>
              </a:rPr>
              <a:t>réel</a:t>
            </a:r>
            <a:r>
              <a:rPr sz="1250" b="0" spc="5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IA</a:t>
            </a:r>
            <a:r>
              <a:rPr sz="1250" b="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:</a:t>
            </a:r>
            <a:r>
              <a:rPr sz="1250" b="0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NLP</a:t>
            </a:r>
            <a:r>
              <a:rPr sz="1250" b="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+</a:t>
            </a:r>
            <a:r>
              <a:rPr sz="1250" b="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ML</a:t>
            </a:r>
            <a:r>
              <a:rPr sz="1250" b="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+</a:t>
            </a:r>
            <a:r>
              <a:rPr sz="1250" b="0" spc="-10" dirty="0">
                <a:solidFill>
                  <a:schemeClr val="tx1"/>
                </a:solidFill>
                <a:latin typeface="Calibri"/>
                <a:cs typeface="Calibri"/>
              </a:rPr>
              <a:t> Prédictif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+</a:t>
            </a:r>
            <a:r>
              <a:rPr sz="1250" b="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spc="-10" dirty="0">
                <a:solidFill>
                  <a:schemeClr val="tx1"/>
                </a:solidFill>
                <a:latin typeface="Calibri"/>
                <a:cs typeface="Calibri"/>
              </a:rPr>
              <a:t>Détection</a:t>
            </a:r>
            <a:r>
              <a:rPr sz="1250" b="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spc="-10" dirty="0">
                <a:solidFill>
                  <a:schemeClr val="tx1"/>
                </a:solidFill>
                <a:latin typeface="Calibri"/>
                <a:cs typeface="Calibri"/>
              </a:rPr>
              <a:t>anomalies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Rapports</a:t>
            </a:r>
            <a:r>
              <a:rPr sz="1250" b="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spc="-10" dirty="0">
                <a:solidFill>
                  <a:schemeClr val="tx1"/>
                </a:solidFill>
                <a:latin typeface="Calibri"/>
                <a:cs typeface="Calibri"/>
              </a:rPr>
              <a:t>automatiques</a:t>
            </a:r>
            <a:r>
              <a:rPr sz="1250" b="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·</a:t>
            </a:r>
            <a:r>
              <a:rPr sz="1250" b="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Alertes</a:t>
            </a:r>
            <a:r>
              <a:rPr sz="1250" b="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spc="-10" dirty="0">
                <a:solidFill>
                  <a:schemeClr val="tx1"/>
                </a:solidFill>
                <a:latin typeface="Calibri"/>
                <a:cs typeface="Calibri"/>
              </a:rPr>
              <a:t>intelligentes Pour</a:t>
            </a:r>
            <a:r>
              <a:rPr sz="1250" b="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banques,</a:t>
            </a:r>
            <a:r>
              <a:rPr sz="1250" b="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spc="-10" dirty="0">
                <a:solidFill>
                  <a:schemeClr val="tx1"/>
                </a:solidFill>
                <a:latin typeface="Calibri"/>
                <a:cs typeface="Calibri"/>
              </a:rPr>
              <a:t>fonds</a:t>
            </a:r>
            <a:r>
              <a:rPr sz="1250" b="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VC</a:t>
            </a:r>
            <a:r>
              <a:rPr sz="1250" b="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chemeClr val="tx1"/>
                </a:solidFill>
                <a:latin typeface="Calibri"/>
                <a:cs typeface="Calibri"/>
              </a:rPr>
              <a:t>et</a:t>
            </a:r>
            <a:r>
              <a:rPr sz="1250" b="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spc="-10" dirty="0">
                <a:solidFill>
                  <a:schemeClr val="tx1"/>
                </a:solidFill>
                <a:latin typeface="Calibri"/>
                <a:cs typeface="Calibri"/>
              </a:rPr>
              <a:t>analystes</a:t>
            </a:r>
            <a:r>
              <a:rPr sz="1250" b="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250" b="0" spc="-10" dirty="0">
                <a:solidFill>
                  <a:schemeClr val="tx1"/>
                </a:solidFill>
                <a:latin typeface="Calibri"/>
                <a:cs typeface="Calibri"/>
              </a:rPr>
              <a:t>financiers</a:t>
            </a:r>
            <a:endParaRPr sz="125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-6655" y="4638422"/>
            <a:ext cx="9156700" cy="510540"/>
            <a:chOff x="-6655" y="4638422"/>
            <a:chExt cx="9156700" cy="510540"/>
          </a:xfrm>
        </p:grpSpPr>
        <p:sp>
          <p:nvSpPr>
            <p:cNvPr id="37" name="object 37"/>
            <p:cNvSpPr/>
            <p:nvPr/>
          </p:nvSpPr>
          <p:spPr>
            <a:xfrm>
              <a:off x="-355" y="4644722"/>
              <a:ext cx="9144000" cy="498475"/>
            </a:xfrm>
            <a:custGeom>
              <a:avLst/>
              <a:gdLst/>
              <a:ahLst/>
              <a:cxnLst/>
              <a:rect l="l" t="t" r="r" b="b"/>
              <a:pathLst>
                <a:path w="9144000" h="498475">
                  <a:moveTo>
                    <a:pt x="9143631" y="0"/>
                  </a:moveTo>
                  <a:lnTo>
                    <a:pt x="0" y="0"/>
                  </a:lnTo>
                  <a:lnTo>
                    <a:pt x="0" y="497878"/>
                  </a:lnTo>
                  <a:lnTo>
                    <a:pt x="4572000" y="497878"/>
                  </a:lnTo>
                  <a:lnTo>
                    <a:pt x="9143631" y="497878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-355" y="4644722"/>
              <a:ext cx="9144000" cy="498475"/>
            </a:xfrm>
            <a:custGeom>
              <a:avLst/>
              <a:gdLst/>
              <a:ahLst/>
              <a:cxnLst/>
              <a:rect l="l" t="t" r="r" b="b"/>
              <a:pathLst>
                <a:path w="9144000" h="498475">
                  <a:moveTo>
                    <a:pt x="4572000" y="497878"/>
                  </a:moveTo>
                  <a:lnTo>
                    <a:pt x="0" y="497878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497878"/>
                  </a:lnTo>
                  <a:lnTo>
                    <a:pt x="4572000" y="497878"/>
                  </a:lnTo>
                  <a:close/>
                </a:path>
              </a:pathLst>
            </a:custGeom>
            <a:ln w="1259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984578" y="4789337"/>
            <a:ext cx="51746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0" dirty="0">
                <a:solidFill>
                  <a:srgbClr val="0E1E3C"/>
                </a:solidFill>
                <a:latin typeface="Calibri"/>
                <a:cs typeface="Calibri"/>
              </a:rPr>
              <a:t>Transformons</a:t>
            </a:r>
            <a:r>
              <a:rPr sz="1300" b="1" spc="-25" dirty="0">
                <a:solidFill>
                  <a:srgbClr val="0E1E3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E1E3C"/>
                </a:solidFill>
                <a:latin typeface="Calibri"/>
                <a:cs typeface="Calibri"/>
              </a:rPr>
              <a:t>ensemble</a:t>
            </a:r>
            <a:r>
              <a:rPr sz="1300" b="1" spc="-15" dirty="0">
                <a:solidFill>
                  <a:srgbClr val="0E1E3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E3C"/>
                </a:solidFill>
                <a:latin typeface="Calibri"/>
                <a:cs typeface="Calibri"/>
              </a:rPr>
              <a:t>l'analyse</a:t>
            </a:r>
            <a:r>
              <a:rPr sz="1300" b="1" spc="-25" dirty="0">
                <a:solidFill>
                  <a:srgbClr val="0E1E3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E3C"/>
                </a:solidFill>
                <a:latin typeface="Calibri"/>
                <a:cs typeface="Calibri"/>
              </a:rPr>
              <a:t>financière</a:t>
            </a:r>
            <a:r>
              <a:rPr sz="1300" b="1" spc="-20" dirty="0">
                <a:solidFill>
                  <a:srgbClr val="0E1E3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E1E3C"/>
                </a:solidFill>
                <a:latin typeface="Calibri"/>
                <a:cs typeface="Calibri"/>
              </a:rPr>
              <a:t>grâce</a:t>
            </a:r>
            <a:r>
              <a:rPr sz="1300" b="1" spc="-15" dirty="0">
                <a:solidFill>
                  <a:srgbClr val="0E1E3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E1E3C"/>
                </a:solidFill>
                <a:latin typeface="Calibri"/>
                <a:cs typeface="Calibri"/>
              </a:rPr>
              <a:t>à</a:t>
            </a:r>
            <a:r>
              <a:rPr sz="1300" b="1" spc="-15" dirty="0">
                <a:solidFill>
                  <a:srgbClr val="0E1E3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E3C"/>
                </a:solidFill>
                <a:latin typeface="Calibri"/>
                <a:cs typeface="Calibri"/>
              </a:rPr>
              <a:t>l'Intelligence</a:t>
            </a:r>
            <a:r>
              <a:rPr sz="1300" b="1" spc="-15" dirty="0">
                <a:solidFill>
                  <a:srgbClr val="0E1E3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E1E3C"/>
                </a:solidFill>
                <a:latin typeface="Calibri"/>
                <a:cs typeface="Calibri"/>
              </a:rPr>
              <a:t>Artificielle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8CECBA93-7984-1901-D80D-9BCD15D9ED23}"/>
              </a:ext>
            </a:extLst>
          </p:cNvPr>
          <p:cNvSpPr txBox="1"/>
          <p:nvPr/>
        </p:nvSpPr>
        <p:spPr>
          <a:xfrm>
            <a:off x="1591956" y="967979"/>
            <a:ext cx="16084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kern="0" spc="200" dirty="0">
                <a:solidFill>
                  <a:schemeClr val="bg1"/>
                </a:solidFill>
              </a:rPr>
              <a:t>CONCLUSION</a:t>
            </a:r>
            <a:endParaRPr lang="fr-FR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1673</Words>
  <Application>Microsoft Office PowerPoint</Application>
  <PresentationFormat>Personnalisé</PresentationFormat>
  <Paragraphs>377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MingLiU_HKSCS-ExtB</vt:lpstr>
      <vt:lpstr>Yu Gothic</vt:lpstr>
      <vt:lpstr>Arial</vt:lpstr>
      <vt:lpstr>Calibri</vt:lpstr>
      <vt:lpstr>Cambria</vt:lpstr>
      <vt:lpstr>Times New Roman</vt:lpstr>
      <vt:lpstr>Office Theme</vt:lpstr>
      <vt:lpstr>Présentation PowerPoint</vt:lpstr>
      <vt:lpstr>Un secteur en manque de vision unifiée</vt:lpstr>
      <vt:lpstr>Pourquoi les décideurs sont-ils ralentis ?</vt:lpstr>
      <vt:lpstr>Six objectifs stratégiques</vt:lpstr>
      <vt:lpstr>9 secteurs stratégiques couverts</vt:lpstr>
      <vt:lpstr>La Plateforme Intelligente — vue d'ensemble</vt:lpstr>
      <vt:lpstr>Présentation PowerPoint</vt:lpstr>
      <vt:lpstr>Analyse sectorielle en temps réel</vt:lpstr>
      <vt:lpstr>Benchmark national et international</vt:lpstr>
      <vt:lpstr>Génération automatique de rapports</vt:lpstr>
      <vt:lpstr>Système d'alertes intelligentes</vt:lpstr>
      <vt:lpstr>Le cœur intelligent de la plateforme</vt:lpstr>
      <vt:lpstr>Exemple : Analyse du secteur Santé au Maroc</vt:lpstr>
      <vt:lpstr>Un outil pensé pour chaque acteur</vt:lpstr>
      <vt:lpstr>La roadmap d'innovation</vt:lpstr>
      <vt:lpstr>Innovation · IA · Automatisation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Intelligente d'Analyse Sectorielle</dc:title>
  <dc:subject>PptxGenJS Presentation</dc:subject>
  <dc:creator>PptxGenJS</dc:creator>
  <cp:lastModifiedBy>akkar marwa</cp:lastModifiedBy>
  <cp:revision>1</cp:revision>
  <dcterms:created xsi:type="dcterms:W3CDTF">2026-05-15T23:09:39Z</dcterms:created>
  <dcterms:modified xsi:type="dcterms:W3CDTF">2026-05-16T10:58:33Z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2026-05-15T00:00:00Z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24.2</vt:lpwstr>
  </property>
  <property fmtid="{D5CDD505-2E9C-101B-9397-08002B2CF9AE}" pid="5" name="LastSaved">
    <vt:filetime>2026-05-15T00:00:00Z</vt:filetime>
  </property>
</Properties>
</file>